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89"/>
  </p:notesMasterIdLst>
  <p:sldIdLst>
    <p:sldId id="256" r:id="rId2"/>
    <p:sldId id="257" r:id="rId3"/>
    <p:sldId id="345" r:id="rId4"/>
    <p:sldId id="259" r:id="rId5"/>
    <p:sldId id="260" r:id="rId6"/>
    <p:sldId id="347" r:id="rId7"/>
    <p:sldId id="346" r:id="rId8"/>
    <p:sldId id="348" r:id="rId9"/>
    <p:sldId id="264" r:id="rId10"/>
    <p:sldId id="349" r:id="rId11"/>
    <p:sldId id="350" r:id="rId12"/>
    <p:sldId id="265" r:id="rId13"/>
    <p:sldId id="266" r:id="rId14"/>
    <p:sldId id="351" r:id="rId15"/>
    <p:sldId id="352" r:id="rId16"/>
    <p:sldId id="267" r:id="rId17"/>
    <p:sldId id="353" r:id="rId18"/>
    <p:sldId id="269" r:id="rId19"/>
    <p:sldId id="270" r:id="rId20"/>
    <p:sldId id="271"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1" r:id="rId38"/>
    <p:sldId id="292" r:id="rId39"/>
    <p:sldId id="293" r:id="rId40"/>
    <p:sldId id="296" r:id="rId41"/>
    <p:sldId id="297" r:id="rId42"/>
    <p:sldId id="354" r:id="rId43"/>
    <p:sldId id="360" r:id="rId44"/>
    <p:sldId id="299" r:id="rId45"/>
    <p:sldId id="300" r:id="rId46"/>
    <p:sldId id="301" r:id="rId47"/>
    <p:sldId id="355" r:id="rId48"/>
    <p:sldId id="356" r:id="rId49"/>
    <p:sldId id="357" r:id="rId50"/>
    <p:sldId id="358" r:id="rId51"/>
    <p:sldId id="359" r:id="rId52"/>
    <p:sldId id="306" r:id="rId53"/>
    <p:sldId id="307" r:id="rId54"/>
    <p:sldId id="308" r:id="rId55"/>
    <p:sldId id="309" r:id="rId56"/>
    <p:sldId id="312" r:id="rId57"/>
    <p:sldId id="313" r:id="rId58"/>
    <p:sldId id="314" r:id="rId59"/>
    <p:sldId id="315" r:id="rId60"/>
    <p:sldId id="318" r:id="rId61"/>
    <p:sldId id="316" r:id="rId62"/>
    <p:sldId id="368" r:id="rId63"/>
    <p:sldId id="320" r:id="rId64"/>
    <p:sldId id="361" r:id="rId65"/>
    <p:sldId id="322" r:id="rId66"/>
    <p:sldId id="323" r:id="rId67"/>
    <p:sldId id="324" r:id="rId68"/>
    <p:sldId id="325" r:id="rId69"/>
    <p:sldId id="362" r:id="rId70"/>
    <p:sldId id="327" r:id="rId71"/>
    <p:sldId id="328" r:id="rId72"/>
    <p:sldId id="366" r:id="rId73"/>
    <p:sldId id="367" r:id="rId74"/>
    <p:sldId id="331" r:id="rId75"/>
    <p:sldId id="332" r:id="rId76"/>
    <p:sldId id="333" r:id="rId77"/>
    <p:sldId id="334" r:id="rId78"/>
    <p:sldId id="335" r:id="rId79"/>
    <p:sldId id="336" r:id="rId80"/>
    <p:sldId id="363" r:id="rId81"/>
    <p:sldId id="338" r:id="rId82"/>
    <p:sldId id="364" r:id="rId83"/>
    <p:sldId id="341" r:id="rId84"/>
    <p:sldId id="342" r:id="rId85"/>
    <p:sldId id="365" r:id="rId86"/>
    <p:sldId id="344" r:id="rId87"/>
    <p:sldId id="369"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931"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16F44A-2C78-443E-8016-603515CB4449}"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0DE517-1294-4589-835E-83BBA7F2B33A}" type="slidenum">
              <a:rPr lang="en-IN" smtClean="0"/>
              <a:t>‹#›</a:t>
            </a:fld>
            <a:endParaRPr lang="en-IN"/>
          </a:p>
        </p:txBody>
      </p:sp>
    </p:spTree>
    <p:extLst>
      <p:ext uri="{BB962C8B-B14F-4D97-AF65-F5344CB8AC3E}">
        <p14:creationId xmlns:p14="http://schemas.microsoft.com/office/powerpoint/2010/main" val="1782442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5</a:t>
            </a:fld>
            <a:endParaRPr lang="en-IN"/>
          </a:p>
        </p:txBody>
      </p:sp>
    </p:spTree>
    <p:extLst>
      <p:ext uri="{BB962C8B-B14F-4D97-AF65-F5344CB8AC3E}">
        <p14:creationId xmlns:p14="http://schemas.microsoft.com/office/powerpoint/2010/main" val="3592685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59</a:t>
            </a:fld>
            <a:endParaRPr lang="en-IN"/>
          </a:p>
        </p:txBody>
      </p:sp>
    </p:spTree>
    <p:extLst>
      <p:ext uri="{BB962C8B-B14F-4D97-AF65-F5344CB8AC3E}">
        <p14:creationId xmlns:p14="http://schemas.microsoft.com/office/powerpoint/2010/main" val="3722381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A0DE517-1294-4589-835E-83BBA7F2B33A}" type="slidenum">
              <a:rPr lang="en-IN" smtClean="0"/>
              <a:t>68</a:t>
            </a:fld>
            <a:endParaRPr lang="en-IN"/>
          </a:p>
        </p:txBody>
      </p:sp>
    </p:spTree>
    <p:extLst>
      <p:ext uri="{BB962C8B-B14F-4D97-AF65-F5344CB8AC3E}">
        <p14:creationId xmlns:p14="http://schemas.microsoft.com/office/powerpoint/2010/main" val="1393250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71</a:t>
            </a:fld>
            <a:endParaRPr lang="en-IN"/>
          </a:p>
        </p:txBody>
      </p:sp>
    </p:spTree>
    <p:extLst>
      <p:ext uri="{BB962C8B-B14F-4D97-AF65-F5344CB8AC3E}">
        <p14:creationId xmlns:p14="http://schemas.microsoft.com/office/powerpoint/2010/main" val="4559980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F0DB0023-7AC3-454B-A2DB-48A26FEF1B03}"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5202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9785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5211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C6940C-75D1-4219-A2CF-5DDCD2F15D33}"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369945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C6940C-75D1-4219-A2CF-5DDCD2F15D33}"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DB0023-7AC3-454B-A2DB-48A26FEF1B03}"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8604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C6940C-75D1-4219-A2CF-5DDCD2F15D33}" type="datetimeFigureOut">
              <a:rPr lang="en-IN" smtClean="0"/>
              <a:t>22-02-2026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DB0023-7AC3-454B-A2DB-48A26FEF1B0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5750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C6940C-75D1-4219-A2CF-5DDCD2F15D33}" type="datetimeFigureOut">
              <a:rPr lang="en-IN" smtClean="0"/>
              <a:t>22-02-2026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4026985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6545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678397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510938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8877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4534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360516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9720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6250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3131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6836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C6940C-75D1-4219-A2CF-5DDCD2F15D33}" type="datetimeFigureOut">
              <a:rPr lang="en-IN" smtClean="0"/>
              <a:t>22-02-2026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0DB0023-7AC3-454B-A2DB-48A26FEF1B03}" type="slidenum">
              <a:rPr lang="en-IN" smtClean="0"/>
              <a:t>‹#›</a:t>
            </a:fld>
            <a:endParaRPr lang="en-IN"/>
          </a:p>
        </p:txBody>
      </p:sp>
    </p:spTree>
    <p:extLst>
      <p:ext uri="{BB962C8B-B14F-4D97-AF65-F5344CB8AC3E}">
        <p14:creationId xmlns:p14="http://schemas.microsoft.com/office/powerpoint/2010/main" val="20694492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0EDC7-D23D-4075-BCFE-127CDCC0ADCF}"/>
              </a:ext>
            </a:extLst>
          </p:cNvPr>
          <p:cNvSpPr>
            <a:spLocks noGrp="1"/>
          </p:cNvSpPr>
          <p:nvPr>
            <p:ph type="ctrTitle"/>
          </p:nvPr>
        </p:nvSpPr>
        <p:spPr>
          <a:xfrm>
            <a:off x="2061224" y="3683000"/>
            <a:ext cx="8069552" cy="920774"/>
          </a:xfrm>
        </p:spPr>
        <p:txBody>
          <a:bodyPr/>
          <a:lstStyle/>
          <a:p>
            <a:r>
              <a:rPr lang="en-IN" sz="4800" b="1" i="1" u="sng" dirty="0">
                <a:solidFill>
                  <a:schemeClr val="accent4">
                    <a:lumMod val="75000"/>
                  </a:schemeClr>
                </a:solidFill>
                <a:effectLst>
                  <a:outerShdw blurRad="38100" dist="38100" dir="2700000" algn="tl">
                    <a:srgbClr val="000000">
                      <a:alpha val="43137"/>
                    </a:srgbClr>
                  </a:outerShdw>
                </a:effectLst>
              </a:rPr>
              <a:t>Information Technology </a:t>
            </a:r>
            <a:br>
              <a:rPr lang="en-IN" sz="4800" b="1" i="1" u="sng" dirty="0">
                <a:solidFill>
                  <a:schemeClr val="accent4">
                    <a:lumMod val="75000"/>
                  </a:schemeClr>
                </a:solidFill>
                <a:effectLst>
                  <a:outerShdw blurRad="38100" dist="38100" dir="2700000" algn="tl">
                    <a:srgbClr val="000000">
                      <a:alpha val="43137"/>
                    </a:srgbClr>
                  </a:outerShdw>
                </a:effectLst>
              </a:rPr>
            </a:br>
            <a:r>
              <a:rPr lang="en-IN" sz="4800" b="1" i="1" dirty="0">
                <a:solidFill>
                  <a:schemeClr val="accent4">
                    <a:lumMod val="75000"/>
                  </a:schemeClr>
                </a:solidFill>
                <a:effectLst>
                  <a:outerShdw blurRad="38100" dist="38100" dir="2700000" algn="tl">
                    <a:srgbClr val="000000">
                      <a:alpha val="43137"/>
                    </a:srgbClr>
                  </a:outerShdw>
                </a:effectLst>
              </a:rPr>
              <a:t>                                      </a:t>
            </a:r>
            <a:r>
              <a:rPr lang="en-IN" sz="1800" b="1" dirty="0">
                <a:solidFill>
                  <a:schemeClr val="accent4">
                    <a:lumMod val="75000"/>
                  </a:schemeClr>
                </a:solidFill>
              </a:rPr>
              <a:t>by Priya Mitra</a:t>
            </a:r>
          </a:p>
        </p:txBody>
      </p:sp>
    </p:spTree>
    <p:extLst>
      <p:ext uri="{BB962C8B-B14F-4D97-AF65-F5344CB8AC3E}">
        <p14:creationId xmlns:p14="http://schemas.microsoft.com/office/powerpoint/2010/main" val="605070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D2AD-B7A4-EFBF-4389-E5BF501A43DF}"/>
              </a:ext>
            </a:extLst>
          </p:cNvPr>
          <p:cNvSpPr>
            <a:spLocks noGrp="1"/>
          </p:cNvSpPr>
          <p:nvPr>
            <p:ph type="title"/>
          </p:nvPr>
        </p:nvSpPr>
        <p:spPr>
          <a:xfrm>
            <a:off x="1295402" y="1477108"/>
            <a:ext cx="9601196" cy="975945"/>
          </a:xfrm>
        </p:spPr>
        <p:txBody>
          <a:bodyPr>
            <a:normAutofit/>
          </a:bodyPr>
          <a:lstStyle/>
          <a:p>
            <a:r>
              <a:rPr lang="en-US" sz="3600" b="1" dirty="0"/>
              <a:t>What do you mean by Information Technology?</a:t>
            </a:r>
            <a:endParaRPr lang="en-US" sz="3600" dirty="0"/>
          </a:p>
        </p:txBody>
      </p:sp>
      <p:sp>
        <p:nvSpPr>
          <p:cNvPr id="3" name="Content Placeholder 2">
            <a:extLst>
              <a:ext uri="{FF2B5EF4-FFF2-40B4-BE49-F238E27FC236}">
                <a16:creationId xmlns:a16="http://schemas.microsoft.com/office/drawing/2014/main" id="{CED4CE57-8D68-364B-00E0-6D66FF75C700}"/>
              </a:ext>
            </a:extLst>
          </p:cNvPr>
          <p:cNvSpPr>
            <a:spLocks noGrp="1"/>
          </p:cNvSpPr>
          <p:nvPr>
            <p:ph idx="1"/>
          </p:nvPr>
        </p:nvSpPr>
        <p:spPr/>
        <p:txBody>
          <a:bodyPr>
            <a:normAutofit/>
          </a:bodyPr>
          <a:lstStyle/>
          <a:p>
            <a:pPr>
              <a:buFont typeface="Wingdings" panose="05000000000000000000" pitchFamily="2" charset="2"/>
              <a:buChar char="q"/>
            </a:pPr>
            <a:r>
              <a:rPr lang="en-US" sz="2000" b="1" dirty="0"/>
              <a:t>Information Technology (IT) refers to the application of computers, software, networks, and digital systems to store, process, transmit, and manage information efficiently.</a:t>
            </a:r>
          </a:p>
          <a:p>
            <a:pPr marL="0" indent="0">
              <a:buNone/>
            </a:pPr>
            <a:r>
              <a:rPr lang="en-IN" u="sng" dirty="0"/>
              <a:t>Example:-</a:t>
            </a:r>
            <a:endParaRPr lang="en-US" u="sng" dirty="0"/>
          </a:p>
          <a:p>
            <a:pPr marL="0" indent="0">
              <a:buNone/>
            </a:pPr>
            <a:r>
              <a:rPr lang="en-US" dirty="0"/>
              <a:t>Using a computer and the internet to send emails, store student records in a database, or use online banking systems are common examples of Information Technology.</a:t>
            </a:r>
          </a:p>
          <a:p>
            <a:endParaRPr lang="en-US" dirty="0"/>
          </a:p>
        </p:txBody>
      </p:sp>
    </p:spTree>
    <p:extLst>
      <p:ext uri="{BB962C8B-B14F-4D97-AF65-F5344CB8AC3E}">
        <p14:creationId xmlns:p14="http://schemas.microsoft.com/office/powerpoint/2010/main" val="1853867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B080A-7562-D87A-BC7C-7DFAC6D76957}"/>
              </a:ext>
            </a:extLst>
          </p:cNvPr>
          <p:cNvSpPr>
            <a:spLocks noGrp="1"/>
          </p:cNvSpPr>
          <p:nvPr>
            <p:ph type="title"/>
          </p:nvPr>
        </p:nvSpPr>
        <p:spPr>
          <a:xfrm>
            <a:off x="641838" y="1406769"/>
            <a:ext cx="10902462" cy="879230"/>
          </a:xfrm>
        </p:spPr>
        <p:txBody>
          <a:bodyPr>
            <a:normAutofit/>
          </a:bodyPr>
          <a:lstStyle/>
          <a:p>
            <a:r>
              <a:rPr lang="en-IN" sz="4000" b="1" dirty="0">
                <a:solidFill>
                  <a:schemeClr val="tx1"/>
                </a:solidFill>
              </a:rPr>
              <a:t>Information Technology vs. Computer Science</a:t>
            </a:r>
            <a:endParaRPr lang="en-IN" sz="4000" dirty="0"/>
          </a:p>
        </p:txBody>
      </p:sp>
      <p:sp>
        <p:nvSpPr>
          <p:cNvPr id="3" name="Text Placeholder 2">
            <a:extLst>
              <a:ext uri="{FF2B5EF4-FFF2-40B4-BE49-F238E27FC236}">
                <a16:creationId xmlns:a16="http://schemas.microsoft.com/office/drawing/2014/main" id="{B4A5BE73-E04B-705C-A703-DF8316A98189}"/>
              </a:ext>
            </a:extLst>
          </p:cNvPr>
          <p:cNvSpPr>
            <a:spLocks noGrp="1"/>
          </p:cNvSpPr>
          <p:nvPr>
            <p:ph type="body" idx="1"/>
          </p:nvPr>
        </p:nvSpPr>
        <p:spPr>
          <a:xfrm>
            <a:off x="1293026" y="2434716"/>
            <a:ext cx="4718304" cy="447633"/>
          </a:xfrm>
        </p:spPr>
        <p:txBody>
          <a:bodyPr/>
          <a:lstStyle/>
          <a:p>
            <a:pPr algn="ctr"/>
            <a:r>
              <a:rPr lang="en-IN" b="1" dirty="0">
                <a:solidFill>
                  <a:schemeClr val="tx1"/>
                </a:solidFill>
              </a:rPr>
              <a:t>    </a:t>
            </a:r>
            <a:r>
              <a:rPr lang="en-IN" b="1" u="sng" dirty="0">
                <a:solidFill>
                  <a:schemeClr val="tx1"/>
                </a:solidFill>
              </a:rPr>
              <a:t>Information Technology</a:t>
            </a:r>
            <a:endParaRPr lang="en-IN" u="sng" dirty="0"/>
          </a:p>
        </p:txBody>
      </p:sp>
      <p:sp>
        <p:nvSpPr>
          <p:cNvPr id="4" name="Content Placeholder 3">
            <a:extLst>
              <a:ext uri="{FF2B5EF4-FFF2-40B4-BE49-F238E27FC236}">
                <a16:creationId xmlns:a16="http://schemas.microsoft.com/office/drawing/2014/main" id="{43707115-E9ED-0459-D14D-4CAF8223DEB3}"/>
              </a:ext>
            </a:extLst>
          </p:cNvPr>
          <p:cNvSpPr>
            <a:spLocks noGrp="1"/>
          </p:cNvSpPr>
          <p:nvPr>
            <p:ph sz="half" idx="2"/>
          </p:nvPr>
        </p:nvSpPr>
        <p:spPr>
          <a:xfrm>
            <a:off x="1295400" y="2882350"/>
            <a:ext cx="4718304" cy="2993518"/>
          </a:xfrm>
        </p:spPr>
        <p:txBody>
          <a:bodyPr>
            <a:normAutofit/>
          </a:bodyPr>
          <a:lstStyle/>
          <a:p>
            <a:r>
              <a:rPr lang="en-US" sz="1600" dirty="0"/>
              <a:t>Using technology to manage and support information systems</a:t>
            </a:r>
          </a:p>
          <a:p>
            <a:r>
              <a:rPr lang="en-US" sz="1600" dirty="0"/>
              <a:t>Installing, maintaining, and managing computer systems and networks</a:t>
            </a:r>
          </a:p>
          <a:p>
            <a:r>
              <a:rPr lang="en-US" sz="1600" dirty="0"/>
              <a:t>System administration, networking, IT support, cybersecurity</a:t>
            </a:r>
          </a:p>
          <a:p>
            <a:r>
              <a:rPr lang="en-US" sz="1600" dirty="0"/>
              <a:t>Ensure smooth operation of IT infrastructure</a:t>
            </a:r>
          </a:p>
          <a:p>
            <a:r>
              <a:rPr lang="en-US" sz="1600" dirty="0"/>
              <a:t>Managing company servers, email systems, and networks</a:t>
            </a:r>
          </a:p>
          <a:p>
            <a:endParaRPr lang="en-US" sz="1600" dirty="0"/>
          </a:p>
          <a:p>
            <a:endParaRPr lang="en-IN" sz="1600" dirty="0"/>
          </a:p>
        </p:txBody>
      </p:sp>
      <p:sp>
        <p:nvSpPr>
          <p:cNvPr id="5" name="Text Placeholder 4">
            <a:extLst>
              <a:ext uri="{FF2B5EF4-FFF2-40B4-BE49-F238E27FC236}">
                <a16:creationId xmlns:a16="http://schemas.microsoft.com/office/drawing/2014/main" id="{342E2FDB-7173-C84E-2F4F-E4248BE2F510}"/>
              </a:ext>
            </a:extLst>
          </p:cNvPr>
          <p:cNvSpPr>
            <a:spLocks noGrp="1"/>
          </p:cNvSpPr>
          <p:nvPr>
            <p:ph type="body" sz="quarter" idx="3"/>
          </p:nvPr>
        </p:nvSpPr>
        <p:spPr>
          <a:xfrm>
            <a:off x="6093069" y="2434716"/>
            <a:ext cx="4718304" cy="447633"/>
          </a:xfrm>
        </p:spPr>
        <p:txBody>
          <a:bodyPr/>
          <a:lstStyle/>
          <a:p>
            <a:pPr algn="ctr"/>
            <a:r>
              <a:rPr lang="en-IN" b="1" dirty="0">
                <a:solidFill>
                  <a:schemeClr val="tx1"/>
                </a:solidFill>
              </a:rPr>
              <a:t>           </a:t>
            </a:r>
            <a:r>
              <a:rPr lang="en-IN" b="1" u="sng" dirty="0">
                <a:solidFill>
                  <a:schemeClr val="tx1"/>
                </a:solidFill>
              </a:rPr>
              <a:t>Computer Science</a:t>
            </a:r>
            <a:endParaRPr lang="en-IN" u="sng" dirty="0"/>
          </a:p>
        </p:txBody>
      </p:sp>
      <p:sp>
        <p:nvSpPr>
          <p:cNvPr id="6" name="Content Placeholder 5">
            <a:extLst>
              <a:ext uri="{FF2B5EF4-FFF2-40B4-BE49-F238E27FC236}">
                <a16:creationId xmlns:a16="http://schemas.microsoft.com/office/drawing/2014/main" id="{E762BB78-3FD0-A979-7A53-2477604FF14A}"/>
              </a:ext>
            </a:extLst>
          </p:cNvPr>
          <p:cNvSpPr>
            <a:spLocks noGrp="1"/>
          </p:cNvSpPr>
          <p:nvPr>
            <p:ph sz="quarter" idx="4"/>
          </p:nvPr>
        </p:nvSpPr>
        <p:spPr>
          <a:xfrm>
            <a:off x="6180670" y="2882350"/>
            <a:ext cx="4718304" cy="2993518"/>
          </a:xfrm>
        </p:spPr>
        <p:txBody>
          <a:bodyPr>
            <a:normAutofit/>
          </a:bodyPr>
          <a:lstStyle/>
          <a:p>
            <a:r>
              <a:rPr lang="en-US" sz="1600" dirty="0"/>
              <a:t>Studying how computers work and how software is created</a:t>
            </a:r>
          </a:p>
          <a:p>
            <a:r>
              <a:rPr lang="en-US" sz="1600" dirty="0"/>
              <a:t>Designing algorithms, programming, and developing software</a:t>
            </a:r>
          </a:p>
          <a:p>
            <a:r>
              <a:rPr lang="en-US" sz="1600" dirty="0"/>
              <a:t>Programming, data structures, algorithms, software development</a:t>
            </a:r>
          </a:p>
          <a:p>
            <a:r>
              <a:rPr lang="en-US" sz="1600" dirty="0"/>
              <a:t>Solve problems using computation and logic</a:t>
            </a:r>
          </a:p>
          <a:p>
            <a:r>
              <a:rPr lang="en-US" sz="1600" dirty="0"/>
              <a:t>Writing a program or developing an app</a:t>
            </a:r>
            <a:endParaRPr lang="en-IN" sz="1600" dirty="0"/>
          </a:p>
        </p:txBody>
      </p:sp>
    </p:spTree>
    <p:extLst>
      <p:ext uri="{BB962C8B-B14F-4D97-AF65-F5344CB8AC3E}">
        <p14:creationId xmlns:p14="http://schemas.microsoft.com/office/powerpoint/2010/main" val="409512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801E-165D-5653-0D47-B7B84E6F6CE4}"/>
              </a:ext>
            </a:extLst>
          </p:cNvPr>
          <p:cNvSpPr>
            <a:spLocks noGrp="1"/>
          </p:cNvSpPr>
          <p:nvPr>
            <p:ph type="title"/>
          </p:nvPr>
        </p:nvSpPr>
        <p:spPr>
          <a:xfrm>
            <a:off x="1295402" y="982133"/>
            <a:ext cx="9601196" cy="1136814"/>
          </a:xfrm>
        </p:spPr>
        <p:txBody>
          <a:bodyPr>
            <a:normAutofit/>
          </a:bodyPr>
          <a:lstStyle/>
          <a:p>
            <a:r>
              <a:rPr lang="en-US" sz="3600" b="1" dirty="0"/>
              <a:t>Why Information Technology (IT) Is Important</a:t>
            </a:r>
            <a:endParaRPr lang="en-IN" sz="3600" b="1" dirty="0">
              <a:solidFill>
                <a:schemeClr val="tx1"/>
              </a:solidFill>
            </a:endParaRPr>
          </a:p>
        </p:txBody>
      </p:sp>
      <p:sp>
        <p:nvSpPr>
          <p:cNvPr id="3" name="Content Placeholder 2">
            <a:extLst>
              <a:ext uri="{FF2B5EF4-FFF2-40B4-BE49-F238E27FC236}">
                <a16:creationId xmlns:a16="http://schemas.microsoft.com/office/drawing/2014/main" id="{E0CC6608-2944-D41F-E6DD-C6F4C9BFD31E}"/>
              </a:ext>
            </a:extLst>
          </p:cNvPr>
          <p:cNvSpPr>
            <a:spLocks noGrp="1"/>
          </p:cNvSpPr>
          <p:nvPr>
            <p:ph idx="1"/>
          </p:nvPr>
        </p:nvSpPr>
        <p:spPr>
          <a:xfrm>
            <a:off x="1295401" y="2400300"/>
            <a:ext cx="9601196" cy="3475568"/>
          </a:xfrm>
        </p:spPr>
        <p:txBody>
          <a:bodyPr>
            <a:normAutofit lnSpcReduction="10000"/>
          </a:bodyPr>
          <a:lstStyle/>
          <a:p>
            <a:r>
              <a:rPr lang="en-US" sz="1600" b="1" dirty="0"/>
              <a:t>Efficient Information Handling</a:t>
            </a:r>
          </a:p>
          <a:p>
            <a:pPr marL="0" indent="0">
              <a:buNone/>
            </a:pPr>
            <a:r>
              <a:rPr lang="en-US" sz="1600" dirty="0"/>
              <a:t>         IT makes it easy to store, process, and retrieve large amounts of information.</a:t>
            </a:r>
          </a:p>
          <a:p>
            <a:r>
              <a:rPr lang="en-US" sz="1600" b="1" dirty="0"/>
              <a:t>Fast and Reliable Communication</a:t>
            </a:r>
          </a:p>
          <a:p>
            <a:pPr marL="0" indent="0">
              <a:buNone/>
            </a:pPr>
            <a:r>
              <a:rPr lang="en-US" sz="1600" dirty="0"/>
              <a:t>         Emails, video conferencing, and messaging systems allow instant communication.</a:t>
            </a:r>
          </a:p>
          <a:p>
            <a:r>
              <a:rPr lang="en-US" sz="1600" b="1" dirty="0"/>
              <a:t>Time and Cost Savings</a:t>
            </a:r>
          </a:p>
          <a:p>
            <a:pPr marL="0" indent="0">
              <a:buNone/>
            </a:pPr>
            <a:r>
              <a:rPr lang="en-US" sz="1600" dirty="0"/>
              <a:t>         Automation and digital tools reduce manual work and operational costs.</a:t>
            </a:r>
          </a:p>
          <a:p>
            <a:r>
              <a:rPr lang="en-US" sz="1600" b="1" dirty="0"/>
              <a:t>Support for Learning and Research</a:t>
            </a:r>
          </a:p>
          <a:p>
            <a:pPr marL="0" indent="0">
              <a:buNone/>
            </a:pPr>
            <a:r>
              <a:rPr lang="en-US" sz="1600" dirty="0"/>
              <a:t>         IT provides access to online resources, virtual classrooms, and research tools.</a:t>
            </a:r>
          </a:p>
          <a:p>
            <a:r>
              <a:rPr lang="en-US" sz="1600" b="1" dirty="0"/>
              <a:t>Worldwide Connectivity</a:t>
            </a:r>
          </a:p>
          <a:p>
            <a:pPr marL="0" indent="0">
              <a:buNone/>
            </a:pPr>
            <a:r>
              <a:rPr lang="en-US" sz="1600" dirty="0"/>
              <a:t>         The internet connects people, businesses, and institutions across the globe.</a:t>
            </a:r>
          </a:p>
        </p:txBody>
      </p:sp>
    </p:spTree>
    <p:extLst>
      <p:ext uri="{BB962C8B-B14F-4D97-AF65-F5344CB8AC3E}">
        <p14:creationId xmlns:p14="http://schemas.microsoft.com/office/powerpoint/2010/main" val="10985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850E-AA6B-727E-B9DA-29099D2EAB88}"/>
              </a:ext>
            </a:extLst>
          </p:cNvPr>
          <p:cNvSpPr>
            <a:spLocks noGrp="1"/>
          </p:cNvSpPr>
          <p:nvPr>
            <p:ph type="title"/>
          </p:nvPr>
        </p:nvSpPr>
        <p:spPr>
          <a:xfrm>
            <a:off x="1295401" y="1019908"/>
            <a:ext cx="9601196" cy="1336429"/>
          </a:xfrm>
        </p:spPr>
        <p:txBody>
          <a:bodyPr>
            <a:noAutofit/>
          </a:bodyPr>
          <a:lstStyle/>
          <a:p>
            <a:r>
              <a:rPr lang="en-IN" b="1" dirty="0">
                <a:solidFill>
                  <a:schemeClr val="tx1"/>
                </a:solidFill>
              </a:rPr>
              <a:t>Core Components of</a:t>
            </a:r>
            <a:br>
              <a:rPr lang="en-IN" b="1" dirty="0">
                <a:solidFill>
                  <a:schemeClr val="tx1"/>
                </a:solidFill>
              </a:rPr>
            </a:br>
            <a:r>
              <a:rPr lang="en-IN" b="1" dirty="0">
                <a:solidFill>
                  <a:schemeClr val="tx1"/>
                </a:solidFill>
              </a:rPr>
              <a:t> Information Technology</a:t>
            </a:r>
          </a:p>
        </p:txBody>
      </p:sp>
      <p:sp>
        <p:nvSpPr>
          <p:cNvPr id="4" name="Rectangle 1">
            <a:extLst>
              <a:ext uri="{FF2B5EF4-FFF2-40B4-BE49-F238E27FC236}">
                <a16:creationId xmlns:a16="http://schemas.microsoft.com/office/drawing/2014/main" id="{CE3FF35E-AFAF-F629-81E0-13BECB93A5E6}"/>
              </a:ext>
            </a:extLst>
          </p:cNvPr>
          <p:cNvSpPr>
            <a:spLocks noGrp="1" noChangeArrowheads="1"/>
          </p:cNvSpPr>
          <p:nvPr>
            <p:ph idx="1"/>
          </p:nvPr>
        </p:nvSpPr>
        <p:spPr bwMode="auto">
          <a:xfrm>
            <a:off x="917483" y="2470185"/>
            <a:ext cx="10357033" cy="369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b="1" dirty="0"/>
              <a:t>1. </a:t>
            </a:r>
            <a:r>
              <a:rPr lang="en-US" sz="1600" b="1" u="sng" dirty="0"/>
              <a:t>Hardware:</a:t>
            </a:r>
          </a:p>
          <a:p>
            <a:pPr marL="0" indent="0">
              <a:buNone/>
            </a:pPr>
            <a:r>
              <a:rPr lang="en-US" sz="1600" dirty="0"/>
              <a:t>    Physical devices such as computers, servers, printers, keyboards, and storage devices.</a:t>
            </a:r>
          </a:p>
          <a:p>
            <a:pPr marL="0" indent="0">
              <a:buNone/>
            </a:pPr>
            <a:r>
              <a:rPr lang="en-US" sz="1600" b="1" dirty="0"/>
              <a:t>2. </a:t>
            </a:r>
            <a:r>
              <a:rPr lang="en-US" sz="1600" b="1" u="sng" dirty="0"/>
              <a:t>Software:</a:t>
            </a:r>
          </a:p>
          <a:p>
            <a:pPr marL="0" indent="0">
              <a:buNone/>
            </a:pPr>
            <a:r>
              <a:rPr lang="en-US" sz="1600" dirty="0"/>
              <a:t>    Programs and applications that run on hardware, including operating systems and application software.</a:t>
            </a:r>
          </a:p>
          <a:p>
            <a:pPr marL="0" indent="0">
              <a:buNone/>
            </a:pPr>
            <a:r>
              <a:rPr lang="en-US" sz="1600" b="1" dirty="0"/>
              <a:t>3. </a:t>
            </a:r>
            <a:r>
              <a:rPr lang="en-US" sz="1600" b="1" u="sng" dirty="0"/>
              <a:t>Networking:</a:t>
            </a:r>
          </a:p>
          <a:p>
            <a:pPr marL="0" indent="0">
              <a:buNone/>
            </a:pPr>
            <a:r>
              <a:rPr lang="en-US" sz="1600" dirty="0"/>
              <a:t>    Systems that connect computers and devices, such as the internet, LAN, WAN, routers, and switches.</a:t>
            </a:r>
          </a:p>
          <a:p>
            <a:pPr marL="0" indent="0">
              <a:buNone/>
            </a:pPr>
            <a:r>
              <a:rPr lang="en-US" sz="1600" b="1" dirty="0"/>
              <a:t>4. </a:t>
            </a:r>
            <a:r>
              <a:rPr lang="en-IN" sz="1600" b="1" u="sng" dirty="0"/>
              <a:t>Information (Data):</a:t>
            </a:r>
            <a:endParaRPr lang="en-US" sz="1600" b="1" u="sng" dirty="0"/>
          </a:p>
          <a:p>
            <a:pPr marL="0" indent="0">
              <a:buNone/>
            </a:pPr>
            <a:r>
              <a:rPr lang="en-US" sz="1600" dirty="0"/>
              <a:t>    Raw facts and information that are stored, processed, and managed by IT systems.</a:t>
            </a:r>
          </a:p>
          <a:p>
            <a:pPr marL="0" indent="0">
              <a:buNone/>
            </a:pPr>
            <a:r>
              <a:rPr lang="en-US" sz="1600" b="1" dirty="0"/>
              <a:t>5. </a:t>
            </a:r>
            <a:r>
              <a:rPr lang="en-IN" sz="1600" b="1" u="sng" dirty="0"/>
              <a:t>Human and Operational Elements</a:t>
            </a:r>
            <a:r>
              <a:rPr lang="en-US" sz="1600" b="1" u="sng" dirty="0"/>
              <a:t>:</a:t>
            </a:r>
          </a:p>
          <a:p>
            <a:pPr marL="0" indent="0">
              <a:buNone/>
            </a:pPr>
            <a:r>
              <a:rPr lang="en-US" sz="1600" dirty="0"/>
              <a:t>    Users and IT professionals, along with the rules and processes they follow to operate and manage IT systems effectively.</a:t>
            </a:r>
          </a:p>
        </p:txBody>
      </p:sp>
    </p:spTree>
    <p:extLst>
      <p:ext uri="{BB962C8B-B14F-4D97-AF65-F5344CB8AC3E}">
        <p14:creationId xmlns:p14="http://schemas.microsoft.com/office/powerpoint/2010/main" val="1171019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8DE5D-7B82-74F3-8008-E44F97A35031}"/>
              </a:ext>
            </a:extLst>
          </p:cNvPr>
          <p:cNvSpPr>
            <a:spLocks noGrp="1"/>
          </p:cNvSpPr>
          <p:nvPr>
            <p:ph type="title"/>
          </p:nvPr>
        </p:nvSpPr>
        <p:spPr/>
        <p:txBody>
          <a:bodyPr>
            <a:normAutofit/>
          </a:bodyPr>
          <a:lstStyle/>
          <a:p>
            <a:r>
              <a:rPr lang="en-US" sz="4900" b="1" dirty="0"/>
              <a:t>Computer</a:t>
            </a:r>
            <a:r>
              <a:rPr lang="en-US" b="1" dirty="0"/>
              <a:t> Hardware &amp; Software</a:t>
            </a:r>
            <a:endParaRPr lang="en-IN" dirty="0"/>
          </a:p>
        </p:txBody>
      </p:sp>
      <p:sp>
        <p:nvSpPr>
          <p:cNvPr id="3" name="Content Placeholder 2">
            <a:extLst>
              <a:ext uri="{FF2B5EF4-FFF2-40B4-BE49-F238E27FC236}">
                <a16:creationId xmlns:a16="http://schemas.microsoft.com/office/drawing/2014/main" id="{13085256-C1DA-AF03-A84F-3FDF0F05659E}"/>
              </a:ext>
            </a:extLst>
          </p:cNvPr>
          <p:cNvSpPr>
            <a:spLocks noGrp="1"/>
          </p:cNvSpPr>
          <p:nvPr>
            <p:ph idx="1"/>
          </p:nvPr>
        </p:nvSpPr>
        <p:spPr/>
        <p:txBody>
          <a:bodyPr>
            <a:normAutofit/>
          </a:bodyPr>
          <a:lstStyle/>
          <a:p>
            <a:r>
              <a:rPr lang="en-US" b="1" u="sng" dirty="0"/>
              <a:t>Computer Hardware:</a:t>
            </a:r>
          </a:p>
          <a:p>
            <a:pPr marL="0" indent="0">
              <a:buNone/>
            </a:pPr>
            <a:r>
              <a:rPr lang="en-US" sz="1600" dirty="0"/>
              <a:t>Computer hardware refers to the physical parts of a computer—anything see or touch.</a:t>
            </a:r>
          </a:p>
          <a:p>
            <a:pPr>
              <a:buFont typeface="Wingdings" panose="05000000000000000000" pitchFamily="2" charset="2"/>
              <a:buChar char="ü"/>
            </a:pPr>
            <a:r>
              <a:rPr lang="en-US" sz="1600" dirty="0"/>
              <a:t>Hardware = physical equipment of the computer</a:t>
            </a:r>
            <a:endParaRPr lang="en-US" b="1" dirty="0"/>
          </a:p>
          <a:p>
            <a:r>
              <a:rPr lang="en-US" b="1" u="sng" dirty="0"/>
              <a:t>Computer Software:</a:t>
            </a:r>
          </a:p>
          <a:p>
            <a:pPr marL="0" indent="0">
              <a:buNone/>
            </a:pPr>
            <a:r>
              <a:rPr lang="en-US" sz="1600" dirty="0"/>
              <a:t>Computer software refers to the programs and instructions that tell the computer what to do.</a:t>
            </a:r>
            <a:br>
              <a:rPr lang="en-US" sz="1600" dirty="0"/>
            </a:br>
            <a:r>
              <a:rPr lang="en-US" sz="1600" dirty="0"/>
              <a:t>We cannot touch software—it runs on the hardware.</a:t>
            </a:r>
          </a:p>
          <a:p>
            <a:pPr>
              <a:buFont typeface="Wingdings" panose="05000000000000000000" pitchFamily="2" charset="2"/>
              <a:buChar char="ü"/>
            </a:pPr>
            <a:r>
              <a:rPr lang="en-US" sz="1600" dirty="0"/>
              <a:t>Software = programs that run on the hardware</a:t>
            </a:r>
          </a:p>
          <a:p>
            <a:pPr marL="0" indent="0">
              <a:buNone/>
            </a:pPr>
            <a:endParaRPr lang="en-US" b="1" dirty="0"/>
          </a:p>
          <a:p>
            <a:pPr marL="0" indent="0">
              <a:buNone/>
            </a:pPr>
            <a:endParaRPr lang="en-IN" dirty="0"/>
          </a:p>
        </p:txBody>
      </p:sp>
    </p:spTree>
    <p:extLst>
      <p:ext uri="{BB962C8B-B14F-4D97-AF65-F5344CB8AC3E}">
        <p14:creationId xmlns:p14="http://schemas.microsoft.com/office/powerpoint/2010/main" val="1737786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0C00-7086-5B8F-7F6F-88C13A51BC7F}"/>
              </a:ext>
            </a:extLst>
          </p:cNvPr>
          <p:cNvSpPr>
            <a:spLocks noGrp="1"/>
          </p:cNvSpPr>
          <p:nvPr>
            <p:ph type="title"/>
          </p:nvPr>
        </p:nvSpPr>
        <p:spPr>
          <a:xfrm>
            <a:off x="1295400" y="698499"/>
            <a:ext cx="9601196" cy="1640255"/>
          </a:xfrm>
        </p:spPr>
        <p:txBody>
          <a:bodyPr>
            <a:normAutofit/>
          </a:bodyPr>
          <a:lstStyle/>
          <a:p>
            <a:r>
              <a:rPr lang="en-US" b="1" dirty="0"/>
              <a:t>Types &amp; Example of Computer</a:t>
            </a:r>
            <a:br>
              <a:rPr lang="en-US" b="1" dirty="0"/>
            </a:br>
            <a:r>
              <a:rPr lang="en-US" b="1" dirty="0"/>
              <a:t>Hardware &amp; Software</a:t>
            </a:r>
            <a:endParaRPr lang="en-IN" b="1" dirty="0"/>
          </a:p>
        </p:txBody>
      </p:sp>
      <p:sp>
        <p:nvSpPr>
          <p:cNvPr id="3" name="Text Placeholder 2">
            <a:extLst>
              <a:ext uri="{FF2B5EF4-FFF2-40B4-BE49-F238E27FC236}">
                <a16:creationId xmlns:a16="http://schemas.microsoft.com/office/drawing/2014/main" id="{FA26F513-9FBE-5FDB-0AB9-FDC9FB76D17C}"/>
              </a:ext>
            </a:extLst>
          </p:cNvPr>
          <p:cNvSpPr>
            <a:spLocks noGrp="1"/>
          </p:cNvSpPr>
          <p:nvPr>
            <p:ph type="body" idx="1"/>
          </p:nvPr>
        </p:nvSpPr>
        <p:spPr>
          <a:xfrm>
            <a:off x="1295400" y="2475035"/>
            <a:ext cx="4718304" cy="403672"/>
          </a:xfrm>
        </p:spPr>
        <p:txBody>
          <a:bodyPr/>
          <a:lstStyle/>
          <a:p>
            <a:pPr algn="just"/>
            <a:r>
              <a:rPr lang="en-US" b="1" dirty="0">
                <a:solidFill>
                  <a:schemeClr val="tx1">
                    <a:lumMod val="95000"/>
                    <a:lumOff val="5000"/>
                  </a:schemeClr>
                </a:solidFill>
              </a:rPr>
              <a:t>              </a:t>
            </a:r>
            <a:r>
              <a:rPr lang="en-US" b="1" u="sng" dirty="0">
                <a:solidFill>
                  <a:schemeClr val="tx1">
                    <a:lumMod val="95000"/>
                    <a:lumOff val="5000"/>
                  </a:schemeClr>
                </a:solidFill>
              </a:rPr>
              <a:t>Hardware</a:t>
            </a:r>
            <a:endParaRPr lang="en-IN" u="sng" dirty="0">
              <a:solidFill>
                <a:schemeClr val="tx1">
                  <a:lumMod val="95000"/>
                  <a:lumOff val="5000"/>
                </a:schemeClr>
              </a:solidFill>
            </a:endParaRPr>
          </a:p>
        </p:txBody>
      </p:sp>
      <p:sp>
        <p:nvSpPr>
          <p:cNvPr id="4" name="Content Placeholder 3">
            <a:extLst>
              <a:ext uri="{FF2B5EF4-FFF2-40B4-BE49-F238E27FC236}">
                <a16:creationId xmlns:a16="http://schemas.microsoft.com/office/drawing/2014/main" id="{96045A69-7AC6-3159-840C-5B6A00B6FDA4}"/>
              </a:ext>
            </a:extLst>
          </p:cNvPr>
          <p:cNvSpPr>
            <a:spLocks noGrp="1"/>
          </p:cNvSpPr>
          <p:nvPr>
            <p:ph sz="half" idx="2"/>
          </p:nvPr>
        </p:nvSpPr>
        <p:spPr>
          <a:xfrm>
            <a:off x="1295400" y="2804746"/>
            <a:ext cx="4718304" cy="3071122"/>
          </a:xfrm>
        </p:spPr>
        <p:txBody>
          <a:bodyPr>
            <a:noAutofit/>
          </a:bodyPr>
          <a:lstStyle/>
          <a:p>
            <a:r>
              <a:rPr lang="en-US" sz="1400" b="1" dirty="0"/>
              <a:t>Input Devices:-</a:t>
            </a:r>
          </a:p>
          <a:p>
            <a:pPr marL="0" indent="0">
              <a:buNone/>
            </a:pPr>
            <a:r>
              <a:rPr lang="en-US" sz="1400" dirty="0"/>
              <a:t>Devices used to enter data into the computer, such as keyboard, mouse, scanner, and microphone.</a:t>
            </a:r>
          </a:p>
          <a:p>
            <a:r>
              <a:rPr lang="en-US" sz="1400" b="1" dirty="0"/>
              <a:t>Processing Devices:-</a:t>
            </a:r>
          </a:p>
          <a:p>
            <a:pPr marL="0" indent="0">
              <a:buNone/>
            </a:pPr>
            <a:r>
              <a:rPr lang="en-US" sz="1400" dirty="0"/>
              <a:t>Components that process data, mainly the CPU (Central Processing Unit).</a:t>
            </a:r>
          </a:p>
          <a:p>
            <a:r>
              <a:rPr lang="en-US" sz="1400" b="1" dirty="0"/>
              <a:t>Storage Devices:-</a:t>
            </a:r>
          </a:p>
          <a:p>
            <a:pPr marL="0" indent="0">
              <a:buNone/>
            </a:pPr>
            <a:r>
              <a:rPr lang="en-US" sz="1400" dirty="0"/>
              <a:t>Used to store data and programs, such as hard disk, SSD, pen drive, and memory cards.</a:t>
            </a:r>
          </a:p>
          <a:p>
            <a:r>
              <a:rPr lang="en-US" sz="1400" b="1" dirty="0"/>
              <a:t>Output Devices:-</a:t>
            </a:r>
          </a:p>
          <a:p>
            <a:pPr marL="0" indent="0">
              <a:buNone/>
            </a:pPr>
            <a:r>
              <a:rPr lang="en-US" sz="1400" dirty="0"/>
              <a:t>Devices that display results, such as monitor, printer, and speakers.</a:t>
            </a:r>
          </a:p>
          <a:p>
            <a:endParaRPr lang="en-IN" sz="1400" dirty="0"/>
          </a:p>
        </p:txBody>
      </p:sp>
      <p:sp>
        <p:nvSpPr>
          <p:cNvPr id="5" name="Text Placeholder 4">
            <a:extLst>
              <a:ext uri="{FF2B5EF4-FFF2-40B4-BE49-F238E27FC236}">
                <a16:creationId xmlns:a16="http://schemas.microsoft.com/office/drawing/2014/main" id="{1823F144-DB18-3650-3C0F-695325A0647B}"/>
              </a:ext>
            </a:extLst>
          </p:cNvPr>
          <p:cNvSpPr>
            <a:spLocks noGrp="1"/>
          </p:cNvSpPr>
          <p:nvPr>
            <p:ph type="body" sz="quarter" idx="3"/>
          </p:nvPr>
        </p:nvSpPr>
        <p:spPr>
          <a:xfrm>
            <a:off x="6178292" y="2475035"/>
            <a:ext cx="4718304" cy="403672"/>
          </a:xfrm>
        </p:spPr>
        <p:txBody>
          <a:bodyPr/>
          <a:lstStyle/>
          <a:p>
            <a:pPr algn="just"/>
            <a:r>
              <a:rPr lang="en-US" b="1" dirty="0">
                <a:solidFill>
                  <a:schemeClr val="tx1">
                    <a:lumMod val="95000"/>
                    <a:lumOff val="5000"/>
                  </a:schemeClr>
                </a:solidFill>
              </a:rPr>
              <a:t>                </a:t>
            </a:r>
            <a:r>
              <a:rPr lang="en-US" b="1" u="sng" dirty="0">
                <a:solidFill>
                  <a:schemeClr val="tx1">
                    <a:lumMod val="95000"/>
                    <a:lumOff val="5000"/>
                  </a:schemeClr>
                </a:solidFill>
              </a:rPr>
              <a:t>Software</a:t>
            </a:r>
            <a:endParaRPr lang="en-IN" u="sng" dirty="0">
              <a:solidFill>
                <a:schemeClr val="tx1">
                  <a:lumMod val="95000"/>
                  <a:lumOff val="5000"/>
                </a:schemeClr>
              </a:solidFill>
            </a:endParaRPr>
          </a:p>
        </p:txBody>
      </p:sp>
      <p:sp>
        <p:nvSpPr>
          <p:cNvPr id="6" name="Content Placeholder 5">
            <a:extLst>
              <a:ext uri="{FF2B5EF4-FFF2-40B4-BE49-F238E27FC236}">
                <a16:creationId xmlns:a16="http://schemas.microsoft.com/office/drawing/2014/main" id="{92ADCF16-E28C-BAC1-6226-99C2A9DB3A8D}"/>
              </a:ext>
            </a:extLst>
          </p:cNvPr>
          <p:cNvSpPr>
            <a:spLocks noGrp="1"/>
          </p:cNvSpPr>
          <p:nvPr>
            <p:ph sz="quarter" idx="4"/>
          </p:nvPr>
        </p:nvSpPr>
        <p:spPr>
          <a:xfrm>
            <a:off x="6180670" y="2878707"/>
            <a:ext cx="4718304" cy="2997161"/>
          </a:xfrm>
        </p:spPr>
        <p:txBody>
          <a:bodyPr>
            <a:noAutofit/>
          </a:bodyPr>
          <a:lstStyle/>
          <a:p>
            <a:r>
              <a:rPr lang="en-IN" sz="1400" b="1" dirty="0"/>
              <a:t>System Software:-</a:t>
            </a:r>
          </a:p>
          <a:p>
            <a:pPr marL="0" indent="0">
              <a:buNone/>
            </a:pPr>
            <a:r>
              <a:rPr lang="en-IN" sz="1400" dirty="0"/>
              <a:t>Software that controls computer hardware and provides a platform for other software</a:t>
            </a:r>
            <a:br>
              <a:rPr lang="en-IN" sz="1400" dirty="0"/>
            </a:br>
            <a:r>
              <a:rPr lang="en-IN" sz="1400" dirty="0"/>
              <a:t>Example: Windows, Linux, macOS</a:t>
            </a:r>
          </a:p>
          <a:p>
            <a:r>
              <a:rPr lang="en-IN" sz="1400" b="1" dirty="0"/>
              <a:t>Application Software:-</a:t>
            </a:r>
          </a:p>
          <a:p>
            <a:pPr marL="0" indent="0">
              <a:buNone/>
            </a:pPr>
            <a:r>
              <a:rPr lang="en-IN" sz="1400" dirty="0"/>
              <a:t>Programs designed to perform specific tasks for users</a:t>
            </a:r>
            <a:br>
              <a:rPr lang="en-IN" sz="1400" dirty="0"/>
            </a:br>
            <a:r>
              <a:rPr lang="en-IN" sz="1400" dirty="0"/>
              <a:t>Example: MS Word, Excel, web browsers</a:t>
            </a:r>
          </a:p>
          <a:p>
            <a:r>
              <a:rPr lang="en-IN" sz="1400" b="1" dirty="0"/>
              <a:t>Utility Software:-</a:t>
            </a:r>
          </a:p>
          <a:p>
            <a:pPr marL="0" indent="0">
              <a:buNone/>
            </a:pPr>
            <a:r>
              <a:rPr lang="en-IN" sz="1400" dirty="0"/>
              <a:t>Software used to maintain and protect the computer system</a:t>
            </a:r>
            <a:br>
              <a:rPr lang="en-IN" sz="1400" dirty="0"/>
            </a:br>
            <a:r>
              <a:rPr lang="en-IN" sz="1400" dirty="0"/>
              <a:t>Example: Antivirus, disk cleanup tools</a:t>
            </a:r>
          </a:p>
          <a:p>
            <a:endParaRPr lang="en-IN" sz="1400" dirty="0"/>
          </a:p>
        </p:txBody>
      </p:sp>
    </p:spTree>
    <p:extLst>
      <p:ext uri="{BB962C8B-B14F-4D97-AF65-F5344CB8AC3E}">
        <p14:creationId xmlns:p14="http://schemas.microsoft.com/office/powerpoint/2010/main" val="92753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F1D9-D1B4-F08A-2905-A96E1AA38B76}"/>
              </a:ext>
            </a:extLst>
          </p:cNvPr>
          <p:cNvSpPr>
            <a:spLocks noGrp="1"/>
          </p:cNvSpPr>
          <p:nvPr>
            <p:ph type="title"/>
          </p:nvPr>
        </p:nvSpPr>
        <p:spPr>
          <a:xfrm>
            <a:off x="1297778" y="1177194"/>
            <a:ext cx="9601196" cy="984737"/>
          </a:xfrm>
        </p:spPr>
        <p:txBody>
          <a:bodyPr/>
          <a:lstStyle/>
          <a:p>
            <a:r>
              <a:rPr lang="en-IN" b="1" dirty="0">
                <a:solidFill>
                  <a:schemeClr val="tx1"/>
                </a:solidFill>
              </a:rPr>
              <a:t>Networking &amp; Internet</a:t>
            </a:r>
            <a:endParaRPr lang="en-IN" dirty="0"/>
          </a:p>
        </p:txBody>
      </p:sp>
      <p:sp>
        <p:nvSpPr>
          <p:cNvPr id="3" name="Text Placeholder 2">
            <a:extLst>
              <a:ext uri="{FF2B5EF4-FFF2-40B4-BE49-F238E27FC236}">
                <a16:creationId xmlns:a16="http://schemas.microsoft.com/office/drawing/2014/main" id="{153592A5-75EC-58CF-A097-FC52FADE2C0C}"/>
              </a:ext>
            </a:extLst>
          </p:cNvPr>
          <p:cNvSpPr>
            <a:spLocks noGrp="1"/>
          </p:cNvSpPr>
          <p:nvPr>
            <p:ph type="body" idx="1"/>
          </p:nvPr>
        </p:nvSpPr>
        <p:spPr>
          <a:xfrm>
            <a:off x="1293026" y="2426513"/>
            <a:ext cx="4718304" cy="448572"/>
          </a:xfrm>
        </p:spPr>
        <p:txBody>
          <a:bodyPr/>
          <a:lstStyle/>
          <a:p>
            <a:pPr algn="ctr"/>
            <a:r>
              <a:rPr lang="en-IN" b="1" u="sng" dirty="0">
                <a:solidFill>
                  <a:schemeClr val="tx1"/>
                </a:solidFill>
              </a:rPr>
              <a:t>Networking</a:t>
            </a:r>
            <a:endParaRPr lang="en-IN" u="sng" dirty="0"/>
          </a:p>
        </p:txBody>
      </p:sp>
      <p:sp>
        <p:nvSpPr>
          <p:cNvPr id="4" name="Content Placeholder 3">
            <a:extLst>
              <a:ext uri="{FF2B5EF4-FFF2-40B4-BE49-F238E27FC236}">
                <a16:creationId xmlns:a16="http://schemas.microsoft.com/office/drawing/2014/main" id="{B083E7FB-FB77-2DAA-5525-333646AF77BA}"/>
              </a:ext>
            </a:extLst>
          </p:cNvPr>
          <p:cNvSpPr>
            <a:spLocks noGrp="1"/>
          </p:cNvSpPr>
          <p:nvPr>
            <p:ph sz="half" idx="2"/>
          </p:nvPr>
        </p:nvSpPr>
        <p:spPr>
          <a:xfrm>
            <a:off x="1295400" y="2804746"/>
            <a:ext cx="4718304" cy="3071121"/>
          </a:xfrm>
        </p:spPr>
        <p:txBody>
          <a:bodyPr>
            <a:noAutofit/>
          </a:bodyPr>
          <a:lstStyle/>
          <a:p>
            <a:r>
              <a:rPr lang="en-US" sz="1200" b="1" u="sng" dirty="0">
                <a:solidFill>
                  <a:schemeClr val="tx1">
                    <a:lumMod val="95000"/>
                    <a:lumOff val="5000"/>
                  </a:schemeClr>
                </a:solidFill>
              </a:rPr>
              <a:t>Definition:-</a:t>
            </a:r>
          </a:p>
          <a:p>
            <a:pPr marL="0" indent="0">
              <a:buNone/>
            </a:pPr>
            <a:r>
              <a:rPr lang="en-US" sz="1200" dirty="0">
                <a:solidFill>
                  <a:schemeClr val="tx1">
                    <a:lumMod val="95000"/>
                    <a:lumOff val="5000"/>
                  </a:schemeClr>
                </a:solidFill>
              </a:rPr>
              <a:t>Networking is the process of connecting two or more computers or devices to share data, resources, and information.</a:t>
            </a:r>
          </a:p>
          <a:p>
            <a:r>
              <a:rPr lang="en-US" sz="1200" b="1" u="sng" dirty="0">
                <a:solidFill>
                  <a:schemeClr val="tx1">
                    <a:lumMod val="95000"/>
                    <a:lumOff val="5000"/>
                  </a:schemeClr>
                </a:solidFill>
              </a:rPr>
              <a:t>Types of Networks:-</a:t>
            </a:r>
          </a:p>
          <a:p>
            <a:pPr marL="457200" indent="-457200">
              <a:buFont typeface="+mj-lt"/>
              <a:buAutoNum type="alphaLcParenR"/>
            </a:pPr>
            <a:r>
              <a:rPr lang="en-US" sz="1200" dirty="0">
                <a:solidFill>
                  <a:schemeClr val="tx1">
                    <a:lumMod val="95000"/>
                    <a:lumOff val="5000"/>
                  </a:schemeClr>
                </a:solidFill>
              </a:rPr>
              <a:t>LAN (Local Area Network) – Covers a small area like a home, school, or office</a:t>
            </a:r>
          </a:p>
          <a:p>
            <a:pPr marL="457200" indent="-457200">
              <a:buFont typeface="+mj-lt"/>
              <a:buAutoNum type="alphaLcParenR"/>
            </a:pPr>
            <a:r>
              <a:rPr lang="en-US" sz="1200" dirty="0">
                <a:solidFill>
                  <a:schemeClr val="tx1">
                    <a:lumMod val="95000"/>
                    <a:lumOff val="5000"/>
                  </a:schemeClr>
                </a:solidFill>
              </a:rPr>
              <a:t>WAN (Wide Area Network) – Covers a large geographical area</a:t>
            </a:r>
          </a:p>
          <a:p>
            <a:pPr marL="457200" indent="-457200">
              <a:buFont typeface="+mj-lt"/>
              <a:buAutoNum type="alphaLcParenR"/>
            </a:pPr>
            <a:r>
              <a:rPr lang="en-US" sz="1200" dirty="0">
                <a:solidFill>
                  <a:schemeClr val="tx1">
                    <a:lumMod val="95000"/>
                    <a:lumOff val="5000"/>
                  </a:schemeClr>
                </a:solidFill>
              </a:rPr>
              <a:t>MAN (Metropolitan Area Network) – Covers a city or large campus</a:t>
            </a:r>
          </a:p>
          <a:p>
            <a:pPr marL="457200" indent="-457200">
              <a:buFont typeface="+mj-lt"/>
              <a:buAutoNum type="alphaLcParenR"/>
            </a:pPr>
            <a:r>
              <a:rPr lang="en-US" sz="1200" dirty="0">
                <a:solidFill>
                  <a:schemeClr val="tx1">
                    <a:lumMod val="95000"/>
                    <a:lumOff val="5000"/>
                  </a:schemeClr>
                </a:solidFill>
              </a:rPr>
              <a:t>Networking Devices - Router, switch, modem, hub, and network cables.</a:t>
            </a:r>
          </a:p>
          <a:p>
            <a:r>
              <a:rPr lang="en-US" sz="1200" b="1" u="sng" dirty="0">
                <a:solidFill>
                  <a:schemeClr val="tx1">
                    <a:lumMod val="95000"/>
                    <a:lumOff val="5000"/>
                  </a:schemeClr>
                </a:solidFill>
              </a:rPr>
              <a:t>Advantages of Networking:-</a:t>
            </a:r>
          </a:p>
          <a:p>
            <a:pPr marL="0" indent="0">
              <a:buNone/>
            </a:pPr>
            <a:r>
              <a:rPr lang="en-US" sz="1200" dirty="0">
                <a:solidFill>
                  <a:schemeClr val="tx1">
                    <a:lumMod val="95000"/>
                    <a:lumOff val="5000"/>
                  </a:schemeClr>
                </a:solidFill>
              </a:rPr>
              <a:t>           Resource sharing, fast communication, and centralized data management.</a:t>
            </a:r>
          </a:p>
          <a:p>
            <a:endParaRPr lang="en-IN" sz="1200" dirty="0">
              <a:solidFill>
                <a:schemeClr val="tx1">
                  <a:lumMod val="95000"/>
                  <a:lumOff val="5000"/>
                </a:schemeClr>
              </a:solidFill>
            </a:endParaRPr>
          </a:p>
        </p:txBody>
      </p:sp>
      <p:sp>
        <p:nvSpPr>
          <p:cNvPr id="5" name="Text Placeholder 4">
            <a:extLst>
              <a:ext uri="{FF2B5EF4-FFF2-40B4-BE49-F238E27FC236}">
                <a16:creationId xmlns:a16="http://schemas.microsoft.com/office/drawing/2014/main" id="{807719AE-F782-522D-280F-A44908BA3A19}"/>
              </a:ext>
            </a:extLst>
          </p:cNvPr>
          <p:cNvSpPr>
            <a:spLocks noGrp="1"/>
          </p:cNvSpPr>
          <p:nvPr>
            <p:ph type="body" sz="quarter" idx="3"/>
          </p:nvPr>
        </p:nvSpPr>
        <p:spPr>
          <a:xfrm>
            <a:off x="6180670" y="2426513"/>
            <a:ext cx="4718304" cy="448572"/>
          </a:xfrm>
        </p:spPr>
        <p:txBody>
          <a:bodyPr/>
          <a:lstStyle/>
          <a:p>
            <a:pPr algn="ctr"/>
            <a:r>
              <a:rPr lang="en-IN" b="1" u="sng" dirty="0">
                <a:solidFill>
                  <a:schemeClr val="tx1"/>
                </a:solidFill>
              </a:rPr>
              <a:t>Internet</a:t>
            </a:r>
            <a:endParaRPr lang="en-IN" u="sng" dirty="0"/>
          </a:p>
        </p:txBody>
      </p:sp>
      <p:sp>
        <p:nvSpPr>
          <p:cNvPr id="6" name="Content Placeholder 5">
            <a:extLst>
              <a:ext uri="{FF2B5EF4-FFF2-40B4-BE49-F238E27FC236}">
                <a16:creationId xmlns:a16="http://schemas.microsoft.com/office/drawing/2014/main" id="{B9CFC3AB-1C5A-9476-0A89-007EC1972F89}"/>
              </a:ext>
            </a:extLst>
          </p:cNvPr>
          <p:cNvSpPr>
            <a:spLocks noGrp="1"/>
          </p:cNvSpPr>
          <p:nvPr>
            <p:ph sz="quarter" idx="4"/>
          </p:nvPr>
        </p:nvSpPr>
        <p:spPr>
          <a:xfrm>
            <a:off x="6180670" y="2804746"/>
            <a:ext cx="4718304" cy="3071121"/>
          </a:xfrm>
        </p:spPr>
        <p:txBody>
          <a:bodyPr>
            <a:normAutofit fontScale="55000" lnSpcReduction="20000"/>
          </a:bodyPr>
          <a:lstStyle/>
          <a:p>
            <a:r>
              <a:rPr lang="en-US" sz="2500" b="1" u="sng" dirty="0"/>
              <a:t>Definition:-</a:t>
            </a:r>
          </a:p>
          <a:p>
            <a:pPr marL="0" indent="0">
              <a:buNone/>
            </a:pPr>
            <a:r>
              <a:rPr lang="en-US" dirty="0"/>
              <a:t>The Internet is a global network of interconnected computers that allows users to access information and communicate worldwide.</a:t>
            </a:r>
          </a:p>
          <a:p>
            <a:r>
              <a:rPr lang="en-US" sz="2500" b="1" u="sng" dirty="0"/>
              <a:t>Internet Services:-</a:t>
            </a:r>
          </a:p>
          <a:p>
            <a:pPr marL="0" indent="0">
              <a:buNone/>
            </a:pPr>
            <a:r>
              <a:rPr lang="en-US" dirty="0"/>
              <a:t>Email, World Wide Web (WWW), social media, online banking, cloud services.</a:t>
            </a:r>
          </a:p>
          <a:p>
            <a:r>
              <a:rPr lang="en-US" sz="2500" b="1" u="sng" dirty="0"/>
              <a:t>Uses of the Internet:-</a:t>
            </a:r>
          </a:p>
          <a:p>
            <a:pPr marL="0" indent="0">
              <a:buNone/>
            </a:pPr>
            <a:r>
              <a:rPr lang="en-US" dirty="0"/>
              <a:t>Online education, e-commerce, communication, entertainment, and research.</a:t>
            </a:r>
          </a:p>
          <a:p>
            <a:r>
              <a:rPr lang="en-US" sz="2500" b="1" u="sng" dirty="0"/>
              <a:t>Benefits of the Internet:-</a:t>
            </a:r>
          </a:p>
          <a:p>
            <a:pPr marL="0" indent="0">
              <a:buNone/>
            </a:pPr>
            <a:r>
              <a:rPr lang="en-US" dirty="0"/>
              <a:t>Global connectivity, instant information access, and easy communication.</a:t>
            </a:r>
          </a:p>
          <a:p>
            <a:endParaRPr lang="en-IN" dirty="0"/>
          </a:p>
        </p:txBody>
      </p:sp>
    </p:spTree>
    <p:extLst>
      <p:ext uri="{BB962C8B-B14F-4D97-AF65-F5344CB8AC3E}">
        <p14:creationId xmlns:p14="http://schemas.microsoft.com/office/powerpoint/2010/main" val="1836828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3D617-AB97-1A8E-2AC5-DB27E28DA5FD}"/>
              </a:ext>
            </a:extLst>
          </p:cNvPr>
          <p:cNvSpPr>
            <a:spLocks noGrp="1"/>
          </p:cNvSpPr>
          <p:nvPr>
            <p:ph type="title"/>
          </p:nvPr>
        </p:nvSpPr>
        <p:spPr>
          <a:xfrm>
            <a:off x="1295402" y="1160585"/>
            <a:ext cx="9601196" cy="1125414"/>
          </a:xfrm>
        </p:spPr>
        <p:txBody>
          <a:bodyPr>
            <a:normAutofit fontScale="90000"/>
          </a:bodyPr>
          <a:lstStyle/>
          <a:p>
            <a:r>
              <a:rPr lang="en-IN" b="1" dirty="0">
                <a:solidFill>
                  <a:schemeClr val="tx1"/>
                </a:solidFill>
              </a:rPr>
              <a:t>Database Management Systems (DBMS)</a:t>
            </a:r>
          </a:p>
        </p:txBody>
      </p:sp>
      <p:sp>
        <p:nvSpPr>
          <p:cNvPr id="3" name="Content Placeholder 2">
            <a:extLst>
              <a:ext uri="{FF2B5EF4-FFF2-40B4-BE49-F238E27FC236}">
                <a16:creationId xmlns:a16="http://schemas.microsoft.com/office/drawing/2014/main" id="{1F2D4615-3AD2-BECB-7D8F-1A1860C631AB}"/>
              </a:ext>
            </a:extLst>
          </p:cNvPr>
          <p:cNvSpPr>
            <a:spLocks noGrp="1"/>
          </p:cNvSpPr>
          <p:nvPr>
            <p:ph idx="1"/>
          </p:nvPr>
        </p:nvSpPr>
        <p:spPr>
          <a:xfrm>
            <a:off x="1295401" y="2391508"/>
            <a:ext cx="9601196" cy="3484360"/>
          </a:xfrm>
        </p:spPr>
        <p:txBody>
          <a:bodyPr>
            <a:normAutofit fontScale="92500" lnSpcReduction="10000"/>
          </a:bodyPr>
          <a:lstStyle/>
          <a:p>
            <a:pPr>
              <a:buFont typeface="Wingdings" panose="05000000000000000000" pitchFamily="2" charset="2"/>
              <a:buChar char="q"/>
            </a:pPr>
            <a:r>
              <a:rPr lang="en-US" sz="1600" b="1" u="sng" dirty="0"/>
              <a:t>DBMS:-</a:t>
            </a:r>
          </a:p>
          <a:p>
            <a:pPr marL="0" indent="0">
              <a:buNone/>
            </a:pPr>
            <a:r>
              <a:rPr lang="en-US" sz="1600" dirty="0"/>
              <a:t>DBMS is software that is used to create, store, organize, retrieve, and manage data efficiently in a database.</a:t>
            </a:r>
          </a:p>
          <a:p>
            <a:pPr>
              <a:buFont typeface="Wingdings" panose="05000000000000000000" pitchFamily="2" charset="2"/>
              <a:buChar char="ü"/>
            </a:pPr>
            <a:r>
              <a:rPr lang="en-US" sz="1600" b="1" u="sng" dirty="0"/>
              <a:t>Example:-</a:t>
            </a:r>
          </a:p>
          <a:p>
            <a:pPr marL="0" indent="0">
              <a:buNone/>
            </a:pPr>
            <a:r>
              <a:rPr lang="en-US" sz="1600" dirty="0"/>
              <a:t>MySQL, Oracle, MS Access, and SQL Server are common examples of DBMS.</a:t>
            </a:r>
          </a:p>
          <a:p>
            <a:pPr>
              <a:buFont typeface="Wingdings" panose="05000000000000000000" pitchFamily="2" charset="2"/>
              <a:buChar char="Ø"/>
            </a:pPr>
            <a:r>
              <a:rPr lang="en-US" sz="1600" b="1" u="sng" dirty="0"/>
              <a:t>Uses:-</a:t>
            </a:r>
          </a:p>
          <a:p>
            <a:pPr marL="0" indent="0">
              <a:buNone/>
            </a:pPr>
            <a:r>
              <a:rPr lang="en-US" sz="1600" dirty="0"/>
              <a:t>DBMS is used in schools, banks, hospitals, and businesses to manage large amounts of data.</a:t>
            </a:r>
          </a:p>
          <a:p>
            <a:pPr>
              <a:buFont typeface="Wingdings" panose="05000000000000000000" pitchFamily="2" charset="2"/>
              <a:buChar char="Ø"/>
            </a:pPr>
            <a:r>
              <a:rPr lang="en-US" sz="1600" b="1" u="sng" dirty="0"/>
              <a:t>Advantages:-</a:t>
            </a:r>
          </a:p>
          <a:p>
            <a:pPr marL="0" indent="0">
              <a:buNone/>
            </a:pPr>
            <a:r>
              <a:rPr lang="en-US" sz="1600" dirty="0"/>
              <a:t>DBMS ensures data security, reduces redundancy, and allows easy data access</a:t>
            </a:r>
          </a:p>
          <a:p>
            <a:pPr>
              <a:buFont typeface="Wingdings" panose="05000000000000000000" pitchFamily="2" charset="2"/>
              <a:buChar char="q"/>
            </a:pPr>
            <a:r>
              <a:rPr lang="en-US" sz="1600" b="1" u="sng" dirty="0"/>
              <a:t>SQL (Structured Query Language):-</a:t>
            </a:r>
          </a:p>
          <a:p>
            <a:pPr marL="0" indent="0">
              <a:buNone/>
            </a:pPr>
            <a:r>
              <a:rPr lang="en-US" sz="1600" dirty="0"/>
              <a:t>SQL is a standard programming language used to create, manage, and manipulate data stored in a database.</a:t>
            </a:r>
          </a:p>
          <a:p>
            <a:pPr marL="0" indent="0">
              <a:buNone/>
            </a:pPr>
            <a:endParaRPr lang="en-US" sz="1600" dirty="0"/>
          </a:p>
        </p:txBody>
      </p:sp>
    </p:spTree>
    <p:extLst>
      <p:ext uri="{BB962C8B-B14F-4D97-AF65-F5344CB8AC3E}">
        <p14:creationId xmlns:p14="http://schemas.microsoft.com/office/powerpoint/2010/main" val="3274045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3B76-F603-75A3-179E-8508D0AFE5EA}"/>
              </a:ext>
            </a:extLst>
          </p:cNvPr>
          <p:cNvSpPr>
            <a:spLocks noGrp="1"/>
          </p:cNvSpPr>
          <p:nvPr>
            <p:ph type="title"/>
          </p:nvPr>
        </p:nvSpPr>
        <p:spPr/>
        <p:txBody>
          <a:bodyPr/>
          <a:lstStyle/>
          <a:p>
            <a:r>
              <a:rPr lang="en-IN" b="1" dirty="0">
                <a:solidFill>
                  <a:schemeClr val="tx1"/>
                </a:solidFill>
              </a:rPr>
              <a:t>Information Security</a:t>
            </a:r>
            <a:endParaRPr lang="en-IN" dirty="0"/>
          </a:p>
        </p:txBody>
      </p:sp>
      <p:sp>
        <p:nvSpPr>
          <p:cNvPr id="3" name="Content Placeholder 2">
            <a:extLst>
              <a:ext uri="{FF2B5EF4-FFF2-40B4-BE49-F238E27FC236}">
                <a16:creationId xmlns:a16="http://schemas.microsoft.com/office/drawing/2014/main" id="{89A22B14-DEAA-EB10-37F5-8D5DA26016A3}"/>
              </a:ext>
            </a:extLst>
          </p:cNvPr>
          <p:cNvSpPr>
            <a:spLocks noGrp="1"/>
          </p:cNvSpPr>
          <p:nvPr>
            <p:ph idx="1"/>
          </p:nvPr>
        </p:nvSpPr>
        <p:spPr>
          <a:xfrm>
            <a:off x="1295401" y="2391508"/>
            <a:ext cx="9601196" cy="3484360"/>
          </a:xfrm>
        </p:spPr>
        <p:txBody>
          <a:bodyPr>
            <a:normAutofit/>
          </a:bodyPr>
          <a:lstStyle/>
          <a:p>
            <a:pPr>
              <a:buFont typeface="Wingdings" panose="05000000000000000000" pitchFamily="2" charset="2"/>
              <a:buChar char="q"/>
            </a:pPr>
            <a:r>
              <a:rPr lang="en-US" sz="1600" b="1" u="sng" dirty="0"/>
              <a:t>Information Security (InfoSec):-</a:t>
            </a:r>
            <a:br>
              <a:rPr lang="en-US" sz="1600" dirty="0"/>
            </a:br>
            <a:r>
              <a:rPr lang="en-US" sz="1600" dirty="0"/>
              <a:t>Information Security is the practice of protecting all forms of information—digital, physical, or intellectual—from unauthorized access, disclosure, modification, or destruction.</a:t>
            </a:r>
          </a:p>
          <a:p>
            <a:r>
              <a:rPr lang="en-US" sz="1600" b="1" u="sng" dirty="0"/>
              <a:t>Scope:-</a:t>
            </a:r>
            <a:br>
              <a:rPr lang="en-US" sz="1600" dirty="0"/>
            </a:br>
            <a:r>
              <a:rPr lang="en-US" sz="1600" dirty="0"/>
              <a:t>Covers data, documents, passwords, intellectual property, and organizational information.</a:t>
            </a:r>
          </a:p>
          <a:p>
            <a:r>
              <a:rPr lang="en-US" sz="1600" b="1" u="sng" dirty="0"/>
              <a:t>Example:-</a:t>
            </a:r>
            <a:br>
              <a:rPr lang="en-US" sz="1600" dirty="0"/>
            </a:br>
            <a:r>
              <a:rPr lang="en-US" sz="1600" dirty="0"/>
              <a:t>Locking confidential files in a cabinet, using strong passwords, or encrypting sensitive data.</a:t>
            </a:r>
          </a:p>
          <a:p>
            <a:endParaRPr lang="en-US" sz="1600" dirty="0"/>
          </a:p>
          <a:p>
            <a:pPr>
              <a:buFont typeface="Wingdings" panose="05000000000000000000" pitchFamily="2" charset="2"/>
              <a:buChar char="v"/>
            </a:pPr>
            <a:r>
              <a:rPr lang="en-US" sz="1800" b="1" u="sng" dirty="0"/>
              <a:t>Note:</a:t>
            </a:r>
            <a:endParaRPr lang="en-US" sz="1800" b="1" u="sng" dirty="0">
              <a:solidFill>
                <a:srgbClr val="FF0000"/>
              </a:solidFill>
            </a:endParaRPr>
          </a:p>
          <a:p>
            <a:pPr marL="0" indent="0">
              <a:buNone/>
            </a:pPr>
            <a:r>
              <a:rPr lang="en-US" altLang="en-US" sz="1200" dirty="0">
                <a:solidFill>
                  <a:srgbClr val="FF0000"/>
                </a:solidFill>
                <a:latin typeface="Arial" panose="020B0604020202020204" pitchFamily="34" charset="0"/>
              </a:rPr>
              <a:t>Information Security: Protects all types of information (digital &amp; physical).</a:t>
            </a:r>
          </a:p>
          <a:p>
            <a:endParaRPr lang="en-IN" sz="1600" dirty="0"/>
          </a:p>
        </p:txBody>
      </p:sp>
    </p:spTree>
    <p:extLst>
      <p:ext uri="{BB962C8B-B14F-4D97-AF65-F5344CB8AC3E}">
        <p14:creationId xmlns:p14="http://schemas.microsoft.com/office/powerpoint/2010/main" val="3622639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CE609-214E-3D64-441C-4D1AF7761D03}"/>
              </a:ext>
            </a:extLst>
          </p:cNvPr>
          <p:cNvSpPr>
            <a:spLocks noGrp="1"/>
          </p:cNvSpPr>
          <p:nvPr>
            <p:ph type="title"/>
          </p:nvPr>
        </p:nvSpPr>
        <p:spPr/>
        <p:txBody>
          <a:bodyPr/>
          <a:lstStyle/>
          <a:p>
            <a:r>
              <a:rPr lang="en-IN" b="1" dirty="0">
                <a:solidFill>
                  <a:schemeClr val="tx1"/>
                </a:solidFill>
              </a:rPr>
              <a:t>Cybersecurity</a:t>
            </a:r>
            <a:endParaRPr lang="en-IN" dirty="0"/>
          </a:p>
        </p:txBody>
      </p:sp>
      <p:sp>
        <p:nvSpPr>
          <p:cNvPr id="3" name="Content Placeholder 2">
            <a:extLst>
              <a:ext uri="{FF2B5EF4-FFF2-40B4-BE49-F238E27FC236}">
                <a16:creationId xmlns:a16="http://schemas.microsoft.com/office/drawing/2014/main" id="{C85E01C0-4B52-76C6-CC24-8824A24AF106}"/>
              </a:ext>
            </a:extLst>
          </p:cNvPr>
          <p:cNvSpPr>
            <a:spLocks noGrp="1"/>
          </p:cNvSpPr>
          <p:nvPr>
            <p:ph idx="1"/>
          </p:nvPr>
        </p:nvSpPr>
        <p:spPr>
          <a:xfrm>
            <a:off x="1295401" y="2391508"/>
            <a:ext cx="9601196" cy="3484360"/>
          </a:xfrm>
        </p:spPr>
        <p:txBody>
          <a:bodyPr>
            <a:normAutofit/>
          </a:bodyPr>
          <a:lstStyle/>
          <a:p>
            <a:pPr>
              <a:buFont typeface="Wingdings" panose="05000000000000000000" pitchFamily="2" charset="2"/>
              <a:buChar char="q"/>
            </a:pPr>
            <a:r>
              <a:rPr lang="en-US" sz="1600" b="1" dirty="0"/>
              <a:t>Cybersecurity:-</a:t>
            </a:r>
            <a:br>
              <a:rPr lang="en-US" sz="1600" dirty="0"/>
            </a:br>
            <a:r>
              <a:rPr lang="en-US" sz="1600" dirty="0"/>
              <a:t> Cybersecurity is the practice of protecting digital systems, networks, and online data specifically from cyber attacks and online threats.</a:t>
            </a:r>
          </a:p>
          <a:p>
            <a:r>
              <a:rPr lang="en-US" sz="1600" b="1" dirty="0"/>
              <a:t>Scope:-</a:t>
            </a:r>
            <a:br>
              <a:rPr lang="en-US" sz="1600" dirty="0"/>
            </a:br>
            <a:r>
              <a:rPr lang="en-US" sz="1600" dirty="0"/>
              <a:t>Focuses on computers, networks, internet systems, and digital data.</a:t>
            </a:r>
          </a:p>
          <a:p>
            <a:r>
              <a:rPr lang="en-US" sz="1600" b="1" dirty="0"/>
              <a:t>Example:-</a:t>
            </a:r>
            <a:br>
              <a:rPr lang="en-US" sz="1600" dirty="0"/>
            </a:br>
            <a:r>
              <a:rPr lang="en-US" sz="1600" dirty="0"/>
              <a:t>Using firewalls, antivirus software, or monitoring systems to prevent hacking and malware attacks.</a:t>
            </a:r>
          </a:p>
          <a:p>
            <a:endParaRPr lang="en-IN" dirty="0"/>
          </a:p>
          <a:p>
            <a:pPr>
              <a:buFont typeface="Wingdings" panose="05000000000000000000" pitchFamily="2" charset="2"/>
              <a:buChar char="v"/>
            </a:pPr>
            <a:r>
              <a:rPr lang="en-US" sz="1800" b="1" u="sng" dirty="0"/>
              <a:t>Note:</a:t>
            </a:r>
            <a:endParaRPr lang="en-US" sz="1800" b="1" u="sng" dirty="0">
              <a:solidFill>
                <a:srgbClr val="FF0000"/>
              </a:solidFill>
            </a:endParaRPr>
          </a:p>
          <a:p>
            <a:pPr marL="0" indent="0">
              <a:buNone/>
            </a:pPr>
            <a:r>
              <a:rPr lang="en-US" sz="1600" dirty="0">
                <a:solidFill>
                  <a:srgbClr val="FF0000"/>
                </a:solidFill>
              </a:rPr>
              <a:t>Cybersecurity: Protects information specifically in digital systems and online.</a:t>
            </a:r>
            <a:endParaRPr lang="en-IN" sz="1600" dirty="0">
              <a:solidFill>
                <a:srgbClr val="FF0000"/>
              </a:solidFill>
            </a:endParaRPr>
          </a:p>
        </p:txBody>
      </p:sp>
    </p:spTree>
    <p:extLst>
      <p:ext uri="{BB962C8B-B14F-4D97-AF65-F5344CB8AC3E}">
        <p14:creationId xmlns:p14="http://schemas.microsoft.com/office/powerpoint/2010/main" val="280311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EC44-F262-3E02-46BB-42D538BCCE57}"/>
              </a:ext>
            </a:extLst>
          </p:cNvPr>
          <p:cNvSpPr>
            <a:spLocks noGrp="1"/>
          </p:cNvSpPr>
          <p:nvPr>
            <p:ph type="title"/>
          </p:nvPr>
        </p:nvSpPr>
        <p:spPr/>
        <p:txBody>
          <a:bodyPr>
            <a:normAutofit/>
          </a:bodyPr>
          <a:lstStyle/>
          <a:p>
            <a:r>
              <a:rPr lang="en-IN" sz="3200" b="1" dirty="0">
                <a:solidFill>
                  <a:schemeClr val="tx1"/>
                </a:solidFill>
              </a:rPr>
              <a:t>Benefits of </a:t>
            </a:r>
            <a:br>
              <a:rPr lang="en-IN" sz="3200" b="1" dirty="0">
                <a:solidFill>
                  <a:schemeClr val="tx1"/>
                </a:solidFill>
              </a:rPr>
            </a:br>
            <a:r>
              <a:rPr lang="en-IN" sz="3200" b="1" dirty="0">
                <a:solidFill>
                  <a:schemeClr val="tx1"/>
                </a:solidFill>
              </a:rPr>
              <a:t>Information Security and Cybersecurity</a:t>
            </a:r>
          </a:p>
        </p:txBody>
      </p:sp>
      <p:sp>
        <p:nvSpPr>
          <p:cNvPr id="7" name="Rectangle 4">
            <a:extLst>
              <a:ext uri="{FF2B5EF4-FFF2-40B4-BE49-F238E27FC236}">
                <a16:creationId xmlns:a16="http://schemas.microsoft.com/office/drawing/2014/main" id="{2AF2F732-824F-5C57-C216-3B7F120E7111}"/>
              </a:ext>
            </a:extLst>
          </p:cNvPr>
          <p:cNvSpPr>
            <a:spLocks noGrp="1" noChangeArrowheads="1"/>
          </p:cNvSpPr>
          <p:nvPr>
            <p:ph idx="1"/>
          </p:nvPr>
        </p:nvSpPr>
        <p:spPr bwMode="auto">
          <a:xfrm>
            <a:off x="1452197" y="2528575"/>
            <a:ext cx="9287606" cy="227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Protects Data:</a:t>
            </a:r>
            <a:r>
              <a:rPr kumimoji="0" lang="en-US" altLang="en-US" sz="1600" i="0" u="none" strike="noStrike" cap="none" normalizeH="0" baseline="0" dirty="0">
                <a:ln>
                  <a:noFill/>
                </a:ln>
                <a:solidFill>
                  <a:schemeClr val="tx1"/>
                </a:solidFill>
                <a:effectLst/>
                <a:latin typeface="+mj-lt"/>
              </a:rPr>
              <a:t> Prevents unauthorized access, theft, or loss of sensitive information.</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Maintains Privacy:</a:t>
            </a:r>
            <a:r>
              <a:rPr kumimoji="0" lang="en-US" altLang="en-US" sz="1600" i="0" u="none" strike="noStrike" cap="none" normalizeH="0" baseline="0" dirty="0">
                <a:ln>
                  <a:noFill/>
                </a:ln>
                <a:solidFill>
                  <a:schemeClr val="tx1"/>
                </a:solidFill>
                <a:effectLst/>
                <a:latin typeface="+mj-lt"/>
              </a:rPr>
              <a:t> Ensures personal and organizational information remains confidential.</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Prevents Financial Loss:</a:t>
            </a:r>
            <a:r>
              <a:rPr kumimoji="0" lang="en-US" altLang="en-US" sz="1600" i="0" u="none" strike="noStrike" cap="none" normalizeH="0" baseline="0" dirty="0">
                <a:ln>
                  <a:noFill/>
                </a:ln>
                <a:solidFill>
                  <a:schemeClr val="tx1"/>
                </a:solidFill>
                <a:effectLst/>
                <a:latin typeface="+mj-lt"/>
              </a:rPr>
              <a:t> Protects against fraud, hacking, and cybercrime.</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Builds Trust:</a:t>
            </a:r>
            <a:r>
              <a:rPr kumimoji="0" lang="en-US" altLang="en-US" sz="1600" i="0" u="none" strike="noStrike" cap="none" normalizeH="0" baseline="0" dirty="0">
                <a:ln>
                  <a:noFill/>
                </a:ln>
                <a:solidFill>
                  <a:schemeClr val="tx1"/>
                </a:solidFill>
                <a:effectLst/>
                <a:latin typeface="+mj-lt"/>
              </a:rPr>
              <a:t> Users and clients feel safe sharing information with secure systems.</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Supports Business Continuity:</a:t>
            </a:r>
            <a:r>
              <a:rPr kumimoji="0" lang="en-US" altLang="en-US" sz="1600" i="0" u="none" strike="noStrike" cap="none" normalizeH="0" baseline="0" dirty="0">
                <a:ln>
                  <a:noFill/>
                </a:ln>
                <a:solidFill>
                  <a:schemeClr val="tx1"/>
                </a:solidFill>
                <a:effectLst/>
                <a:latin typeface="+mj-lt"/>
              </a:rPr>
              <a:t> Prevents disruptions from attacks or data breaches.</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Legal Compliance:</a:t>
            </a:r>
            <a:r>
              <a:rPr kumimoji="0" lang="en-US" altLang="en-US" sz="1600" i="0" u="none" strike="noStrike" cap="none" normalizeH="0" baseline="0" dirty="0">
                <a:ln>
                  <a:noFill/>
                </a:ln>
                <a:solidFill>
                  <a:schemeClr val="tx1"/>
                </a:solidFill>
                <a:effectLst/>
                <a:latin typeface="+mj-lt"/>
              </a:rPr>
              <a:t> Helps organizations follow laws and regulations related to data protection.</a:t>
            </a:r>
          </a:p>
        </p:txBody>
      </p:sp>
    </p:spTree>
    <p:extLst>
      <p:ext uri="{BB962C8B-B14F-4D97-AF65-F5344CB8AC3E}">
        <p14:creationId xmlns:p14="http://schemas.microsoft.com/office/powerpoint/2010/main" val="2807291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20DBC-0300-4CF0-2151-8B08F8FE6868}"/>
              </a:ext>
            </a:extLst>
          </p:cNvPr>
          <p:cNvSpPr>
            <a:spLocks noGrp="1"/>
          </p:cNvSpPr>
          <p:nvPr>
            <p:ph type="title"/>
          </p:nvPr>
        </p:nvSpPr>
        <p:spPr>
          <a:xfrm>
            <a:off x="1295402" y="1318846"/>
            <a:ext cx="9601196" cy="967153"/>
          </a:xfrm>
        </p:spPr>
        <p:txBody>
          <a:bodyPr/>
          <a:lstStyle/>
          <a:p>
            <a:r>
              <a:rPr lang="en-IN" b="1" dirty="0">
                <a:solidFill>
                  <a:schemeClr val="tx1"/>
                </a:solidFill>
              </a:rPr>
              <a:t>Cloud Computing</a:t>
            </a:r>
          </a:p>
        </p:txBody>
      </p:sp>
      <p:sp>
        <p:nvSpPr>
          <p:cNvPr id="3" name="Content Placeholder 2">
            <a:extLst>
              <a:ext uri="{FF2B5EF4-FFF2-40B4-BE49-F238E27FC236}">
                <a16:creationId xmlns:a16="http://schemas.microsoft.com/office/drawing/2014/main" id="{B08FDC43-FCB4-4086-3427-35942393DA1B}"/>
              </a:ext>
            </a:extLst>
          </p:cNvPr>
          <p:cNvSpPr>
            <a:spLocks noGrp="1"/>
          </p:cNvSpPr>
          <p:nvPr>
            <p:ph idx="1"/>
          </p:nvPr>
        </p:nvSpPr>
        <p:spPr>
          <a:xfrm>
            <a:off x="1295402" y="2417883"/>
            <a:ext cx="9601196" cy="3965331"/>
          </a:xfrm>
        </p:spPr>
        <p:txBody>
          <a:bodyPr>
            <a:normAutofit/>
          </a:bodyPr>
          <a:lstStyle/>
          <a:p>
            <a:pPr>
              <a:buFont typeface="Wingdings" panose="05000000000000000000" pitchFamily="2" charset="2"/>
              <a:buChar char="q"/>
            </a:pPr>
            <a:r>
              <a:rPr lang="en-US" sz="1600" dirty="0"/>
              <a:t>Cloud Computing is the delivery of computing services—such as servers, storage, databases, networking, software, and analytics—over the Internet instead of using local computers or servers.</a:t>
            </a:r>
          </a:p>
          <a:p>
            <a:pPr>
              <a:buFont typeface="Wingdings" panose="05000000000000000000" pitchFamily="2" charset="2"/>
              <a:buChar char="Ø"/>
            </a:pPr>
            <a:r>
              <a:rPr lang="en-US" sz="1600" b="1" u="sng" dirty="0"/>
              <a:t>Key Features:-</a:t>
            </a:r>
          </a:p>
          <a:p>
            <a:pPr>
              <a:buFont typeface="Arial" panose="020B0604020202020204" pitchFamily="34" charset="0"/>
              <a:buChar char="•"/>
            </a:pPr>
            <a:r>
              <a:rPr lang="en-US" sz="1600" dirty="0"/>
              <a:t>On-Demand Access: Access resources anytime without owning physical hardware.</a:t>
            </a:r>
          </a:p>
          <a:p>
            <a:pPr>
              <a:buFont typeface="Arial" panose="020B0604020202020204" pitchFamily="34" charset="0"/>
              <a:buChar char="•"/>
            </a:pPr>
            <a:r>
              <a:rPr lang="en-US" sz="1600" dirty="0"/>
              <a:t>Scalability: Easily increase or decrease resources based on needs.</a:t>
            </a:r>
          </a:p>
          <a:p>
            <a:pPr>
              <a:buFont typeface="Arial" panose="020B0604020202020204" pitchFamily="34" charset="0"/>
              <a:buChar char="•"/>
            </a:pPr>
            <a:r>
              <a:rPr lang="en-US" sz="1600" dirty="0"/>
              <a:t>Cost-Effective: Pay only for the services you use.</a:t>
            </a:r>
          </a:p>
          <a:p>
            <a:pPr>
              <a:buFont typeface="Arial" panose="020B0604020202020204" pitchFamily="34" charset="0"/>
              <a:buChar char="•"/>
            </a:pPr>
            <a:r>
              <a:rPr lang="en-US" sz="1600" dirty="0"/>
              <a:t>Accessibility: Access data and applications from anywhere via the Internet.</a:t>
            </a:r>
          </a:p>
          <a:p>
            <a:pPr>
              <a:buFont typeface="Wingdings" panose="05000000000000000000" pitchFamily="2" charset="2"/>
              <a:buChar char="Ø"/>
            </a:pPr>
            <a:r>
              <a:rPr lang="en-US" sz="1600" b="1" u="sng" dirty="0"/>
              <a:t>Examples:-</a:t>
            </a:r>
          </a:p>
          <a:p>
            <a:pPr>
              <a:buFont typeface="Arial" panose="020B0604020202020204" pitchFamily="34" charset="0"/>
              <a:buChar char="•"/>
            </a:pPr>
            <a:r>
              <a:rPr lang="en-US" sz="1600" dirty="0"/>
              <a:t>Google Drive – Cloud storage for files and documents</a:t>
            </a:r>
          </a:p>
          <a:p>
            <a:pPr>
              <a:buFont typeface="Arial" panose="020B0604020202020204" pitchFamily="34" charset="0"/>
              <a:buChar char="•"/>
            </a:pPr>
            <a:r>
              <a:rPr lang="en-US" sz="1600" dirty="0"/>
              <a:t>Dropbox – Online file storage and sharing</a:t>
            </a:r>
          </a:p>
          <a:p>
            <a:pPr>
              <a:buFont typeface="Arial" panose="020B0604020202020204" pitchFamily="34" charset="0"/>
              <a:buChar char="•"/>
            </a:pPr>
            <a:r>
              <a:rPr lang="en-US" sz="1600" dirty="0"/>
              <a:t>AWS (Amazon Web Services) – Cloud services for hosting websites, apps, and databases</a:t>
            </a:r>
          </a:p>
        </p:txBody>
      </p:sp>
    </p:spTree>
    <p:extLst>
      <p:ext uri="{BB962C8B-B14F-4D97-AF65-F5344CB8AC3E}">
        <p14:creationId xmlns:p14="http://schemas.microsoft.com/office/powerpoint/2010/main" val="2622292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FA53-A586-F0EF-6D73-0243C1603B49}"/>
              </a:ext>
            </a:extLst>
          </p:cNvPr>
          <p:cNvSpPr>
            <a:spLocks noGrp="1"/>
          </p:cNvSpPr>
          <p:nvPr>
            <p:ph type="title"/>
          </p:nvPr>
        </p:nvSpPr>
        <p:spPr>
          <a:xfrm>
            <a:off x="1295402" y="1362808"/>
            <a:ext cx="9601196" cy="923191"/>
          </a:xfrm>
        </p:spPr>
        <p:txBody>
          <a:bodyPr/>
          <a:lstStyle/>
          <a:p>
            <a:r>
              <a:rPr lang="en-IN" b="1" dirty="0"/>
              <a:t>Types of Cloud Computing</a:t>
            </a:r>
          </a:p>
        </p:txBody>
      </p:sp>
      <p:sp>
        <p:nvSpPr>
          <p:cNvPr id="3" name="Content Placeholder 2">
            <a:extLst>
              <a:ext uri="{FF2B5EF4-FFF2-40B4-BE49-F238E27FC236}">
                <a16:creationId xmlns:a16="http://schemas.microsoft.com/office/drawing/2014/main" id="{FC3091EB-9B18-5535-3F55-9468D01535C4}"/>
              </a:ext>
            </a:extLst>
          </p:cNvPr>
          <p:cNvSpPr>
            <a:spLocks noGrp="1"/>
          </p:cNvSpPr>
          <p:nvPr>
            <p:ph idx="1"/>
          </p:nvPr>
        </p:nvSpPr>
        <p:spPr>
          <a:xfrm>
            <a:off x="1295401" y="2382714"/>
            <a:ext cx="9601196" cy="4026877"/>
          </a:xfrm>
        </p:spPr>
        <p:txBody>
          <a:bodyPr>
            <a:normAutofit fontScale="92500" lnSpcReduction="10000"/>
          </a:bodyPr>
          <a:lstStyle/>
          <a:p>
            <a:pPr>
              <a:buFont typeface="Wingdings" panose="05000000000000000000" pitchFamily="2" charset="2"/>
              <a:buChar char="q"/>
            </a:pPr>
            <a:r>
              <a:rPr lang="en-US" sz="1600" b="1" u="sng" dirty="0"/>
              <a:t>Public Cloud:-</a:t>
            </a:r>
          </a:p>
          <a:p>
            <a:pPr marL="0" indent="0">
              <a:buNone/>
            </a:pPr>
            <a:r>
              <a:rPr lang="en-US" sz="1600" dirty="0"/>
              <a:t>      Services are provided over the Internet by third-party providers and resources are shared among multiple users.</a:t>
            </a:r>
          </a:p>
          <a:p>
            <a:pPr>
              <a:buFont typeface="Wingdings" panose="05000000000000000000" pitchFamily="2" charset="2"/>
              <a:buChar char="ü"/>
            </a:pPr>
            <a:r>
              <a:rPr lang="en-US" sz="1600" b="1" dirty="0"/>
              <a:t>Example:</a:t>
            </a:r>
            <a:r>
              <a:rPr lang="en-US" sz="1600" dirty="0"/>
              <a:t> Google Drive, Dropbox, Amazon Web Services (AWS).</a:t>
            </a:r>
          </a:p>
          <a:p>
            <a:pPr>
              <a:buFont typeface="Wingdings" panose="05000000000000000000" pitchFamily="2" charset="2"/>
              <a:buChar char="q"/>
            </a:pPr>
            <a:r>
              <a:rPr lang="en-US" sz="1600" b="1" u="sng" dirty="0"/>
              <a:t>Private Cloud:-</a:t>
            </a:r>
          </a:p>
          <a:p>
            <a:pPr marL="0" indent="0">
              <a:buNone/>
            </a:pPr>
            <a:r>
              <a:rPr lang="en-US" sz="1600" dirty="0"/>
              <a:t>      Cloud infrastructure is used exclusively by a single organization and offers more control and security.</a:t>
            </a:r>
          </a:p>
          <a:p>
            <a:pPr>
              <a:buFont typeface="Wingdings" panose="05000000000000000000" pitchFamily="2" charset="2"/>
              <a:buChar char="ü"/>
            </a:pPr>
            <a:r>
              <a:rPr lang="en-US" sz="1600" b="1" dirty="0"/>
              <a:t>Example:</a:t>
            </a:r>
            <a:r>
              <a:rPr lang="en-US" sz="1600" dirty="0"/>
              <a:t> A company hosting its own private cloud for internal use.</a:t>
            </a:r>
          </a:p>
          <a:p>
            <a:pPr>
              <a:buFont typeface="Wingdings" panose="05000000000000000000" pitchFamily="2" charset="2"/>
              <a:buChar char="q"/>
            </a:pPr>
            <a:r>
              <a:rPr lang="en-US" sz="1600" b="1" u="sng" dirty="0"/>
              <a:t>Hybrid Cloud:-</a:t>
            </a:r>
          </a:p>
          <a:p>
            <a:pPr marL="0" indent="0">
              <a:buNone/>
            </a:pPr>
            <a:r>
              <a:rPr lang="en-US" sz="1600" dirty="0"/>
              <a:t>      Combines public and private clouds and Sensitive data can be stored privately, while other services use the public cloud.</a:t>
            </a:r>
          </a:p>
          <a:p>
            <a:pPr>
              <a:buFont typeface="Wingdings" panose="05000000000000000000" pitchFamily="2" charset="2"/>
              <a:buChar char="ü"/>
            </a:pPr>
            <a:r>
              <a:rPr lang="en-US" sz="1600" b="1" dirty="0"/>
              <a:t>Example:</a:t>
            </a:r>
            <a:r>
              <a:rPr lang="en-US" sz="1600" dirty="0"/>
              <a:t> A business storing confidential data in a private cloud and using public cloud for collaboration.</a:t>
            </a:r>
          </a:p>
          <a:p>
            <a:pPr>
              <a:buFont typeface="Wingdings" panose="05000000000000000000" pitchFamily="2" charset="2"/>
              <a:buChar char="q"/>
            </a:pPr>
            <a:r>
              <a:rPr lang="en-US" sz="1600" b="1" u="sng" dirty="0"/>
              <a:t>Community Cloud:-</a:t>
            </a:r>
          </a:p>
          <a:p>
            <a:pPr marL="0" indent="0">
              <a:buNone/>
            </a:pPr>
            <a:r>
              <a:rPr lang="en-US" sz="1600" dirty="0"/>
              <a:t>      Shared by several organizations with common concerns ( security, compliance).</a:t>
            </a:r>
          </a:p>
          <a:p>
            <a:pPr>
              <a:buFont typeface="Wingdings" panose="05000000000000000000" pitchFamily="2" charset="2"/>
              <a:buChar char="ü"/>
            </a:pPr>
            <a:r>
              <a:rPr lang="en-US" sz="1600" b="1" dirty="0"/>
              <a:t>Example:</a:t>
            </a:r>
            <a:r>
              <a:rPr lang="en-US" sz="1600" dirty="0"/>
              <a:t> Cloud infrastructure shared among government agencies or universities.</a:t>
            </a:r>
          </a:p>
          <a:p>
            <a:endParaRPr lang="en-IN" sz="1600" dirty="0"/>
          </a:p>
        </p:txBody>
      </p:sp>
    </p:spTree>
    <p:extLst>
      <p:ext uri="{BB962C8B-B14F-4D97-AF65-F5344CB8AC3E}">
        <p14:creationId xmlns:p14="http://schemas.microsoft.com/office/powerpoint/2010/main" val="1075812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EF7F-CCA9-4516-53FA-42D1E632E305}"/>
              </a:ext>
            </a:extLst>
          </p:cNvPr>
          <p:cNvSpPr>
            <a:spLocks noGrp="1"/>
          </p:cNvSpPr>
          <p:nvPr>
            <p:ph type="title"/>
          </p:nvPr>
        </p:nvSpPr>
        <p:spPr>
          <a:xfrm>
            <a:off x="1295402" y="1441938"/>
            <a:ext cx="9601196" cy="844061"/>
          </a:xfrm>
        </p:spPr>
        <p:txBody>
          <a:bodyPr/>
          <a:lstStyle/>
          <a:p>
            <a:r>
              <a:rPr lang="en-IN" b="1" dirty="0"/>
              <a:t>Model of Cloud Computing</a:t>
            </a:r>
            <a:endParaRPr lang="en-IN" dirty="0"/>
          </a:p>
        </p:txBody>
      </p:sp>
      <p:sp>
        <p:nvSpPr>
          <p:cNvPr id="3" name="Content Placeholder 2">
            <a:extLst>
              <a:ext uri="{FF2B5EF4-FFF2-40B4-BE49-F238E27FC236}">
                <a16:creationId xmlns:a16="http://schemas.microsoft.com/office/drawing/2014/main" id="{08A7C69F-2BF8-5AB3-B4BF-DB5D80532F12}"/>
              </a:ext>
            </a:extLst>
          </p:cNvPr>
          <p:cNvSpPr>
            <a:spLocks noGrp="1"/>
          </p:cNvSpPr>
          <p:nvPr>
            <p:ph idx="1"/>
          </p:nvPr>
        </p:nvSpPr>
        <p:spPr>
          <a:xfrm>
            <a:off x="1295401" y="2365132"/>
            <a:ext cx="9601196" cy="3930160"/>
          </a:xfrm>
        </p:spPr>
        <p:txBody>
          <a:bodyPr>
            <a:noAutofit/>
          </a:bodyPr>
          <a:lstStyle/>
          <a:p>
            <a:pPr>
              <a:buFont typeface="Wingdings" panose="05000000000000000000" pitchFamily="2" charset="2"/>
              <a:buChar char="q"/>
            </a:pPr>
            <a:r>
              <a:rPr lang="en-US" sz="1400" b="1" u="sng" dirty="0"/>
              <a:t>IaaS (Infrastructure as a Service):-</a:t>
            </a:r>
          </a:p>
          <a:p>
            <a:pPr marL="0" indent="0">
              <a:buNone/>
            </a:pPr>
            <a:r>
              <a:rPr lang="en-US" sz="1400" dirty="0"/>
              <a:t>Provides virtualized computing resources like servers, storage, and networking over the Internet. Users manage operating systems, applications, and data while the provider manages hardware.</a:t>
            </a:r>
          </a:p>
          <a:p>
            <a:pPr>
              <a:buFont typeface="Wingdings" panose="05000000000000000000" pitchFamily="2" charset="2"/>
              <a:buChar char="ü"/>
            </a:pPr>
            <a:r>
              <a:rPr lang="en-US" sz="1400" b="1" dirty="0"/>
              <a:t>Example:</a:t>
            </a:r>
            <a:r>
              <a:rPr lang="en-US" sz="1400" dirty="0"/>
              <a:t> Amazon Web Services (AWS), Microsoft Azure</a:t>
            </a:r>
          </a:p>
          <a:p>
            <a:pPr>
              <a:buFont typeface="Wingdings" panose="05000000000000000000" pitchFamily="2" charset="2"/>
              <a:buChar char="q"/>
            </a:pPr>
            <a:r>
              <a:rPr lang="en-US" sz="1400" b="1" u="sng" dirty="0"/>
              <a:t>PaaS (Platform as a Service):-</a:t>
            </a:r>
          </a:p>
          <a:p>
            <a:pPr marL="0" indent="0">
              <a:buNone/>
            </a:pPr>
            <a:r>
              <a:rPr lang="en-US" sz="1400" dirty="0"/>
              <a:t>Provides a platform with tools and environment to develop, test, and deploy applications. Users focus on developing applications while the provider manages servers, storage, and networking.</a:t>
            </a:r>
          </a:p>
          <a:p>
            <a:pPr>
              <a:buFont typeface="Wingdings" panose="05000000000000000000" pitchFamily="2" charset="2"/>
              <a:buChar char="ü"/>
            </a:pPr>
            <a:r>
              <a:rPr lang="en-US" sz="1400" b="1" dirty="0"/>
              <a:t>Example:</a:t>
            </a:r>
            <a:r>
              <a:rPr lang="en-US" sz="1400" dirty="0"/>
              <a:t> Google App Engine, Heroku</a:t>
            </a:r>
          </a:p>
          <a:p>
            <a:pPr>
              <a:buFont typeface="Wingdings" panose="05000000000000000000" pitchFamily="2" charset="2"/>
              <a:buChar char="q"/>
            </a:pPr>
            <a:r>
              <a:rPr lang="en-IN" sz="1400" b="1" u="sng" dirty="0"/>
              <a:t>SaaS (Software as a Service):-</a:t>
            </a:r>
          </a:p>
          <a:p>
            <a:pPr marL="0" indent="0">
              <a:buNone/>
            </a:pPr>
            <a:r>
              <a:rPr lang="en-IN" sz="1400" dirty="0"/>
              <a:t>Delivers software applications over the Internet, accessible via web browsers. Provider manages everything—hardware, software, and updates.</a:t>
            </a:r>
          </a:p>
          <a:p>
            <a:pPr>
              <a:buFont typeface="Wingdings" panose="05000000000000000000" pitchFamily="2" charset="2"/>
              <a:buChar char="ü"/>
            </a:pPr>
            <a:r>
              <a:rPr lang="en-IN" sz="1400" b="1" dirty="0"/>
              <a:t>Example:</a:t>
            </a:r>
            <a:r>
              <a:rPr lang="en-IN" sz="1400" dirty="0"/>
              <a:t> Google Workspace, Microsoft 365, Zoom</a:t>
            </a:r>
          </a:p>
          <a:p>
            <a:endParaRPr lang="en-IN" sz="1400" dirty="0"/>
          </a:p>
        </p:txBody>
      </p:sp>
    </p:spTree>
    <p:extLst>
      <p:ext uri="{BB962C8B-B14F-4D97-AF65-F5344CB8AC3E}">
        <p14:creationId xmlns:p14="http://schemas.microsoft.com/office/powerpoint/2010/main" val="2034925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7BE7-7E1B-413A-B092-964E63ED6C65}"/>
              </a:ext>
            </a:extLst>
          </p:cNvPr>
          <p:cNvSpPr>
            <a:spLocks noGrp="1"/>
          </p:cNvSpPr>
          <p:nvPr>
            <p:ph type="title"/>
          </p:nvPr>
        </p:nvSpPr>
        <p:spPr>
          <a:xfrm>
            <a:off x="1295402" y="1239715"/>
            <a:ext cx="9601196" cy="1046284"/>
          </a:xfrm>
        </p:spPr>
        <p:txBody>
          <a:bodyPr/>
          <a:lstStyle/>
          <a:p>
            <a:r>
              <a:rPr lang="en-IN" b="1" dirty="0">
                <a:solidFill>
                  <a:schemeClr val="tx1"/>
                </a:solidFill>
              </a:rPr>
              <a:t>Emerging IT Technologies</a:t>
            </a:r>
          </a:p>
        </p:txBody>
      </p:sp>
      <p:sp>
        <p:nvSpPr>
          <p:cNvPr id="3" name="Content Placeholder 2">
            <a:extLst>
              <a:ext uri="{FF2B5EF4-FFF2-40B4-BE49-F238E27FC236}">
                <a16:creationId xmlns:a16="http://schemas.microsoft.com/office/drawing/2014/main" id="{58082AE7-35F2-087D-EAB0-CBFABA026697}"/>
              </a:ext>
            </a:extLst>
          </p:cNvPr>
          <p:cNvSpPr>
            <a:spLocks noGrp="1"/>
          </p:cNvSpPr>
          <p:nvPr>
            <p:ph idx="1"/>
          </p:nvPr>
        </p:nvSpPr>
        <p:spPr>
          <a:xfrm>
            <a:off x="1295402" y="2372049"/>
            <a:ext cx="9601196" cy="3962400"/>
          </a:xfrm>
        </p:spPr>
        <p:txBody>
          <a:bodyPr>
            <a:normAutofit fontScale="92500" lnSpcReduction="10000"/>
          </a:bodyPr>
          <a:lstStyle/>
          <a:p>
            <a:pPr>
              <a:buFont typeface="Wingdings" panose="05000000000000000000" pitchFamily="2" charset="2"/>
              <a:buChar char="Ø"/>
            </a:pPr>
            <a:r>
              <a:rPr lang="en-US" sz="1600" b="1" u="sng" dirty="0"/>
              <a:t>Artificial Intelligence (AI):-</a:t>
            </a:r>
          </a:p>
          <a:p>
            <a:r>
              <a:rPr lang="en-US" sz="1600" dirty="0"/>
              <a:t>Machines or software simulating human intelligence to perform tasks like learning, reasoning, and problem-solving.</a:t>
            </a:r>
          </a:p>
          <a:p>
            <a:r>
              <a:rPr lang="en-US" sz="1600" dirty="0"/>
              <a:t>Example</a:t>
            </a:r>
            <a:r>
              <a:rPr lang="en-US" sz="1600" b="1" dirty="0"/>
              <a:t>:</a:t>
            </a:r>
            <a:r>
              <a:rPr lang="en-US" sz="1600" dirty="0"/>
              <a:t> Chatbots, self-driving cars</a:t>
            </a:r>
          </a:p>
          <a:p>
            <a:pPr>
              <a:buFont typeface="Wingdings" panose="05000000000000000000" pitchFamily="2" charset="2"/>
              <a:buChar char="Ø"/>
            </a:pPr>
            <a:r>
              <a:rPr lang="en-US" sz="1600" b="1" u="sng" dirty="0"/>
              <a:t> Internet of Things (IoT):-</a:t>
            </a:r>
          </a:p>
          <a:p>
            <a:r>
              <a:rPr lang="en-US" sz="1600" dirty="0"/>
              <a:t>Connecting everyday devices to the Internet to collect and share data.</a:t>
            </a:r>
          </a:p>
          <a:p>
            <a:r>
              <a:rPr lang="en-US" sz="1600" dirty="0"/>
              <a:t>Example</a:t>
            </a:r>
            <a:r>
              <a:rPr lang="en-US" sz="1600" b="1" dirty="0"/>
              <a:t>:</a:t>
            </a:r>
            <a:r>
              <a:rPr lang="en-US" sz="1600" dirty="0"/>
              <a:t> Smart home devices, wearable fitness trackers</a:t>
            </a:r>
          </a:p>
          <a:p>
            <a:pPr>
              <a:buFont typeface="Wingdings" panose="05000000000000000000" pitchFamily="2" charset="2"/>
              <a:buChar char="Ø"/>
            </a:pPr>
            <a:r>
              <a:rPr lang="en-US" sz="1600" b="1" u="sng" dirty="0"/>
              <a:t>Blockchain Technology:-</a:t>
            </a:r>
          </a:p>
          <a:p>
            <a:r>
              <a:rPr lang="en-US" sz="1600" dirty="0"/>
              <a:t>A secure, decentralized digital ledger for recording transactions.</a:t>
            </a:r>
          </a:p>
          <a:p>
            <a:r>
              <a:rPr lang="en-US" sz="1600" dirty="0"/>
              <a:t>Example</a:t>
            </a:r>
            <a:r>
              <a:rPr lang="en-US" sz="1600" b="1" dirty="0"/>
              <a:t>:</a:t>
            </a:r>
            <a:r>
              <a:rPr lang="en-US" sz="1600" dirty="0"/>
              <a:t> Cryptocurrencies like Bitcoin, supply chain tracking</a:t>
            </a:r>
          </a:p>
          <a:p>
            <a:pPr>
              <a:buFont typeface="Wingdings" panose="05000000000000000000" pitchFamily="2" charset="2"/>
              <a:buChar char="Ø"/>
            </a:pPr>
            <a:r>
              <a:rPr lang="en-US" sz="1600" b="1" u="sng" dirty="0"/>
              <a:t> Virtual Reality (VR) &amp; Augmented Reality (AR):-</a:t>
            </a:r>
          </a:p>
          <a:p>
            <a:r>
              <a:rPr lang="en-US" sz="1600" dirty="0"/>
              <a:t>VR creates immersive digital environments; AR overlays digital information on the real world.</a:t>
            </a:r>
          </a:p>
          <a:p>
            <a:r>
              <a:rPr lang="en-US" sz="1600" dirty="0"/>
              <a:t>Example</a:t>
            </a:r>
            <a:r>
              <a:rPr lang="en-US" sz="1600" b="1" dirty="0"/>
              <a:t>:</a:t>
            </a:r>
            <a:r>
              <a:rPr lang="en-US" sz="1600" dirty="0"/>
              <a:t> VR gaming, AR navigation apps</a:t>
            </a:r>
          </a:p>
        </p:txBody>
      </p:sp>
    </p:spTree>
    <p:extLst>
      <p:ext uri="{BB962C8B-B14F-4D97-AF65-F5344CB8AC3E}">
        <p14:creationId xmlns:p14="http://schemas.microsoft.com/office/powerpoint/2010/main" val="1500726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053DF-AE92-9F55-B0E9-D51B0DA1817F}"/>
              </a:ext>
            </a:extLst>
          </p:cNvPr>
          <p:cNvSpPr>
            <a:spLocks noGrp="1"/>
          </p:cNvSpPr>
          <p:nvPr>
            <p:ph type="title"/>
          </p:nvPr>
        </p:nvSpPr>
        <p:spPr>
          <a:xfrm>
            <a:off x="1295402" y="1292469"/>
            <a:ext cx="9601196" cy="993530"/>
          </a:xfrm>
        </p:spPr>
        <p:txBody>
          <a:bodyPr/>
          <a:lstStyle/>
          <a:p>
            <a:r>
              <a:rPr lang="en-US" b="1" dirty="0">
                <a:solidFill>
                  <a:schemeClr val="tx1"/>
                </a:solidFill>
              </a:rPr>
              <a:t>Applications of IT in Business</a:t>
            </a:r>
            <a:endParaRPr lang="en-IN" dirty="0"/>
          </a:p>
        </p:txBody>
      </p:sp>
      <p:sp>
        <p:nvSpPr>
          <p:cNvPr id="4" name="Rectangle 1">
            <a:extLst>
              <a:ext uri="{FF2B5EF4-FFF2-40B4-BE49-F238E27FC236}">
                <a16:creationId xmlns:a16="http://schemas.microsoft.com/office/drawing/2014/main" id="{2BC3ACBF-F01E-8571-5F6F-E47279C09732}"/>
              </a:ext>
            </a:extLst>
          </p:cNvPr>
          <p:cNvSpPr>
            <a:spLocks noGrp="1" noChangeArrowheads="1"/>
          </p:cNvSpPr>
          <p:nvPr>
            <p:ph idx="1"/>
          </p:nvPr>
        </p:nvSpPr>
        <p:spPr bwMode="auto">
          <a:xfrm>
            <a:off x="1037493" y="2506821"/>
            <a:ext cx="10163907" cy="227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E-Commerce</a:t>
            </a:r>
            <a:r>
              <a:rPr kumimoji="0" lang="en-US" altLang="en-US" sz="1600" i="0" u="none" strike="noStrike" cap="none" normalizeH="0" baseline="0" dirty="0">
                <a:ln>
                  <a:noFill/>
                </a:ln>
                <a:solidFill>
                  <a:schemeClr val="tx1"/>
                </a:solidFill>
                <a:effectLst/>
                <a:latin typeface="+mj-lt"/>
              </a:rPr>
              <a:t>: Buying and selling products/services online (e.g., Amazon).</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Customer Relationship Management (CRM): </a:t>
            </a:r>
            <a:r>
              <a:rPr kumimoji="0" lang="en-US" altLang="en-US" sz="1600" i="0" u="none" strike="noStrike" cap="none" normalizeH="0" baseline="0" dirty="0">
                <a:ln>
                  <a:noFill/>
                </a:ln>
                <a:solidFill>
                  <a:schemeClr val="tx1"/>
                </a:solidFill>
                <a:effectLst/>
                <a:latin typeface="+mj-lt"/>
              </a:rPr>
              <a:t>Managing customer data and support (e.g., Salesforce).</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Enterprise Resource Planning (ERP): </a:t>
            </a:r>
            <a:r>
              <a:rPr kumimoji="0" lang="en-US" altLang="en-US" sz="1600" i="0" u="none" strike="noStrike" cap="none" normalizeH="0" baseline="0" dirty="0">
                <a:ln>
                  <a:noFill/>
                </a:ln>
                <a:solidFill>
                  <a:schemeClr val="tx1"/>
                </a:solidFill>
                <a:effectLst/>
                <a:latin typeface="+mj-lt"/>
              </a:rPr>
              <a:t>Integrating business processes like finance, HR, and inventory (e.g., SAP).</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Online Banking &amp; Financial Services: </a:t>
            </a:r>
            <a:r>
              <a:rPr kumimoji="0" lang="en-US" altLang="en-US" sz="1600" i="0" u="none" strike="noStrike" cap="none" normalizeH="0" baseline="0" dirty="0">
                <a:ln>
                  <a:noFill/>
                </a:ln>
                <a:solidFill>
                  <a:schemeClr val="tx1"/>
                </a:solidFill>
                <a:effectLst/>
                <a:latin typeface="+mj-lt"/>
              </a:rPr>
              <a:t>Managing financial transactions digitally (e.g., PayPal, mobile banking apps).</a:t>
            </a:r>
          </a:p>
          <a:p>
            <a:pPr defTabSz="914400" eaLnBrk="0" fontAlgn="base" hangingPunct="0">
              <a:lnSpc>
                <a:spcPct val="150000"/>
              </a:lnSpc>
              <a:spcBef>
                <a:spcPct val="0"/>
              </a:spcBef>
              <a:spcAft>
                <a:spcPct val="0"/>
              </a:spcAft>
              <a:buSzTx/>
              <a:buFont typeface="Wingdings" panose="05000000000000000000" pitchFamily="2" charset="2"/>
              <a:buChar char="Ø"/>
            </a:pPr>
            <a:r>
              <a:rPr kumimoji="0" lang="en-US" altLang="en-US" sz="1600" b="1" i="0" u="none" strike="noStrike" cap="none" normalizeH="0" baseline="0" dirty="0">
                <a:ln>
                  <a:noFill/>
                </a:ln>
                <a:solidFill>
                  <a:schemeClr val="tx1"/>
                </a:solidFill>
                <a:effectLst/>
                <a:latin typeface="+mj-lt"/>
              </a:rPr>
              <a:t>Data Analysis &amp; Decision Making: </a:t>
            </a:r>
            <a:r>
              <a:rPr kumimoji="0" lang="en-US" altLang="en-US" sz="1600" i="0" u="none" strike="noStrike" cap="none" normalizeH="0" baseline="0" dirty="0">
                <a:ln>
                  <a:noFill/>
                </a:ln>
                <a:solidFill>
                  <a:schemeClr val="tx1"/>
                </a:solidFill>
                <a:effectLst/>
                <a:latin typeface="+mj-lt"/>
              </a:rPr>
              <a:t>Using IT tools to analyze data and make informed business decisions (e.g., Tableau, Power BI).</a:t>
            </a:r>
          </a:p>
        </p:txBody>
      </p:sp>
    </p:spTree>
    <p:extLst>
      <p:ext uri="{BB962C8B-B14F-4D97-AF65-F5344CB8AC3E}">
        <p14:creationId xmlns:p14="http://schemas.microsoft.com/office/powerpoint/2010/main" val="275941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90A6-A62E-D30E-AD57-DEE0BEC6F188}"/>
              </a:ext>
            </a:extLst>
          </p:cNvPr>
          <p:cNvSpPr>
            <a:spLocks noGrp="1"/>
          </p:cNvSpPr>
          <p:nvPr>
            <p:ph type="title"/>
          </p:nvPr>
        </p:nvSpPr>
        <p:spPr>
          <a:xfrm>
            <a:off x="1295402" y="1274885"/>
            <a:ext cx="9601196" cy="1028699"/>
          </a:xfrm>
        </p:spPr>
        <p:txBody>
          <a:bodyPr/>
          <a:lstStyle/>
          <a:p>
            <a:r>
              <a:rPr lang="en-US" b="1" dirty="0">
                <a:solidFill>
                  <a:schemeClr val="tx1"/>
                </a:solidFill>
              </a:rPr>
              <a:t>IT in Education and Society</a:t>
            </a:r>
            <a:endParaRPr lang="en-IN" b="1" dirty="0">
              <a:solidFill>
                <a:schemeClr val="tx1"/>
              </a:solidFill>
            </a:endParaRPr>
          </a:p>
        </p:txBody>
      </p:sp>
      <p:sp>
        <p:nvSpPr>
          <p:cNvPr id="5" name="Rectangle 2">
            <a:extLst>
              <a:ext uri="{FF2B5EF4-FFF2-40B4-BE49-F238E27FC236}">
                <a16:creationId xmlns:a16="http://schemas.microsoft.com/office/drawing/2014/main" id="{0CF905EE-8FB4-59A0-FC35-E89C904A0209}"/>
              </a:ext>
            </a:extLst>
          </p:cNvPr>
          <p:cNvSpPr>
            <a:spLocks noGrp="1" noChangeArrowheads="1"/>
          </p:cNvSpPr>
          <p:nvPr>
            <p:ph idx="1"/>
          </p:nvPr>
        </p:nvSpPr>
        <p:spPr bwMode="auto">
          <a:xfrm>
            <a:off x="1225060" y="2476880"/>
            <a:ext cx="10002715" cy="1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mj-lt"/>
              </a:rPr>
              <a:t>Improves Communication:</a:t>
            </a:r>
            <a:r>
              <a:rPr kumimoji="0" lang="en-US" altLang="en-US" sz="1600" b="0" i="0" u="none" strike="noStrike" cap="none" normalizeH="0" baseline="0" dirty="0">
                <a:ln>
                  <a:noFill/>
                </a:ln>
                <a:solidFill>
                  <a:schemeClr val="tx1"/>
                </a:solidFill>
                <a:effectLst/>
                <a:latin typeface="+mj-lt"/>
              </a:rPr>
              <a:t> Enables instant communication through emails, social media, and messaging apps.</a:t>
            </a: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mj-lt"/>
              </a:rPr>
              <a:t>Access to Information:</a:t>
            </a:r>
            <a:r>
              <a:rPr kumimoji="0" lang="en-US" altLang="en-US" sz="1600" b="0" i="0" u="none" strike="noStrike" cap="none" normalizeH="0" baseline="0" dirty="0">
                <a:ln>
                  <a:noFill/>
                </a:ln>
                <a:solidFill>
                  <a:schemeClr val="tx1"/>
                </a:solidFill>
                <a:effectLst/>
                <a:latin typeface="+mj-lt"/>
              </a:rPr>
              <a:t> Provides easy access to knowledge, e-books, research, and online resources.</a:t>
            </a: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mj-lt"/>
              </a:rPr>
              <a:t>Enhances Services:</a:t>
            </a:r>
            <a:r>
              <a:rPr kumimoji="0" lang="en-US" altLang="en-US" sz="1600" b="0" i="0" u="none" strike="noStrike" cap="none" normalizeH="0" baseline="0" dirty="0">
                <a:ln>
                  <a:noFill/>
                </a:ln>
                <a:solidFill>
                  <a:schemeClr val="tx1"/>
                </a:solidFill>
                <a:effectLst/>
                <a:latin typeface="+mj-lt"/>
              </a:rPr>
              <a:t> Improves efficiency in education, healthcare, banking, and government services.</a:t>
            </a: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mj-lt"/>
              </a:rPr>
              <a:t>Supports Learning &amp; Collaboration:</a:t>
            </a:r>
            <a:r>
              <a:rPr kumimoji="0" lang="en-US" altLang="en-US" sz="1600" b="0" i="0" u="none" strike="noStrike" cap="none" normalizeH="0" baseline="0" dirty="0">
                <a:ln>
                  <a:noFill/>
                </a:ln>
                <a:solidFill>
                  <a:schemeClr val="tx1"/>
                </a:solidFill>
                <a:effectLst/>
                <a:latin typeface="+mj-lt"/>
              </a:rPr>
              <a:t> Facilitates online learning, virtual classrooms, and collaborative work.</a:t>
            </a: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mj-lt"/>
              </a:rPr>
              <a:t>Saves Time and Effort:</a:t>
            </a:r>
            <a:r>
              <a:rPr kumimoji="0" lang="en-US" altLang="en-US" sz="1600" b="0" i="0" u="none" strike="noStrike" cap="none" normalizeH="0" baseline="0" dirty="0">
                <a:ln>
                  <a:noFill/>
                </a:ln>
                <a:solidFill>
                  <a:schemeClr val="tx1"/>
                </a:solidFill>
                <a:effectLst/>
                <a:latin typeface="+mj-lt"/>
              </a:rPr>
              <a:t> Automates processes and makes tasks faster and more convenient.</a:t>
            </a:r>
          </a:p>
        </p:txBody>
      </p:sp>
    </p:spTree>
    <p:extLst>
      <p:ext uri="{BB962C8B-B14F-4D97-AF65-F5344CB8AC3E}">
        <p14:creationId xmlns:p14="http://schemas.microsoft.com/office/powerpoint/2010/main" val="1852200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F683E-9251-B5A9-81AF-10D27617D599}"/>
              </a:ext>
            </a:extLst>
          </p:cNvPr>
          <p:cNvSpPr>
            <a:spLocks noGrp="1"/>
          </p:cNvSpPr>
          <p:nvPr>
            <p:ph type="title"/>
          </p:nvPr>
        </p:nvSpPr>
        <p:spPr>
          <a:xfrm>
            <a:off x="1295402" y="1820008"/>
            <a:ext cx="9601196" cy="465991"/>
          </a:xfrm>
        </p:spPr>
        <p:txBody>
          <a:bodyPr>
            <a:normAutofit fontScale="90000"/>
          </a:bodyPr>
          <a:lstStyle/>
          <a:p>
            <a:r>
              <a:rPr lang="en-US" b="1" dirty="0">
                <a:solidFill>
                  <a:schemeClr val="tx1"/>
                </a:solidFill>
              </a:rPr>
              <a:t>The Role of Information Technology in Modern Business</a:t>
            </a:r>
            <a:br>
              <a:rPr lang="en-US" b="1" dirty="0"/>
            </a:br>
            <a:endParaRPr lang="en-IN" dirty="0"/>
          </a:p>
        </p:txBody>
      </p:sp>
      <p:sp>
        <p:nvSpPr>
          <p:cNvPr id="3" name="Content Placeholder 2">
            <a:extLst>
              <a:ext uri="{FF2B5EF4-FFF2-40B4-BE49-F238E27FC236}">
                <a16:creationId xmlns:a16="http://schemas.microsoft.com/office/drawing/2014/main" id="{3883C459-1C92-E76C-47A3-86E27CEDA244}"/>
              </a:ext>
            </a:extLst>
          </p:cNvPr>
          <p:cNvSpPr>
            <a:spLocks noGrp="1"/>
          </p:cNvSpPr>
          <p:nvPr>
            <p:ph idx="1"/>
          </p:nvPr>
        </p:nvSpPr>
        <p:spPr>
          <a:xfrm>
            <a:off x="1295402" y="2417883"/>
            <a:ext cx="9601196" cy="4026878"/>
          </a:xfrm>
        </p:spPr>
        <p:txBody>
          <a:bodyPr>
            <a:normAutofit fontScale="92500" lnSpcReduction="10000"/>
          </a:bodyPr>
          <a:lstStyle/>
          <a:p>
            <a:pPr>
              <a:buFont typeface="Wingdings" panose="05000000000000000000" pitchFamily="2" charset="2"/>
              <a:buChar char="Ø"/>
            </a:pPr>
            <a:r>
              <a:rPr lang="en-US" sz="1600" b="1" u="sng" dirty="0"/>
              <a:t> Improves Efficiency and Productivity:-</a:t>
            </a:r>
          </a:p>
          <a:p>
            <a:r>
              <a:rPr lang="en-US" sz="1600" dirty="0"/>
              <a:t>Automation and digital tools help businesses complete tasks quickly and accurately.</a:t>
            </a:r>
          </a:p>
          <a:p>
            <a:r>
              <a:rPr lang="en-US" sz="1600" b="1" dirty="0"/>
              <a:t>Example:</a:t>
            </a:r>
            <a:r>
              <a:rPr lang="en-US" sz="1600" dirty="0"/>
              <a:t> Automated billing systems, inventory management software, and workflow tools.</a:t>
            </a:r>
          </a:p>
          <a:p>
            <a:pPr>
              <a:buFont typeface="Wingdings" panose="05000000000000000000" pitchFamily="2" charset="2"/>
              <a:buChar char="Ø"/>
            </a:pPr>
            <a:r>
              <a:rPr lang="en-US" sz="1600" b="1" u="sng" dirty="0"/>
              <a:t> Facilitates Data Management and Analysis:-</a:t>
            </a:r>
          </a:p>
          <a:p>
            <a:r>
              <a:rPr lang="en-US" sz="1600" dirty="0"/>
              <a:t>IT allows businesses to collect, store, and analyze large volumes of data for decision-making.</a:t>
            </a:r>
          </a:p>
          <a:p>
            <a:r>
              <a:rPr lang="en-US" sz="1600" b="1" dirty="0"/>
              <a:t>Example:</a:t>
            </a:r>
            <a:r>
              <a:rPr lang="en-US" sz="1600" dirty="0"/>
              <a:t> Business intelligence tools like Tableau, Power BI, and CRM software.</a:t>
            </a:r>
          </a:p>
          <a:p>
            <a:pPr>
              <a:buFont typeface="Wingdings" panose="05000000000000000000" pitchFamily="2" charset="2"/>
              <a:buChar char="Ø"/>
            </a:pPr>
            <a:r>
              <a:rPr lang="en-US" sz="1600" b="1" u="sng" dirty="0"/>
              <a:t>Supports E-Commerce and Online Services:-</a:t>
            </a:r>
          </a:p>
          <a:p>
            <a:r>
              <a:rPr lang="en-US" sz="1600" dirty="0"/>
              <a:t>Enables businesses to reach customers online and offer products or services digitally.</a:t>
            </a:r>
          </a:p>
          <a:p>
            <a:r>
              <a:rPr lang="en-US" sz="1600" b="1" dirty="0"/>
              <a:t>Example:</a:t>
            </a:r>
            <a:r>
              <a:rPr lang="en-US" sz="1600" dirty="0"/>
              <a:t> Amazon, Flipkart, online banking, and digital payment systems.</a:t>
            </a:r>
          </a:p>
          <a:p>
            <a:pPr>
              <a:buFont typeface="Wingdings" panose="05000000000000000000" pitchFamily="2" charset="2"/>
              <a:buChar char="Ø"/>
            </a:pPr>
            <a:r>
              <a:rPr lang="en-US" sz="1600" b="1" u="sng" dirty="0"/>
              <a:t>Strengthens Security:-</a:t>
            </a:r>
          </a:p>
          <a:p>
            <a:r>
              <a:rPr lang="en-US" sz="1600" dirty="0"/>
              <a:t>IT helps protect business data and operations from cyber threats and unauthorized access.</a:t>
            </a:r>
          </a:p>
          <a:p>
            <a:r>
              <a:rPr lang="en-US" sz="1600" b="1" dirty="0"/>
              <a:t>Example:</a:t>
            </a:r>
            <a:r>
              <a:rPr lang="en-US" sz="1600" dirty="0"/>
              <a:t> Firewalls, encryption, antivirus software, and secure cloud storage.</a:t>
            </a:r>
          </a:p>
          <a:p>
            <a:pPr marL="0" indent="0">
              <a:buClr>
                <a:schemeClr val="tx1"/>
              </a:buClr>
              <a:buNone/>
            </a:pPr>
            <a:endParaRPr lang="en-IN" sz="1600" dirty="0">
              <a:solidFill>
                <a:schemeClr val="tx1"/>
              </a:solidFill>
            </a:endParaRPr>
          </a:p>
        </p:txBody>
      </p:sp>
    </p:spTree>
    <p:extLst>
      <p:ext uri="{BB962C8B-B14F-4D97-AF65-F5344CB8AC3E}">
        <p14:creationId xmlns:p14="http://schemas.microsoft.com/office/powerpoint/2010/main" val="3291457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76D1-D7F4-83C3-E02B-9F0D412F7F00}"/>
              </a:ext>
            </a:extLst>
          </p:cNvPr>
          <p:cNvSpPr>
            <a:spLocks noGrp="1"/>
          </p:cNvSpPr>
          <p:nvPr>
            <p:ph type="title"/>
          </p:nvPr>
        </p:nvSpPr>
        <p:spPr>
          <a:xfrm>
            <a:off x="1556564" y="1581224"/>
            <a:ext cx="9064543" cy="894735"/>
          </a:xfrm>
        </p:spPr>
        <p:txBody>
          <a:bodyPr>
            <a:normAutofit/>
          </a:bodyPr>
          <a:lstStyle/>
          <a:p>
            <a:r>
              <a:rPr lang="en-US" b="1" dirty="0">
                <a:solidFill>
                  <a:schemeClr val="tx1"/>
                </a:solidFill>
              </a:rPr>
              <a:t>Key roles of IT in Modern Business</a:t>
            </a:r>
            <a:endParaRPr lang="en-IN" dirty="0">
              <a:solidFill>
                <a:schemeClr val="tx1"/>
              </a:solidFill>
            </a:endParaRPr>
          </a:p>
        </p:txBody>
      </p:sp>
      <p:sp>
        <p:nvSpPr>
          <p:cNvPr id="4" name="Rectangle 1">
            <a:extLst>
              <a:ext uri="{FF2B5EF4-FFF2-40B4-BE49-F238E27FC236}">
                <a16:creationId xmlns:a16="http://schemas.microsoft.com/office/drawing/2014/main" id="{724D499D-C757-3E6B-BD08-C3A867B232B8}"/>
              </a:ext>
            </a:extLst>
          </p:cNvPr>
          <p:cNvSpPr>
            <a:spLocks noGrp="1" noChangeArrowheads="1"/>
          </p:cNvSpPr>
          <p:nvPr>
            <p:ph idx="1"/>
          </p:nvPr>
        </p:nvSpPr>
        <p:spPr bwMode="auto">
          <a:xfrm>
            <a:off x="1556564" y="2475959"/>
            <a:ext cx="8564396" cy="3012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mj-lt"/>
              </a:rPr>
              <a:t>Enhances Communication</a:t>
            </a:r>
            <a:r>
              <a:rPr kumimoji="0" lang="en-US" altLang="en-US" sz="1600" b="0" i="0" u="none" strike="noStrike" cap="none" normalizeH="0" baseline="0" dirty="0">
                <a:ln>
                  <a:noFill/>
                </a:ln>
                <a:solidFill>
                  <a:schemeClr val="tx1"/>
                </a:solidFill>
                <a:effectLst/>
                <a:latin typeface="+mj-lt"/>
              </a:rPr>
              <a:t> – Enables fast internal and external communication (emails, video calls).</a:t>
            </a:r>
          </a:p>
          <a:p>
            <a:pPr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Improves Efficiency</a:t>
            </a:r>
            <a:r>
              <a:rPr lang="en-US" altLang="en-US" sz="1600" dirty="0">
                <a:solidFill>
                  <a:schemeClr val="tx1"/>
                </a:solidFill>
              </a:rPr>
              <a:t> – Automates tasks and boosts productivity (inventory management systems).</a:t>
            </a:r>
          </a:p>
          <a:p>
            <a:pPr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Data Management &amp; Analysis</a:t>
            </a:r>
            <a:r>
              <a:rPr lang="en-US" altLang="en-US" sz="1600" dirty="0">
                <a:solidFill>
                  <a:schemeClr val="tx1"/>
                </a:solidFill>
              </a:rPr>
              <a:t> – Collects and analyzes data to support decision-making (BI tools).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Supports E-Commerce</a:t>
            </a:r>
            <a:r>
              <a:rPr lang="en-US" altLang="en-US" sz="1600" dirty="0">
                <a:solidFill>
                  <a:schemeClr val="tx1"/>
                </a:solidFill>
              </a:rPr>
              <a:t> – Enables online sales and digital services (Amazon, online banking).</a:t>
            </a:r>
          </a:p>
          <a:p>
            <a:pPr defTabSz="914400" eaLnBrk="0" fontAlgn="base" hangingPunct="0">
              <a:lnSpc>
                <a:spcPct val="150000"/>
              </a:lnSpc>
              <a:spcBef>
                <a:spcPct val="0"/>
              </a:spcBef>
              <a:spcAft>
                <a:spcPct val="0"/>
              </a:spcAft>
              <a:buSzTx/>
              <a:buFont typeface="Wingdings" panose="05000000000000000000" pitchFamily="2" charset="2"/>
              <a:buChar char="Ø"/>
            </a:pPr>
            <a:r>
              <a:rPr lang="en-US" sz="1600" b="1" dirty="0"/>
              <a:t>Strengthens Security</a:t>
            </a:r>
            <a:r>
              <a:rPr lang="en-US" sz="1600" dirty="0"/>
              <a:t> – Protects business data from cyber threats (firewalls, encryption).</a:t>
            </a: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50000"/>
              </a:lnSpc>
              <a:spcBef>
                <a:spcPct val="0"/>
              </a:spcBef>
              <a:spcAft>
                <a:spcPct val="0"/>
              </a:spcAft>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850370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CC4E-D784-F1EC-8106-3F415D281ACE}"/>
              </a:ext>
            </a:extLst>
          </p:cNvPr>
          <p:cNvSpPr>
            <a:spLocks noGrp="1"/>
          </p:cNvSpPr>
          <p:nvPr>
            <p:ph type="title"/>
          </p:nvPr>
        </p:nvSpPr>
        <p:spPr>
          <a:xfrm>
            <a:off x="1295402" y="1433146"/>
            <a:ext cx="9601196" cy="852853"/>
          </a:xfrm>
        </p:spPr>
        <p:txBody>
          <a:bodyPr/>
          <a:lstStyle/>
          <a:p>
            <a:r>
              <a:rPr lang="en-US" b="1" dirty="0">
                <a:solidFill>
                  <a:schemeClr val="tx1"/>
                </a:solidFill>
              </a:rPr>
              <a:t>Enterprise Resource Planning</a:t>
            </a:r>
            <a:endParaRPr lang="en-IN" b="1" dirty="0">
              <a:solidFill>
                <a:schemeClr val="tx1"/>
              </a:solidFill>
            </a:endParaRPr>
          </a:p>
        </p:txBody>
      </p:sp>
      <p:sp>
        <p:nvSpPr>
          <p:cNvPr id="3" name="Content Placeholder 2">
            <a:extLst>
              <a:ext uri="{FF2B5EF4-FFF2-40B4-BE49-F238E27FC236}">
                <a16:creationId xmlns:a16="http://schemas.microsoft.com/office/drawing/2014/main" id="{55E1130F-AC1F-51D6-049C-2BDE781F9842}"/>
              </a:ext>
            </a:extLst>
          </p:cNvPr>
          <p:cNvSpPr>
            <a:spLocks noGrp="1"/>
          </p:cNvSpPr>
          <p:nvPr>
            <p:ph idx="1"/>
          </p:nvPr>
        </p:nvSpPr>
        <p:spPr>
          <a:xfrm>
            <a:off x="1295401" y="2417885"/>
            <a:ext cx="9601196" cy="3736730"/>
          </a:xfrm>
        </p:spPr>
        <p:txBody>
          <a:bodyPr>
            <a:noAutofit/>
          </a:bodyPr>
          <a:lstStyle/>
          <a:p>
            <a:pPr>
              <a:buFont typeface="Wingdings" panose="05000000000000000000" pitchFamily="2" charset="2"/>
              <a:buChar char="q"/>
            </a:pPr>
            <a:r>
              <a:rPr lang="en-US" sz="1100" dirty="0"/>
              <a:t>ERP is a software system that integrates all the core business processes of an organization—such as finance, human resources, inventory, sales, and production—into a single unified system to improve efficiency and decision-making.</a:t>
            </a:r>
          </a:p>
          <a:p>
            <a:pPr>
              <a:buFont typeface="Wingdings" panose="05000000000000000000" pitchFamily="2" charset="2"/>
              <a:buChar char="Ø"/>
            </a:pPr>
            <a:r>
              <a:rPr lang="en-US" sz="1100" b="1" u="sng" dirty="0"/>
              <a:t>Key Features:-</a:t>
            </a:r>
          </a:p>
          <a:p>
            <a:pPr>
              <a:buFont typeface="Wingdings" panose="05000000000000000000" pitchFamily="2" charset="2"/>
              <a:buChar char="ü"/>
            </a:pPr>
            <a:r>
              <a:rPr lang="en-US" sz="1100" b="1" dirty="0"/>
              <a:t>Integration:</a:t>
            </a:r>
            <a:r>
              <a:rPr lang="en-US" sz="1100" dirty="0"/>
              <a:t> Combines all departments and functions into one system.</a:t>
            </a:r>
          </a:p>
          <a:p>
            <a:pPr>
              <a:buFont typeface="Wingdings" panose="05000000000000000000" pitchFamily="2" charset="2"/>
              <a:buChar char="ü"/>
            </a:pPr>
            <a:r>
              <a:rPr lang="en-US" sz="1100" b="1" dirty="0"/>
              <a:t>Automation:</a:t>
            </a:r>
            <a:r>
              <a:rPr lang="en-US" sz="1100" dirty="0"/>
              <a:t> Reduces manual work and errors.</a:t>
            </a:r>
          </a:p>
          <a:p>
            <a:pPr>
              <a:buFont typeface="Wingdings" panose="05000000000000000000" pitchFamily="2" charset="2"/>
              <a:buChar char="ü"/>
            </a:pPr>
            <a:r>
              <a:rPr lang="en-US" sz="1100" b="1" dirty="0"/>
              <a:t>Real-Time Data:</a:t>
            </a:r>
            <a:r>
              <a:rPr lang="en-US" sz="1100" dirty="0"/>
              <a:t> Provides up-to-date information for decision-making.</a:t>
            </a:r>
          </a:p>
          <a:p>
            <a:pPr>
              <a:buFont typeface="Wingdings" panose="05000000000000000000" pitchFamily="2" charset="2"/>
              <a:buChar char="ü"/>
            </a:pPr>
            <a:r>
              <a:rPr lang="en-US" sz="1100" b="1" dirty="0"/>
              <a:t>Scalability:</a:t>
            </a:r>
            <a:r>
              <a:rPr lang="en-US" sz="1100" dirty="0"/>
              <a:t> Can grow with the organization’s needs.</a:t>
            </a:r>
          </a:p>
          <a:p>
            <a:pPr>
              <a:buFont typeface="Wingdings" panose="05000000000000000000" pitchFamily="2" charset="2"/>
              <a:buChar char="Ø"/>
            </a:pPr>
            <a:r>
              <a:rPr lang="en-US" sz="1100" b="1" u="sng" dirty="0"/>
              <a:t>Examples:-</a:t>
            </a:r>
          </a:p>
          <a:p>
            <a:pPr marL="0" indent="0">
              <a:buNone/>
            </a:pPr>
            <a:r>
              <a:rPr lang="en-US" sz="1100" dirty="0"/>
              <a:t>          SAP,  Oracle ERP,  Microsoft Dynamics</a:t>
            </a:r>
          </a:p>
          <a:p>
            <a:pPr>
              <a:buFont typeface="Wingdings" panose="05000000000000000000" pitchFamily="2" charset="2"/>
              <a:buChar char="Ø"/>
            </a:pPr>
            <a:r>
              <a:rPr lang="en-US" sz="1100" b="1" u="sng" dirty="0"/>
              <a:t>Benefits:-</a:t>
            </a:r>
          </a:p>
          <a:p>
            <a:pPr>
              <a:buFont typeface="Wingdings" panose="05000000000000000000" pitchFamily="2" charset="2"/>
              <a:buChar char="ü"/>
            </a:pPr>
            <a:r>
              <a:rPr lang="en-US" sz="1100" dirty="0"/>
              <a:t>Streamlines business processes</a:t>
            </a:r>
          </a:p>
          <a:p>
            <a:pPr>
              <a:buFont typeface="Wingdings" panose="05000000000000000000" pitchFamily="2" charset="2"/>
              <a:buChar char="ü"/>
            </a:pPr>
            <a:r>
              <a:rPr lang="en-US" sz="1100" dirty="0"/>
              <a:t>Enhances productivity and collaboration</a:t>
            </a:r>
          </a:p>
          <a:p>
            <a:pPr>
              <a:buFont typeface="Wingdings" panose="05000000000000000000" pitchFamily="2" charset="2"/>
              <a:buChar char="ü"/>
            </a:pPr>
            <a:r>
              <a:rPr lang="en-US" sz="1100" dirty="0"/>
              <a:t>Provides better reporting and analytics</a:t>
            </a:r>
          </a:p>
          <a:p>
            <a:pPr marL="0" indent="0">
              <a:buClr>
                <a:schemeClr val="tx1"/>
              </a:buClr>
              <a:buNone/>
            </a:pPr>
            <a:endParaRPr lang="en-IN" sz="1100" dirty="0">
              <a:solidFill>
                <a:schemeClr val="tx1"/>
              </a:solidFill>
            </a:endParaRPr>
          </a:p>
        </p:txBody>
      </p:sp>
    </p:spTree>
    <p:extLst>
      <p:ext uri="{BB962C8B-B14F-4D97-AF65-F5344CB8AC3E}">
        <p14:creationId xmlns:p14="http://schemas.microsoft.com/office/powerpoint/2010/main" val="931892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E742-3F29-4E04-8B7A-FCA557812544}"/>
              </a:ext>
            </a:extLst>
          </p:cNvPr>
          <p:cNvSpPr>
            <a:spLocks noGrp="1"/>
          </p:cNvSpPr>
          <p:nvPr>
            <p:ph type="title"/>
          </p:nvPr>
        </p:nvSpPr>
        <p:spPr>
          <a:xfrm>
            <a:off x="1611295" y="1365738"/>
            <a:ext cx="8596668" cy="806245"/>
          </a:xfrm>
        </p:spPr>
        <p:txBody>
          <a:bodyPr/>
          <a:lstStyle/>
          <a:p>
            <a:r>
              <a:rPr lang="en-US" b="1" dirty="0">
                <a:solidFill>
                  <a:schemeClr val="tx1"/>
                </a:solidFill>
              </a:rPr>
              <a:t>Key Features of ERP Systems</a:t>
            </a:r>
            <a:endParaRPr lang="en-IN" b="1" dirty="0">
              <a:solidFill>
                <a:schemeClr val="tx1"/>
              </a:solidFill>
            </a:endParaRPr>
          </a:p>
        </p:txBody>
      </p:sp>
      <p:graphicFrame>
        <p:nvGraphicFramePr>
          <p:cNvPr id="4" name="Content Placeholder 3">
            <a:extLst>
              <a:ext uri="{FF2B5EF4-FFF2-40B4-BE49-F238E27FC236}">
                <a16:creationId xmlns:a16="http://schemas.microsoft.com/office/drawing/2014/main" id="{1F8A11C3-FE6D-EE59-1E06-35FBB8C88A13}"/>
              </a:ext>
            </a:extLst>
          </p:cNvPr>
          <p:cNvGraphicFramePr>
            <a:graphicFrameLocks noGrp="1"/>
          </p:cNvGraphicFramePr>
          <p:nvPr>
            <p:ph idx="1"/>
            <p:extLst>
              <p:ext uri="{D42A27DB-BD31-4B8C-83A1-F6EECF244321}">
                <p14:modId xmlns:p14="http://schemas.microsoft.com/office/powerpoint/2010/main" val="794632196"/>
              </p:ext>
            </p:extLst>
          </p:nvPr>
        </p:nvGraphicFramePr>
        <p:xfrm>
          <a:off x="1547540" y="2429325"/>
          <a:ext cx="8660423" cy="5097018"/>
        </p:xfrm>
        <a:graphic>
          <a:graphicData uri="http://schemas.openxmlformats.org/drawingml/2006/table">
            <a:tbl>
              <a:tblPr/>
              <a:tblGrid>
                <a:gridCol w="8660423">
                  <a:extLst>
                    <a:ext uri="{9D8B030D-6E8A-4147-A177-3AD203B41FA5}">
                      <a16:colId xmlns:a16="http://schemas.microsoft.com/office/drawing/2014/main" val="2508079859"/>
                    </a:ext>
                  </a:extLst>
                </a:gridCol>
              </a:tblGrid>
              <a:tr h="2200863">
                <a:tc>
                  <a:txBody>
                    <a:bodyPr/>
                    <a:lstStyle/>
                    <a:p>
                      <a:pPr marL="342900" indent="-342900">
                        <a:lnSpc>
                          <a:spcPct val="150000"/>
                        </a:lnSpc>
                        <a:buClr>
                          <a:schemeClr val="accent1"/>
                        </a:buClr>
                        <a:buFont typeface="Wingdings" panose="05000000000000000000" pitchFamily="2" charset="2"/>
                        <a:buChar char="Ø"/>
                      </a:pPr>
                      <a:r>
                        <a:rPr lang="en-US" sz="1600" b="1" dirty="0"/>
                        <a:t>Integration of Business Processes</a:t>
                      </a:r>
                      <a:r>
                        <a:rPr lang="en-US" sz="1600" dirty="0"/>
                        <a:t> – Combines all departments like finance, HR, inventory, and sales into a single system.</a:t>
                      </a:r>
                    </a:p>
                    <a:p>
                      <a:pPr marL="342900" indent="-342900">
                        <a:lnSpc>
                          <a:spcPct val="150000"/>
                        </a:lnSpc>
                        <a:buClr>
                          <a:schemeClr val="accent1"/>
                        </a:buClr>
                        <a:buFont typeface="Wingdings" panose="05000000000000000000" pitchFamily="2" charset="2"/>
                        <a:buChar char="Ø"/>
                      </a:pPr>
                      <a:r>
                        <a:rPr lang="en-US" sz="1600" b="1" dirty="0"/>
                        <a:t>Automation</a:t>
                      </a:r>
                      <a:r>
                        <a:rPr lang="en-US" sz="1600" dirty="0"/>
                        <a:t> – Reduces manual work and errors by automating routine tasks.</a:t>
                      </a:r>
                    </a:p>
                    <a:p>
                      <a:pPr marL="342900" indent="-342900">
                        <a:lnSpc>
                          <a:spcPct val="150000"/>
                        </a:lnSpc>
                        <a:buClr>
                          <a:schemeClr val="accent1"/>
                        </a:buClr>
                        <a:buFont typeface="Wingdings" panose="05000000000000000000" pitchFamily="2" charset="2"/>
                        <a:buChar char="Ø"/>
                      </a:pPr>
                      <a:r>
                        <a:rPr lang="en-US" sz="1600" b="1" dirty="0"/>
                        <a:t>Real-Time Data Access</a:t>
                      </a:r>
                      <a:r>
                        <a:rPr lang="en-US" sz="1600" dirty="0"/>
                        <a:t> – Provides up-to-date information for faster and better decision-making.</a:t>
                      </a:r>
                    </a:p>
                    <a:p>
                      <a:pPr marL="342900" indent="-342900">
                        <a:lnSpc>
                          <a:spcPct val="150000"/>
                        </a:lnSpc>
                        <a:buClr>
                          <a:schemeClr val="accent1"/>
                        </a:buClr>
                        <a:buFont typeface="Wingdings" panose="05000000000000000000" pitchFamily="2" charset="2"/>
                        <a:buChar char="Ø"/>
                      </a:pPr>
                      <a:r>
                        <a:rPr lang="en-US" sz="1600" b="1" dirty="0"/>
                        <a:t>Scalability</a:t>
                      </a:r>
                      <a:r>
                        <a:rPr lang="en-US" sz="1600" dirty="0"/>
                        <a:t> – Can adapt and grow with the organization’s needs.</a:t>
                      </a:r>
                    </a:p>
                    <a:p>
                      <a:pPr marL="342900" indent="-342900">
                        <a:lnSpc>
                          <a:spcPct val="150000"/>
                        </a:lnSpc>
                        <a:buClr>
                          <a:schemeClr val="accent1"/>
                        </a:buClr>
                        <a:buFont typeface="Wingdings" panose="05000000000000000000" pitchFamily="2" charset="2"/>
                        <a:buChar char="Ø"/>
                      </a:pPr>
                      <a:r>
                        <a:rPr lang="en-US" sz="1600" b="1" dirty="0"/>
                        <a:t>Reporting &amp; Analytics</a:t>
                      </a:r>
                      <a:r>
                        <a:rPr lang="en-US" sz="1600" dirty="0"/>
                        <a:t> – Generates detailed reports and insights for management.</a:t>
                      </a:r>
                    </a:p>
                    <a:p>
                      <a:pPr marL="342900" indent="-342900">
                        <a:lnSpc>
                          <a:spcPct val="150000"/>
                        </a:lnSpc>
                        <a:buClr>
                          <a:schemeClr val="accent1"/>
                        </a:buClr>
                        <a:buFont typeface="Wingdings" panose="05000000000000000000" pitchFamily="2" charset="2"/>
                        <a:buChar char="Ø"/>
                      </a:pPr>
                      <a:r>
                        <a:rPr lang="en-US" sz="1600" b="1" dirty="0"/>
                        <a:t>Improved Collaboration</a:t>
                      </a:r>
                      <a:r>
                        <a:rPr lang="en-US" sz="1600" dirty="0"/>
                        <a:t> – Enhances communication between departments and teams.</a:t>
                      </a:r>
                    </a:p>
                    <a:p>
                      <a:pPr marL="342900" indent="-342900">
                        <a:lnSpc>
                          <a:spcPct val="150000"/>
                        </a:lnSpc>
                        <a:buClr>
                          <a:schemeClr val="accent1"/>
                        </a:buClr>
                        <a:buFont typeface="Wingdings" panose="05000000000000000000" pitchFamily="2" charset="2"/>
                        <a:buChar char="Ø"/>
                      </a:pPr>
                      <a:endParaRPr lang="en-US" sz="1600" dirty="0"/>
                    </a:p>
                  </a:txBody>
                  <a:tcPr anchor="ctr">
                    <a:lnL>
                      <a:noFill/>
                    </a:lnL>
                    <a:lnR>
                      <a:noFill/>
                    </a:lnR>
                    <a:lnT>
                      <a:noFill/>
                    </a:lnT>
                    <a:lnB>
                      <a:noFill/>
                    </a:lnB>
                    <a:noFill/>
                  </a:tcPr>
                </a:tc>
                <a:extLst>
                  <a:ext uri="{0D108BD9-81ED-4DB2-BD59-A6C34878D82A}">
                    <a16:rowId xmlns:a16="http://schemas.microsoft.com/office/drawing/2014/main" val="1723167626"/>
                  </a:ext>
                </a:extLst>
              </a:tr>
              <a:tr h="311919">
                <a:tc>
                  <a:txBody>
                    <a:bodyPr/>
                    <a:lstStyle/>
                    <a:p>
                      <a:pPr marL="342900" indent="-342900">
                        <a:lnSpc>
                          <a:spcPct val="150000"/>
                        </a:lnSpc>
                        <a:buClr>
                          <a:schemeClr val="accent1"/>
                        </a:buClr>
                        <a:buFont typeface="Wingdings" panose="05000000000000000000" pitchFamily="2" charset="2"/>
                        <a:buChar char="Ø"/>
                      </a:pPr>
                      <a:endParaRPr lang="en-US" sz="1600"/>
                    </a:p>
                  </a:txBody>
                  <a:tcPr anchor="ctr">
                    <a:lnL>
                      <a:noFill/>
                    </a:lnL>
                    <a:lnR>
                      <a:noFill/>
                    </a:lnR>
                    <a:lnT>
                      <a:noFill/>
                    </a:lnT>
                    <a:lnB>
                      <a:noFill/>
                    </a:lnB>
                    <a:noFill/>
                  </a:tcPr>
                </a:tc>
                <a:extLst>
                  <a:ext uri="{0D108BD9-81ED-4DB2-BD59-A6C34878D82A}">
                    <a16:rowId xmlns:a16="http://schemas.microsoft.com/office/drawing/2014/main" val="3082146943"/>
                  </a:ext>
                </a:extLst>
              </a:tr>
              <a:tr h="311919">
                <a:tc>
                  <a:txBody>
                    <a:bodyPr/>
                    <a:lstStyle/>
                    <a:p>
                      <a:pPr marL="342900" indent="-342900">
                        <a:lnSpc>
                          <a:spcPct val="150000"/>
                        </a:lnSpc>
                        <a:buClr>
                          <a:schemeClr val="accent1"/>
                        </a:buClr>
                        <a:buFont typeface="Wingdings" panose="05000000000000000000" pitchFamily="2" charset="2"/>
                        <a:buChar char="Ø"/>
                      </a:pPr>
                      <a:endParaRPr lang="en-US" sz="1600" dirty="0"/>
                    </a:p>
                  </a:txBody>
                  <a:tcPr anchor="ctr">
                    <a:lnL>
                      <a:noFill/>
                    </a:lnL>
                    <a:lnR>
                      <a:noFill/>
                    </a:lnR>
                    <a:lnT>
                      <a:noFill/>
                    </a:lnT>
                    <a:lnB>
                      <a:noFill/>
                    </a:lnB>
                    <a:noFill/>
                  </a:tcPr>
                </a:tc>
                <a:extLst>
                  <a:ext uri="{0D108BD9-81ED-4DB2-BD59-A6C34878D82A}">
                    <a16:rowId xmlns:a16="http://schemas.microsoft.com/office/drawing/2014/main" val="2581449949"/>
                  </a:ext>
                </a:extLst>
              </a:tr>
              <a:tr h="311919">
                <a:tc>
                  <a:txBody>
                    <a:bodyPr/>
                    <a:lstStyle/>
                    <a:p>
                      <a:pPr marL="342900" indent="-342900">
                        <a:lnSpc>
                          <a:spcPct val="150000"/>
                        </a:lnSpc>
                        <a:buClr>
                          <a:schemeClr val="accent1"/>
                        </a:buClr>
                        <a:buFont typeface="Wingdings" panose="05000000000000000000" pitchFamily="2" charset="2"/>
                        <a:buChar char="Ø"/>
                      </a:pPr>
                      <a:endParaRPr lang="en-US" sz="1600"/>
                    </a:p>
                  </a:txBody>
                  <a:tcPr anchor="ctr">
                    <a:lnL>
                      <a:noFill/>
                    </a:lnL>
                    <a:lnR>
                      <a:noFill/>
                    </a:lnR>
                    <a:lnT>
                      <a:noFill/>
                    </a:lnT>
                    <a:lnB>
                      <a:noFill/>
                    </a:lnB>
                    <a:noFill/>
                  </a:tcPr>
                </a:tc>
                <a:extLst>
                  <a:ext uri="{0D108BD9-81ED-4DB2-BD59-A6C34878D82A}">
                    <a16:rowId xmlns:a16="http://schemas.microsoft.com/office/drawing/2014/main" val="1631448643"/>
                  </a:ext>
                </a:extLst>
              </a:tr>
              <a:tr h="311919">
                <a:tc>
                  <a:txBody>
                    <a:bodyPr/>
                    <a:lstStyle/>
                    <a:p>
                      <a:pPr marL="342900" indent="-342900">
                        <a:lnSpc>
                          <a:spcPct val="150000"/>
                        </a:lnSpc>
                        <a:buClr>
                          <a:schemeClr val="accent1"/>
                        </a:buClr>
                        <a:buFont typeface="Wingdings" panose="05000000000000000000" pitchFamily="2" charset="2"/>
                        <a:buChar char="Ø"/>
                      </a:pPr>
                      <a:endParaRPr lang="en-US" sz="1600"/>
                    </a:p>
                  </a:txBody>
                  <a:tcPr anchor="ctr">
                    <a:lnL>
                      <a:noFill/>
                    </a:lnL>
                    <a:lnR>
                      <a:noFill/>
                    </a:lnR>
                    <a:lnT>
                      <a:noFill/>
                    </a:lnT>
                    <a:lnB>
                      <a:noFill/>
                    </a:lnB>
                    <a:noFill/>
                  </a:tcPr>
                </a:tc>
                <a:extLst>
                  <a:ext uri="{0D108BD9-81ED-4DB2-BD59-A6C34878D82A}">
                    <a16:rowId xmlns:a16="http://schemas.microsoft.com/office/drawing/2014/main" val="2828244299"/>
                  </a:ext>
                </a:extLst>
              </a:tr>
              <a:tr h="311919">
                <a:tc>
                  <a:txBody>
                    <a:bodyPr/>
                    <a:lstStyle/>
                    <a:p>
                      <a:pPr marL="342900" indent="-342900">
                        <a:lnSpc>
                          <a:spcPct val="150000"/>
                        </a:lnSpc>
                        <a:buClr>
                          <a:schemeClr val="accent1"/>
                        </a:buClr>
                        <a:buFont typeface="Wingdings" panose="05000000000000000000" pitchFamily="2" charset="2"/>
                        <a:buChar char="Ø"/>
                      </a:pPr>
                      <a:endParaRPr lang="en-US" sz="1600" dirty="0"/>
                    </a:p>
                  </a:txBody>
                  <a:tcPr anchor="ctr">
                    <a:lnL>
                      <a:noFill/>
                    </a:lnL>
                    <a:lnR>
                      <a:noFill/>
                    </a:lnR>
                    <a:lnT>
                      <a:noFill/>
                    </a:lnT>
                    <a:lnB>
                      <a:noFill/>
                    </a:lnB>
                    <a:noFill/>
                  </a:tcPr>
                </a:tc>
                <a:extLst>
                  <a:ext uri="{0D108BD9-81ED-4DB2-BD59-A6C34878D82A}">
                    <a16:rowId xmlns:a16="http://schemas.microsoft.com/office/drawing/2014/main" val="172090523"/>
                  </a:ext>
                </a:extLst>
              </a:tr>
            </a:tbl>
          </a:graphicData>
        </a:graphic>
      </p:graphicFrame>
    </p:spTree>
    <p:extLst>
      <p:ext uri="{BB962C8B-B14F-4D97-AF65-F5344CB8AC3E}">
        <p14:creationId xmlns:p14="http://schemas.microsoft.com/office/powerpoint/2010/main" val="2581465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3D8C5-D20C-829D-40CC-E02EBAE4B757}"/>
              </a:ext>
            </a:extLst>
          </p:cNvPr>
          <p:cNvSpPr>
            <a:spLocks noGrp="1"/>
          </p:cNvSpPr>
          <p:nvPr>
            <p:ph type="title"/>
          </p:nvPr>
        </p:nvSpPr>
        <p:spPr>
          <a:xfrm>
            <a:off x="1295402" y="1452975"/>
            <a:ext cx="9601196" cy="958361"/>
          </a:xfrm>
        </p:spPr>
        <p:txBody>
          <a:bodyPr/>
          <a:lstStyle/>
          <a:p>
            <a:r>
              <a:rPr lang="en-IN" b="1" dirty="0">
                <a:solidFill>
                  <a:schemeClr val="tx1"/>
                </a:solidFill>
              </a:rPr>
              <a:t>Core Modules in ERP</a:t>
            </a:r>
          </a:p>
        </p:txBody>
      </p:sp>
      <p:sp>
        <p:nvSpPr>
          <p:cNvPr id="4" name="Rectangle 1">
            <a:extLst>
              <a:ext uri="{FF2B5EF4-FFF2-40B4-BE49-F238E27FC236}">
                <a16:creationId xmlns:a16="http://schemas.microsoft.com/office/drawing/2014/main" id="{9EA5A1AB-87BA-804D-2E0D-2F23164AD6E8}"/>
              </a:ext>
            </a:extLst>
          </p:cNvPr>
          <p:cNvSpPr>
            <a:spLocks noGrp="1" noChangeArrowheads="1"/>
          </p:cNvSpPr>
          <p:nvPr>
            <p:ph idx="1"/>
          </p:nvPr>
        </p:nvSpPr>
        <p:spPr bwMode="auto">
          <a:xfrm>
            <a:off x="1620878" y="2411336"/>
            <a:ext cx="9108504" cy="227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Finance &amp; Accounting:</a:t>
            </a:r>
            <a:r>
              <a:rPr lang="en-US" altLang="en-US" sz="1600" dirty="0">
                <a:solidFill>
                  <a:schemeClr val="tx1"/>
                </a:solidFill>
              </a:rPr>
              <a:t> Manages accounts, budgeting, and payroll.</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Human Resource Management (HRM):</a:t>
            </a:r>
            <a:r>
              <a:rPr lang="en-US" altLang="en-US" sz="1600" dirty="0">
                <a:solidFill>
                  <a:schemeClr val="tx1"/>
                </a:solidFill>
              </a:rPr>
              <a:t> Handles employee data, attendance, and performance.</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Inventory &amp; Supply Chain:</a:t>
            </a:r>
            <a:r>
              <a:rPr lang="en-US" altLang="en-US" sz="1600" dirty="0">
                <a:solidFill>
                  <a:schemeClr val="tx1"/>
                </a:solidFill>
              </a:rPr>
              <a:t> Manages stock, procurement, and suppliers.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Sales &amp; Distribution:</a:t>
            </a:r>
            <a:r>
              <a:rPr lang="en-US" altLang="en-US" sz="1600" dirty="0">
                <a:solidFill>
                  <a:schemeClr val="tx1"/>
                </a:solidFill>
              </a:rPr>
              <a:t> Handles orders, invoicing, and customer management.</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Production / Manufacturing:</a:t>
            </a:r>
            <a:r>
              <a:rPr lang="en-US" altLang="en-US" sz="1600" dirty="0">
                <a:solidFill>
                  <a:schemeClr val="tx1"/>
                </a:solidFill>
              </a:rPr>
              <a:t> Manages production planning, scheduling, and quality.</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Customer Relationship Management (CRM):</a:t>
            </a:r>
            <a:r>
              <a:rPr lang="en-US" altLang="en-US" sz="1600" dirty="0">
                <a:solidFill>
                  <a:schemeClr val="tx1"/>
                </a:solidFill>
              </a:rPr>
              <a:t> Manages customer interactions and support.</a:t>
            </a:r>
          </a:p>
        </p:txBody>
      </p:sp>
    </p:spTree>
    <p:extLst>
      <p:ext uri="{BB962C8B-B14F-4D97-AF65-F5344CB8AC3E}">
        <p14:creationId xmlns:p14="http://schemas.microsoft.com/office/powerpoint/2010/main" val="1399706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EEB08-E7D0-201B-9E99-7FC016626C07}"/>
              </a:ext>
            </a:extLst>
          </p:cNvPr>
          <p:cNvSpPr>
            <a:spLocks noGrp="1"/>
          </p:cNvSpPr>
          <p:nvPr>
            <p:ph type="title"/>
          </p:nvPr>
        </p:nvSpPr>
        <p:spPr>
          <a:xfrm>
            <a:off x="1295402" y="1397977"/>
            <a:ext cx="9601196" cy="888022"/>
          </a:xfrm>
        </p:spPr>
        <p:txBody>
          <a:bodyPr/>
          <a:lstStyle/>
          <a:p>
            <a:r>
              <a:rPr lang="en-IN" b="1" dirty="0">
                <a:solidFill>
                  <a:schemeClr val="tx1"/>
                </a:solidFill>
              </a:rPr>
              <a:t>Benefits of ERP</a:t>
            </a:r>
            <a:endParaRPr lang="en-IN" dirty="0">
              <a:solidFill>
                <a:schemeClr val="tx1"/>
              </a:solidFill>
            </a:endParaRPr>
          </a:p>
        </p:txBody>
      </p:sp>
      <p:sp>
        <p:nvSpPr>
          <p:cNvPr id="4" name="Rectangle 1">
            <a:extLst>
              <a:ext uri="{FF2B5EF4-FFF2-40B4-BE49-F238E27FC236}">
                <a16:creationId xmlns:a16="http://schemas.microsoft.com/office/drawing/2014/main" id="{12B8B207-BC09-6EDC-8347-2311683F2BCE}"/>
              </a:ext>
            </a:extLst>
          </p:cNvPr>
          <p:cNvSpPr>
            <a:spLocks noGrp="1" noChangeArrowheads="1"/>
          </p:cNvSpPr>
          <p:nvPr>
            <p:ph idx="1"/>
          </p:nvPr>
        </p:nvSpPr>
        <p:spPr bwMode="auto">
          <a:xfrm>
            <a:off x="1579727" y="2609399"/>
            <a:ext cx="8692808" cy="227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Streamlines Business Processes:</a:t>
            </a:r>
            <a:r>
              <a:rPr lang="en-US" altLang="en-US" sz="1600" dirty="0">
                <a:solidFill>
                  <a:schemeClr val="tx1"/>
                </a:solidFill>
              </a:rPr>
              <a:t> Integrates all departments into a single system.</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Improves Efficiency:</a:t>
            </a:r>
            <a:r>
              <a:rPr lang="en-US" altLang="en-US" sz="1600" dirty="0">
                <a:solidFill>
                  <a:schemeClr val="tx1"/>
                </a:solidFill>
              </a:rPr>
              <a:t> Reduces manual work and errors through automation.</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Real-Time Data Access:</a:t>
            </a:r>
            <a:r>
              <a:rPr lang="en-US" altLang="en-US" sz="1600" dirty="0">
                <a:solidFill>
                  <a:schemeClr val="tx1"/>
                </a:solidFill>
              </a:rPr>
              <a:t> Provides up-to-date information for better decision-making.</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Cost Reduction:</a:t>
            </a:r>
            <a:r>
              <a:rPr lang="en-US" altLang="en-US" sz="1600" dirty="0">
                <a:solidFill>
                  <a:schemeClr val="tx1"/>
                </a:solidFill>
              </a:rPr>
              <a:t> Minimizes operational and administrative costs.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Enhanced Collaboration:</a:t>
            </a:r>
            <a:r>
              <a:rPr lang="en-US" altLang="en-US" sz="1600" dirty="0">
                <a:solidFill>
                  <a:schemeClr val="tx1"/>
                </a:solidFill>
              </a:rPr>
              <a:t> Improves communication between departments.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Better Reporting &amp; Analytics:</a:t>
            </a:r>
            <a:r>
              <a:rPr lang="en-US" altLang="en-US" sz="1600" dirty="0">
                <a:solidFill>
                  <a:schemeClr val="tx1"/>
                </a:solidFill>
              </a:rPr>
              <a:t> Generates accurate reports and insights for management.</a:t>
            </a:r>
          </a:p>
        </p:txBody>
      </p:sp>
    </p:spTree>
    <p:extLst>
      <p:ext uri="{BB962C8B-B14F-4D97-AF65-F5344CB8AC3E}">
        <p14:creationId xmlns:p14="http://schemas.microsoft.com/office/powerpoint/2010/main" val="2963512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10CF3-94CC-BF36-3869-001FC4946E4E}"/>
              </a:ext>
            </a:extLst>
          </p:cNvPr>
          <p:cNvSpPr>
            <a:spLocks noGrp="1"/>
          </p:cNvSpPr>
          <p:nvPr>
            <p:ph type="title"/>
          </p:nvPr>
        </p:nvSpPr>
        <p:spPr>
          <a:xfrm>
            <a:off x="1295402" y="1452880"/>
            <a:ext cx="9601196" cy="1117599"/>
          </a:xfrm>
        </p:spPr>
        <p:txBody>
          <a:bodyPr/>
          <a:lstStyle/>
          <a:p>
            <a:r>
              <a:rPr lang="en-IN" b="1" dirty="0">
                <a:solidFill>
                  <a:schemeClr val="tx1"/>
                </a:solidFill>
              </a:rPr>
              <a:t>Popular ERP Software</a:t>
            </a:r>
          </a:p>
        </p:txBody>
      </p:sp>
      <p:sp>
        <p:nvSpPr>
          <p:cNvPr id="4" name="Rectangle 1">
            <a:extLst>
              <a:ext uri="{FF2B5EF4-FFF2-40B4-BE49-F238E27FC236}">
                <a16:creationId xmlns:a16="http://schemas.microsoft.com/office/drawing/2014/main" id="{9080C414-B2CC-B5D0-DC2E-80BA571B5757}"/>
              </a:ext>
            </a:extLst>
          </p:cNvPr>
          <p:cNvSpPr>
            <a:spLocks noGrp="1" noChangeArrowheads="1"/>
          </p:cNvSpPr>
          <p:nvPr>
            <p:ph idx="1"/>
          </p:nvPr>
        </p:nvSpPr>
        <p:spPr bwMode="auto">
          <a:xfrm>
            <a:off x="1800958" y="2667763"/>
            <a:ext cx="8590084" cy="1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SAP</a:t>
            </a:r>
            <a:r>
              <a:rPr lang="en-US" altLang="en-US" sz="1600" dirty="0">
                <a:solidFill>
                  <a:schemeClr val="tx1"/>
                </a:solidFill>
              </a:rPr>
              <a:t> – Leading global ERP system for large organizations.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Oracle ERP</a:t>
            </a:r>
            <a:r>
              <a:rPr lang="en-US" altLang="en-US" sz="1600" dirty="0">
                <a:solidFill>
                  <a:schemeClr val="tx1"/>
                </a:solidFill>
              </a:rPr>
              <a:t> – Comprehensive ERP with finance, HR, and supply chain modules.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Microsoft Dynamics 365</a:t>
            </a:r>
            <a:r>
              <a:rPr lang="en-US" altLang="en-US" sz="1600" dirty="0">
                <a:solidFill>
                  <a:schemeClr val="tx1"/>
                </a:solidFill>
              </a:rPr>
              <a:t> – Cloud-based ERP and CRM solution.</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Odoo</a:t>
            </a:r>
            <a:r>
              <a:rPr lang="en-US" altLang="en-US" sz="1600" dirty="0">
                <a:solidFill>
                  <a:schemeClr val="tx1"/>
                </a:solidFill>
              </a:rPr>
              <a:t> – Open-source ERP for small and medium businesses.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NetSuite</a:t>
            </a:r>
            <a:r>
              <a:rPr lang="en-US" altLang="en-US" sz="1600" dirty="0">
                <a:solidFill>
                  <a:schemeClr val="tx1"/>
                </a:solidFill>
              </a:rPr>
              <a:t> – Cloud ERP for finance, inventory, and e-commerce management.</a:t>
            </a:r>
          </a:p>
        </p:txBody>
      </p:sp>
    </p:spTree>
    <p:extLst>
      <p:ext uri="{BB962C8B-B14F-4D97-AF65-F5344CB8AC3E}">
        <p14:creationId xmlns:p14="http://schemas.microsoft.com/office/powerpoint/2010/main" val="2874170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F51F-DEB3-1AA2-C80F-C9797C172451}"/>
              </a:ext>
            </a:extLst>
          </p:cNvPr>
          <p:cNvSpPr>
            <a:spLocks noGrp="1"/>
          </p:cNvSpPr>
          <p:nvPr>
            <p:ph type="title"/>
          </p:nvPr>
        </p:nvSpPr>
        <p:spPr>
          <a:xfrm>
            <a:off x="1197140" y="1162995"/>
            <a:ext cx="9601196" cy="1303867"/>
          </a:xfrm>
        </p:spPr>
        <p:txBody>
          <a:bodyPr>
            <a:noAutofit/>
          </a:bodyPr>
          <a:lstStyle/>
          <a:p>
            <a:r>
              <a:rPr lang="en-US" b="1" dirty="0">
                <a:solidFill>
                  <a:schemeClr val="tx1"/>
                </a:solidFill>
              </a:rPr>
              <a:t>How Enterprise Resource Planning Platforms Work</a:t>
            </a:r>
            <a:endParaRPr lang="en-IN" b="1" dirty="0">
              <a:solidFill>
                <a:schemeClr val="tx1"/>
              </a:solidFill>
            </a:endParaRPr>
          </a:p>
        </p:txBody>
      </p:sp>
      <p:sp>
        <p:nvSpPr>
          <p:cNvPr id="3" name="Content Placeholder 2">
            <a:extLst>
              <a:ext uri="{FF2B5EF4-FFF2-40B4-BE49-F238E27FC236}">
                <a16:creationId xmlns:a16="http://schemas.microsoft.com/office/drawing/2014/main" id="{22CAFC8B-43DF-CA3C-CBDF-FCE0A0575576}"/>
              </a:ext>
            </a:extLst>
          </p:cNvPr>
          <p:cNvSpPr>
            <a:spLocks noGrp="1"/>
          </p:cNvSpPr>
          <p:nvPr>
            <p:ph idx="1"/>
          </p:nvPr>
        </p:nvSpPr>
        <p:spPr>
          <a:xfrm>
            <a:off x="1393664" y="2466862"/>
            <a:ext cx="9636705" cy="2943664"/>
          </a:xfrm>
        </p:spPr>
        <p:txBody>
          <a:bodyPr>
            <a:normAutofit/>
          </a:bodyPr>
          <a:lstStyle/>
          <a:p>
            <a:pPr marL="0" indent="0">
              <a:buNone/>
            </a:pPr>
            <a:r>
              <a:rPr lang="en-US" sz="1600" dirty="0">
                <a:latin typeface="+mj-lt"/>
              </a:rPr>
              <a:t>Enterprise Resource Planning (ERP) platforms work by integrating all business processes into a single system with a centralized database, enabling real-time data access, process automation, and improved coordination across departments.</a:t>
            </a:r>
          </a:p>
          <a:p>
            <a:pPr>
              <a:buFont typeface="Wingdings" panose="05000000000000000000" pitchFamily="2" charset="2"/>
              <a:buChar char="Ø"/>
            </a:pPr>
            <a:r>
              <a:rPr lang="en-US" sz="1600" b="1" u="sng" dirty="0">
                <a:latin typeface="+mj-lt"/>
              </a:rPr>
              <a:t>Work:-</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rPr>
              <a:t>Centralized Database</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rPr>
              <a:t>Integrated Modules</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rPr>
              <a:t>Process Automation</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rPr>
              <a:t>Real-Time Data Access</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rPr>
              <a:t>Workflow Management</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rPr>
              <a:t>Scalability and Customization</a:t>
            </a:r>
          </a:p>
          <a:p>
            <a:pPr marL="0" indent="0">
              <a:buNone/>
            </a:pPr>
            <a:endParaRPr lang="en-US" sz="1600" b="1" dirty="0">
              <a:latin typeface="+mj-lt"/>
            </a:endParaRPr>
          </a:p>
        </p:txBody>
      </p:sp>
    </p:spTree>
    <p:extLst>
      <p:ext uri="{BB962C8B-B14F-4D97-AF65-F5344CB8AC3E}">
        <p14:creationId xmlns:p14="http://schemas.microsoft.com/office/powerpoint/2010/main" val="1774330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E865-A35A-D02E-3D90-B2C12AE04504}"/>
              </a:ext>
            </a:extLst>
          </p:cNvPr>
          <p:cNvSpPr>
            <a:spLocks noGrp="1"/>
          </p:cNvSpPr>
          <p:nvPr>
            <p:ph type="title"/>
          </p:nvPr>
        </p:nvSpPr>
        <p:spPr>
          <a:xfrm>
            <a:off x="1295402" y="1508055"/>
            <a:ext cx="9601196" cy="944879"/>
          </a:xfrm>
        </p:spPr>
        <p:txBody>
          <a:bodyPr/>
          <a:lstStyle/>
          <a:p>
            <a:r>
              <a:rPr lang="en-IN" b="1" dirty="0">
                <a:solidFill>
                  <a:schemeClr val="tx1"/>
                </a:solidFill>
              </a:rPr>
              <a:t>Centralized Database</a:t>
            </a:r>
          </a:p>
        </p:txBody>
      </p:sp>
      <p:sp>
        <p:nvSpPr>
          <p:cNvPr id="3" name="Content Placeholder 2">
            <a:extLst>
              <a:ext uri="{FF2B5EF4-FFF2-40B4-BE49-F238E27FC236}">
                <a16:creationId xmlns:a16="http://schemas.microsoft.com/office/drawing/2014/main" id="{4D3FF5D4-94DA-B289-159E-489E156961D1}"/>
              </a:ext>
            </a:extLst>
          </p:cNvPr>
          <p:cNvSpPr>
            <a:spLocks noGrp="1"/>
          </p:cNvSpPr>
          <p:nvPr>
            <p:ph idx="1"/>
          </p:nvPr>
        </p:nvSpPr>
        <p:spPr>
          <a:xfrm>
            <a:off x="1662853" y="2452934"/>
            <a:ext cx="9479389" cy="3880773"/>
          </a:xfrm>
        </p:spPr>
        <p:txBody>
          <a:bodyPr>
            <a:normAutofit/>
          </a:bodyPr>
          <a:lstStyle/>
          <a:p>
            <a:pPr>
              <a:buFont typeface="Wingdings" panose="05000000000000000000" pitchFamily="2" charset="2"/>
              <a:buChar char="q"/>
            </a:pPr>
            <a:r>
              <a:rPr lang="en-US" sz="1600" b="1" u="sng" dirty="0"/>
              <a:t>Centralized Database:-</a:t>
            </a:r>
          </a:p>
          <a:p>
            <a:pPr marL="0" indent="0">
              <a:buNone/>
            </a:pPr>
            <a:r>
              <a:rPr lang="en-US" sz="1600" dirty="0"/>
              <a:t>     A centralized database in an ERP system stores all business data in </a:t>
            </a:r>
            <a:r>
              <a:rPr lang="en-US" sz="1600" b="1" dirty="0"/>
              <a:t>one single location</a:t>
            </a:r>
            <a:r>
              <a:rPr lang="en-US" sz="1600" dirty="0"/>
              <a:t>, ensuring that every department—like Finance, HR, Sales, and Inventory—accesses the </a:t>
            </a:r>
            <a:r>
              <a:rPr lang="en-US" sz="1600" b="1" dirty="0"/>
              <a:t>same accurate and up-to-date information</a:t>
            </a:r>
            <a:r>
              <a:rPr lang="en-US" sz="1600" dirty="0"/>
              <a:t>.</a:t>
            </a:r>
          </a:p>
          <a:p>
            <a:pPr>
              <a:buFont typeface="Wingdings" panose="05000000000000000000" pitchFamily="2" charset="2"/>
              <a:buChar char="Ø"/>
            </a:pPr>
            <a:r>
              <a:rPr lang="en-US" sz="1600" b="1" dirty="0"/>
              <a:t>Example:-</a:t>
            </a:r>
            <a:br>
              <a:rPr lang="en-US" sz="1600" dirty="0"/>
            </a:br>
            <a:r>
              <a:rPr lang="en-US" sz="1600" dirty="0"/>
              <a:t>When the sales team records a new order, the inventory and finance modules are automatically updated with the same data.</a:t>
            </a:r>
          </a:p>
        </p:txBody>
      </p:sp>
    </p:spTree>
    <p:extLst>
      <p:ext uri="{BB962C8B-B14F-4D97-AF65-F5344CB8AC3E}">
        <p14:creationId xmlns:p14="http://schemas.microsoft.com/office/powerpoint/2010/main" val="2016633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376E2-0CD6-6214-7991-4A9D7DD26023}"/>
              </a:ext>
            </a:extLst>
          </p:cNvPr>
          <p:cNvSpPr>
            <a:spLocks noGrp="1"/>
          </p:cNvSpPr>
          <p:nvPr>
            <p:ph type="title"/>
          </p:nvPr>
        </p:nvSpPr>
        <p:spPr>
          <a:xfrm>
            <a:off x="1295402" y="1429070"/>
            <a:ext cx="9601196" cy="985519"/>
          </a:xfrm>
        </p:spPr>
        <p:txBody>
          <a:bodyPr/>
          <a:lstStyle/>
          <a:p>
            <a:r>
              <a:rPr lang="en-IN" b="1" dirty="0">
                <a:solidFill>
                  <a:schemeClr val="tx1"/>
                </a:solidFill>
              </a:rPr>
              <a:t>Integration of Business Processes</a:t>
            </a:r>
          </a:p>
        </p:txBody>
      </p:sp>
      <p:sp>
        <p:nvSpPr>
          <p:cNvPr id="3" name="Content Placeholder 2">
            <a:extLst>
              <a:ext uri="{FF2B5EF4-FFF2-40B4-BE49-F238E27FC236}">
                <a16:creationId xmlns:a16="http://schemas.microsoft.com/office/drawing/2014/main" id="{5AA58F9F-30EB-B0E7-75AC-3C0B85B57ECE}"/>
              </a:ext>
            </a:extLst>
          </p:cNvPr>
          <p:cNvSpPr>
            <a:spLocks noGrp="1"/>
          </p:cNvSpPr>
          <p:nvPr>
            <p:ph idx="1"/>
          </p:nvPr>
        </p:nvSpPr>
        <p:spPr>
          <a:xfrm>
            <a:off x="1295402" y="2414589"/>
            <a:ext cx="9548214" cy="3880773"/>
          </a:xfrm>
        </p:spPr>
        <p:txBody>
          <a:bodyPr>
            <a:normAutofit/>
          </a:bodyPr>
          <a:lstStyle/>
          <a:p>
            <a:pPr>
              <a:buFont typeface="Wingdings" panose="05000000000000000000" pitchFamily="2" charset="2"/>
              <a:buChar char="q"/>
            </a:pPr>
            <a:r>
              <a:rPr lang="en-US" sz="1600" b="1" dirty="0"/>
              <a:t>Integration of Business Processes:-</a:t>
            </a:r>
          </a:p>
          <a:p>
            <a:pPr marL="0" indent="0">
              <a:buNone/>
            </a:pPr>
            <a:r>
              <a:rPr lang="en-US" sz="1600" dirty="0"/>
              <a:t>ERP systems connect all core business functions—such as Finance, HR, Inventory, Sales, and Production—into one unified platform, allowing data entered in one department to automatically update other relevant departments.</a:t>
            </a:r>
          </a:p>
          <a:p>
            <a:pPr>
              <a:buFont typeface="Wingdings" panose="05000000000000000000" pitchFamily="2" charset="2"/>
              <a:buChar char="Ø"/>
            </a:pPr>
            <a:r>
              <a:rPr lang="en-US" sz="1600" b="1" dirty="0"/>
              <a:t>Example:-</a:t>
            </a:r>
            <a:br>
              <a:rPr lang="en-US" sz="1600" dirty="0"/>
            </a:br>
            <a:r>
              <a:rPr lang="en-US" sz="1600" dirty="0"/>
              <a:t>When a purchase order is created in the procurement module, the inventory, finance, and accounts modules are updated automatically without manual entry.</a:t>
            </a:r>
          </a:p>
        </p:txBody>
      </p:sp>
    </p:spTree>
    <p:extLst>
      <p:ext uri="{BB962C8B-B14F-4D97-AF65-F5344CB8AC3E}">
        <p14:creationId xmlns:p14="http://schemas.microsoft.com/office/powerpoint/2010/main" val="1990988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FE5B-04BC-214A-4400-5BDB32DE6FE2}"/>
              </a:ext>
            </a:extLst>
          </p:cNvPr>
          <p:cNvSpPr>
            <a:spLocks noGrp="1"/>
          </p:cNvSpPr>
          <p:nvPr>
            <p:ph type="title"/>
          </p:nvPr>
        </p:nvSpPr>
        <p:spPr>
          <a:xfrm>
            <a:off x="1295402" y="1327572"/>
            <a:ext cx="9601196" cy="1303867"/>
          </a:xfrm>
        </p:spPr>
        <p:txBody>
          <a:bodyPr/>
          <a:lstStyle/>
          <a:p>
            <a:r>
              <a:rPr lang="en-IN" b="1" dirty="0">
                <a:solidFill>
                  <a:schemeClr val="tx1"/>
                </a:solidFill>
              </a:rPr>
              <a:t>Automation of Tasks</a:t>
            </a:r>
          </a:p>
        </p:txBody>
      </p:sp>
      <p:sp>
        <p:nvSpPr>
          <p:cNvPr id="3" name="Content Placeholder 2">
            <a:extLst>
              <a:ext uri="{FF2B5EF4-FFF2-40B4-BE49-F238E27FC236}">
                <a16:creationId xmlns:a16="http://schemas.microsoft.com/office/drawing/2014/main" id="{DAA0CA6F-BDED-C75E-4883-44660754DB55}"/>
              </a:ext>
            </a:extLst>
          </p:cNvPr>
          <p:cNvSpPr>
            <a:spLocks noGrp="1"/>
          </p:cNvSpPr>
          <p:nvPr>
            <p:ph idx="1"/>
          </p:nvPr>
        </p:nvSpPr>
        <p:spPr>
          <a:xfrm>
            <a:off x="1295402" y="2458720"/>
            <a:ext cx="9902175" cy="3417148"/>
          </a:xfrm>
        </p:spPr>
        <p:txBody>
          <a:bodyPr>
            <a:normAutofit/>
          </a:bodyPr>
          <a:lstStyle/>
          <a:p>
            <a:pPr>
              <a:buFont typeface="Wingdings" panose="05000000000000000000" pitchFamily="2" charset="2"/>
              <a:buChar char="q"/>
            </a:pPr>
            <a:endParaRPr lang="en-US" sz="1600" b="1" dirty="0"/>
          </a:p>
          <a:p>
            <a:pPr>
              <a:buFont typeface="Wingdings" panose="05000000000000000000" pitchFamily="2" charset="2"/>
              <a:buChar char="q"/>
            </a:pPr>
            <a:r>
              <a:rPr lang="en-US" sz="1600" b="1" dirty="0"/>
              <a:t>Automation of Tasks:-</a:t>
            </a:r>
          </a:p>
          <a:p>
            <a:pPr marL="0" indent="0">
              <a:buNone/>
            </a:pPr>
            <a:r>
              <a:rPr lang="en-US" sz="1600" dirty="0"/>
              <a:t>ERP systems automate routine and repetitive business tasks, reducing manual effort, minimizing errors, and speeding up operations.</a:t>
            </a:r>
          </a:p>
          <a:p>
            <a:pPr>
              <a:buFont typeface="Wingdings" panose="05000000000000000000" pitchFamily="2" charset="2"/>
              <a:buChar char="Ø"/>
            </a:pPr>
            <a:r>
              <a:rPr lang="en-US" sz="1600" b="1" dirty="0"/>
              <a:t>Example:-</a:t>
            </a:r>
            <a:br>
              <a:rPr lang="en-US" sz="1600" dirty="0"/>
            </a:br>
            <a:r>
              <a:rPr lang="en-US" sz="1600" dirty="0"/>
              <a:t>Payroll calculation, invoice generation, and stock updates are automatically handled by the ERP system without manual intervention.</a:t>
            </a:r>
          </a:p>
        </p:txBody>
      </p:sp>
    </p:spTree>
    <p:extLst>
      <p:ext uri="{BB962C8B-B14F-4D97-AF65-F5344CB8AC3E}">
        <p14:creationId xmlns:p14="http://schemas.microsoft.com/office/powerpoint/2010/main" val="558988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502D-1556-74A3-664B-0FEFB90DA897}"/>
              </a:ext>
            </a:extLst>
          </p:cNvPr>
          <p:cNvSpPr>
            <a:spLocks noGrp="1"/>
          </p:cNvSpPr>
          <p:nvPr>
            <p:ph type="title"/>
          </p:nvPr>
        </p:nvSpPr>
        <p:spPr>
          <a:xfrm>
            <a:off x="1295401" y="1378372"/>
            <a:ext cx="9601196" cy="1303867"/>
          </a:xfrm>
        </p:spPr>
        <p:txBody>
          <a:bodyPr/>
          <a:lstStyle/>
          <a:p>
            <a:r>
              <a:rPr lang="en-IN" b="1" dirty="0">
                <a:solidFill>
                  <a:schemeClr val="tx1"/>
                </a:solidFill>
              </a:rPr>
              <a:t>Real-Time Data and Reporting</a:t>
            </a:r>
          </a:p>
        </p:txBody>
      </p:sp>
      <p:sp>
        <p:nvSpPr>
          <p:cNvPr id="3" name="Content Placeholder 2">
            <a:extLst>
              <a:ext uri="{FF2B5EF4-FFF2-40B4-BE49-F238E27FC236}">
                <a16:creationId xmlns:a16="http://schemas.microsoft.com/office/drawing/2014/main" id="{7388082F-7448-FEBF-F03B-C0797E082826}"/>
              </a:ext>
            </a:extLst>
          </p:cNvPr>
          <p:cNvSpPr>
            <a:spLocks noGrp="1"/>
          </p:cNvSpPr>
          <p:nvPr>
            <p:ph idx="1"/>
          </p:nvPr>
        </p:nvSpPr>
        <p:spPr/>
        <p:txBody>
          <a:bodyPr>
            <a:normAutofit/>
          </a:bodyPr>
          <a:lstStyle/>
          <a:p>
            <a:pPr>
              <a:buFont typeface="Wingdings" panose="05000000000000000000" pitchFamily="2" charset="2"/>
              <a:buChar char="q"/>
            </a:pPr>
            <a:r>
              <a:rPr lang="en-US" sz="1600" b="1" dirty="0"/>
              <a:t>Real-Time Data and Reporting</a:t>
            </a:r>
          </a:p>
          <a:p>
            <a:pPr marL="0" indent="0">
              <a:buNone/>
            </a:pPr>
            <a:r>
              <a:rPr lang="en-US" sz="1600" dirty="0"/>
              <a:t>ERP systems provide up-to-date information to managers and employees, allowing them to make informed decisions quickly and generate accurate reports on business performance.</a:t>
            </a:r>
          </a:p>
          <a:p>
            <a:pPr>
              <a:buFont typeface="Wingdings" panose="05000000000000000000" pitchFamily="2" charset="2"/>
              <a:buChar char="Ø"/>
            </a:pPr>
            <a:r>
              <a:rPr lang="en-US" sz="1600" b="1" dirty="0"/>
              <a:t>Example:</a:t>
            </a:r>
            <a:br>
              <a:rPr lang="en-US" sz="1600" dirty="0"/>
            </a:br>
            <a:r>
              <a:rPr lang="en-US" sz="1600" dirty="0"/>
              <a:t>A manager can view current sales, inventory levels, and financial summaries instantly without waiting for manual reports.</a:t>
            </a:r>
          </a:p>
        </p:txBody>
      </p:sp>
    </p:spTree>
    <p:extLst>
      <p:ext uri="{BB962C8B-B14F-4D97-AF65-F5344CB8AC3E}">
        <p14:creationId xmlns:p14="http://schemas.microsoft.com/office/powerpoint/2010/main" val="57168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510C0-14E5-CA72-8C89-2D180A411A30}"/>
              </a:ext>
            </a:extLst>
          </p:cNvPr>
          <p:cNvSpPr>
            <a:spLocks noGrp="1"/>
          </p:cNvSpPr>
          <p:nvPr>
            <p:ph type="title"/>
          </p:nvPr>
        </p:nvSpPr>
        <p:spPr>
          <a:xfrm>
            <a:off x="1295402" y="1388430"/>
            <a:ext cx="9601196" cy="1097279"/>
          </a:xfrm>
        </p:spPr>
        <p:txBody>
          <a:bodyPr/>
          <a:lstStyle/>
          <a:p>
            <a:r>
              <a:rPr lang="en-IN" b="1" dirty="0">
                <a:solidFill>
                  <a:schemeClr val="tx1"/>
                </a:solidFill>
              </a:rPr>
              <a:t>Modular Structure</a:t>
            </a:r>
          </a:p>
        </p:txBody>
      </p:sp>
      <p:sp>
        <p:nvSpPr>
          <p:cNvPr id="3" name="Content Placeholder 2">
            <a:extLst>
              <a:ext uri="{FF2B5EF4-FFF2-40B4-BE49-F238E27FC236}">
                <a16:creationId xmlns:a16="http://schemas.microsoft.com/office/drawing/2014/main" id="{E7E94D0B-9545-F96E-442B-8AD19E5D353C}"/>
              </a:ext>
            </a:extLst>
          </p:cNvPr>
          <p:cNvSpPr>
            <a:spLocks noGrp="1"/>
          </p:cNvSpPr>
          <p:nvPr>
            <p:ph idx="1"/>
          </p:nvPr>
        </p:nvSpPr>
        <p:spPr>
          <a:xfrm>
            <a:off x="1295402" y="2485709"/>
            <a:ext cx="9715363" cy="3880773"/>
          </a:xfrm>
        </p:spPr>
        <p:txBody>
          <a:bodyPr>
            <a:normAutofit/>
          </a:bodyPr>
          <a:lstStyle/>
          <a:p>
            <a:pPr>
              <a:buFont typeface="Wingdings" panose="05000000000000000000" pitchFamily="2" charset="2"/>
              <a:buChar char="q"/>
            </a:pPr>
            <a:r>
              <a:rPr lang="en-US" sz="1600" b="1" dirty="0"/>
              <a:t>Modular Structure</a:t>
            </a:r>
          </a:p>
          <a:p>
            <a:pPr marL="0" indent="0">
              <a:buNone/>
            </a:pPr>
            <a:r>
              <a:rPr lang="en-US" sz="1600" dirty="0"/>
              <a:t>ERP systems are divided into separate modules, each handling a specific business function—like Finance, HR, Sales, Inventory, or Production—while remaining interconnected for seamless data flow.</a:t>
            </a:r>
          </a:p>
          <a:p>
            <a:pPr>
              <a:buFont typeface="Wingdings" panose="05000000000000000000" pitchFamily="2" charset="2"/>
              <a:buChar char="Ø"/>
            </a:pPr>
            <a:r>
              <a:rPr lang="en-US" sz="1600" b="1" dirty="0"/>
              <a:t>Example:</a:t>
            </a:r>
            <a:br>
              <a:rPr lang="en-US" sz="1600" dirty="0"/>
            </a:br>
            <a:r>
              <a:rPr lang="en-US" sz="1600" dirty="0"/>
              <a:t>Updating employee details in the HR module automatically reflects in payroll and attendance modules without duplicate entries.</a:t>
            </a:r>
          </a:p>
        </p:txBody>
      </p:sp>
    </p:spTree>
    <p:extLst>
      <p:ext uri="{BB962C8B-B14F-4D97-AF65-F5344CB8AC3E}">
        <p14:creationId xmlns:p14="http://schemas.microsoft.com/office/powerpoint/2010/main" val="2779954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A8A2-5514-80DF-5A0E-9F56F206D96E}"/>
              </a:ext>
            </a:extLst>
          </p:cNvPr>
          <p:cNvSpPr>
            <a:spLocks noGrp="1"/>
          </p:cNvSpPr>
          <p:nvPr>
            <p:ph type="title"/>
          </p:nvPr>
        </p:nvSpPr>
        <p:spPr>
          <a:xfrm>
            <a:off x="1295402" y="1676400"/>
            <a:ext cx="9601196" cy="609599"/>
          </a:xfrm>
        </p:spPr>
        <p:txBody>
          <a:bodyPr>
            <a:normAutofit fontScale="90000"/>
          </a:bodyPr>
          <a:lstStyle/>
          <a:p>
            <a:r>
              <a:rPr lang="en-IN" b="1" dirty="0">
                <a:solidFill>
                  <a:schemeClr val="tx1"/>
                </a:solidFill>
              </a:rPr>
              <a:t>Cloud and On-Premise Deployment</a:t>
            </a:r>
          </a:p>
        </p:txBody>
      </p:sp>
      <p:sp>
        <p:nvSpPr>
          <p:cNvPr id="3" name="Content Placeholder 2">
            <a:extLst>
              <a:ext uri="{FF2B5EF4-FFF2-40B4-BE49-F238E27FC236}">
                <a16:creationId xmlns:a16="http://schemas.microsoft.com/office/drawing/2014/main" id="{605125EC-8333-73D3-1AE2-8B49C22ED94D}"/>
              </a:ext>
            </a:extLst>
          </p:cNvPr>
          <p:cNvSpPr>
            <a:spLocks noGrp="1"/>
          </p:cNvSpPr>
          <p:nvPr>
            <p:ph idx="1"/>
          </p:nvPr>
        </p:nvSpPr>
        <p:spPr/>
        <p:txBody>
          <a:bodyPr>
            <a:normAutofit/>
          </a:bodyPr>
          <a:lstStyle/>
          <a:p>
            <a:pPr>
              <a:buFont typeface="Wingdings" panose="05000000000000000000" pitchFamily="2" charset="2"/>
              <a:buChar char="q"/>
            </a:pPr>
            <a:r>
              <a:rPr lang="en-US" sz="1600" b="1" dirty="0">
                <a:latin typeface="+mj-lt"/>
              </a:rPr>
              <a:t>Cloud and On-Premise Deployment</a:t>
            </a:r>
          </a:p>
          <a:p>
            <a:pPr marL="0" indent="0">
              <a:buNone/>
            </a:pPr>
            <a:r>
              <a:rPr lang="en-US" sz="1600" dirty="0">
                <a:latin typeface="+mj-lt"/>
              </a:rPr>
              <a:t>ERP systems can be deployed either on the </a:t>
            </a:r>
            <a:r>
              <a:rPr lang="en-US" sz="1600" b="1" dirty="0">
                <a:latin typeface="+mj-lt"/>
              </a:rPr>
              <a:t>cloud</a:t>
            </a:r>
            <a:r>
              <a:rPr lang="en-US" sz="1600" dirty="0">
                <a:latin typeface="+mj-lt"/>
              </a:rPr>
              <a:t> (hosted by a service provider and accessed via the Internet) or </a:t>
            </a:r>
            <a:r>
              <a:rPr lang="en-US" sz="1600" b="1" dirty="0">
                <a:latin typeface="+mj-lt"/>
              </a:rPr>
              <a:t>on-premise</a:t>
            </a:r>
            <a:r>
              <a:rPr lang="en-US" sz="1600" dirty="0">
                <a:latin typeface="+mj-lt"/>
              </a:rPr>
              <a:t> (installed locally on the organization’s servers), depending on business needs.</a:t>
            </a:r>
          </a:p>
          <a:p>
            <a:pPr>
              <a:buFont typeface="Wingdings" panose="05000000000000000000" pitchFamily="2" charset="2"/>
              <a:buChar char="Ø"/>
            </a:pPr>
            <a:r>
              <a:rPr lang="en-US" sz="1600" b="1" dirty="0">
                <a:latin typeface="+mj-lt"/>
              </a:rPr>
              <a:t>Example:</a:t>
            </a:r>
            <a:endParaRPr lang="en-US" sz="1600" dirty="0">
              <a:latin typeface="+mj-lt"/>
            </a:endParaRPr>
          </a:p>
          <a:p>
            <a:pPr>
              <a:buFont typeface="Wingdings" panose="05000000000000000000" pitchFamily="2" charset="2"/>
              <a:buChar char="ü"/>
            </a:pPr>
            <a:r>
              <a:rPr lang="en-US" sz="1600" b="1" dirty="0">
                <a:latin typeface="+mj-lt"/>
              </a:rPr>
              <a:t>Cloud ERP:</a:t>
            </a:r>
            <a:r>
              <a:rPr lang="en-US" sz="1600" dirty="0">
                <a:latin typeface="+mj-lt"/>
              </a:rPr>
              <a:t> Microsoft Dynamics 365, NetSuite – accessible from anywhere with internet.</a:t>
            </a:r>
          </a:p>
          <a:p>
            <a:pPr>
              <a:buFont typeface="Wingdings" panose="05000000000000000000" pitchFamily="2" charset="2"/>
              <a:buChar char="ü"/>
            </a:pPr>
            <a:r>
              <a:rPr lang="en-US" sz="1600" b="1" dirty="0">
                <a:latin typeface="+mj-lt"/>
              </a:rPr>
              <a:t>On-Premise ERP:</a:t>
            </a:r>
            <a:r>
              <a:rPr lang="en-US" sz="1600" dirty="0">
                <a:latin typeface="+mj-lt"/>
              </a:rPr>
              <a:t> SAP ERP installed on a company’s internal servers for full control and customization.</a:t>
            </a:r>
          </a:p>
        </p:txBody>
      </p:sp>
    </p:spTree>
    <p:extLst>
      <p:ext uri="{BB962C8B-B14F-4D97-AF65-F5344CB8AC3E}">
        <p14:creationId xmlns:p14="http://schemas.microsoft.com/office/powerpoint/2010/main" val="1927604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127B-F478-F5DE-3A99-90BDF4F36617}"/>
              </a:ext>
            </a:extLst>
          </p:cNvPr>
          <p:cNvSpPr>
            <a:spLocks noGrp="1"/>
          </p:cNvSpPr>
          <p:nvPr>
            <p:ph type="title"/>
          </p:nvPr>
        </p:nvSpPr>
        <p:spPr>
          <a:xfrm>
            <a:off x="1295402" y="1256452"/>
            <a:ext cx="9601196" cy="1303867"/>
          </a:xfrm>
        </p:spPr>
        <p:txBody>
          <a:bodyPr/>
          <a:lstStyle/>
          <a:p>
            <a:r>
              <a:rPr lang="en-IN" b="1" dirty="0">
                <a:solidFill>
                  <a:schemeClr val="tx1"/>
                </a:solidFill>
              </a:rPr>
              <a:t>Security and Access Control</a:t>
            </a:r>
          </a:p>
        </p:txBody>
      </p:sp>
      <p:sp>
        <p:nvSpPr>
          <p:cNvPr id="4" name="Rectangle 1">
            <a:extLst>
              <a:ext uri="{FF2B5EF4-FFF2-40B4-BE49-F238E27FC236}">
                <a16:creationId xmlns:a16="http://schemas.microsoft.com/office/drawing/2014/main" id="{6D4278F0-05B4-161F-AF9D-DD09467AA744}"/>
              </a:ext>
            </a:extLst>
          </p:cNvPr>
          <p:cNvSpPr>
            <a:spLocks noGrp="1" noChangeArrowheads="1"/>
          </p:cNvSpPr>
          <p:nvPr>
            <p:ph idx="1"/>
          </p:nvPr>
        </p:nvSpPr>
        <p:spPr bwMode="auto">
          <a:xfrm>
            <a:off x="1295402" y="2637392"/>
            <a:ext cx="9862847" cy="182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sz="1600" b="1" dirty="0"/>
              <a:t>Security and Access Control</a:t>
            </a:r>
          </a:p>
          <a:p>
            <a:pPr marL="0" indent="0">
              <a:buNone/>
            </a:pPr>
            <a:r>
              <a:rPr lang="en-US" sz="1600" dirty="0"/>
              <a:t>ERP systems provide robust security features to protect sensitive business data and allow administrators to control who can access or modify specific information.</a:t>
            </a:r>
          </a:p>
          <a:p>
            <a:pPr>
              <a:buFont typeface="Wingdings" panose="05000000000000000000" pitchFamily="2" charset="2"/>
              <a:buChar char="Ø"/>
            </a:pPr>
            <a:r>
              <a:rPr lang="en-US" sz="1600" b="1" dirty="0"/>
              <a:t>Example:</a:t>
            </a:r>
            <a:br>
              <a:rPr lang="en-US" sz="1600" dirty="0"/>
            </a:br>
            <a:r>
              <a:rPr lang="en-US" sz="1600" dirty="0"/>
              <a:t>Only the finance team can access payroll data, while sales staff can access customer orders, ensure data privacy and prevent unauthorized changes.</a:t>
            </a:r>
          </a:p>
        </p:txBody>
      </p:sp>
    </p:spTree>
    <p:extLst>
      <p:ext uri="{BB962C8B-B14F-4D97-AF65-F5344CB8AC3E}">
        <p14:creationId xmlns:p14="http://schemas.microsoft.com/office/powerpoint/2010/main" val="3651744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8CE8-04F6-6C53-8B25-121177424F12}"/>
              </a:ext>
            </a:extLst>
          </p:cNvPr>
          <p:cNvSpPr>
            <a:spLocks noGrp="1"/>
          </p:cNvSpPr>
          <p:nvPr>
            <p:ph type="title"/>
          </p:nvPr>
        </p:nvSpPr>
        <p:spPr>
          <a:xfrm>
            <a:off x="1295402" y="1473200"/>
            <a:ext cx="9601196" cy="934719"/>
          </a:xfrm>
        </p:spPr>
        <p:txBody>
          <a:bodyPr/>
          <a:lstStyle/>
          <a:p>
            <a:r>
              <a:rPr lang="en-IN" b="1" dirty="0">
                <a:solidFill>
                  <a:schemeClr val="tx1"/>
                </a:solidFill>
              </a:rPr>
              <a:t>Continuous Updates and Scalability</a:t>
            </a:r>
          </a:p>
        </p:txBody>
      </p:sp>
      <p:sp>
        <p:nvSpPr>
          <p:cNvPr id="4" name="Rectangle 1">
            <a:extLst>
              <a:ext uri="{FF2B5EF4-FFF2-40B4-BE49-F238E27FC236}">
                <a16:creationId xmlns:a16="http://schemas.microsoft.com/office/drawing/2014/main" id="{415A1C47-2BA4-7B4D-7965-6CF7B78CE5AE}"/>
              </a:ext>
            </a:extLst>
          </p:cNvPr>
          <p:cNvSpPr>
            <a:spLocks noGrp="1" noChangeArrowheads="1"/>
          </p:cNvSpPr>
          <p:nvPr>
            <p:ph idx="1"/>
          </p:nvPr>
        </p:nvSpPr>
        <p:spPr bwMode="auto">
          <a:xfrm>
            <a:off x="1469376" y="2856586"/>
            <a:ext cx="9253247" cy="1449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sz="1600" dirty="0"/>
              <a:t>ERP systems are designed to evolve with the organization, offering regular software updates, new features, and the ability to scale resources as the business grows.</a:t>
            </a:r>
          </a:p>
          <a:p>
            <a:pPr>
              <a:buFont typeface="Wingdings" panose="05000000000000000000" pitchFamily="2" charset="2"/>
              <a:buChar char="Ø"/>
            </a:pPr>
            <a:r>
              <a:rPr lang="en-US" sz="1600" b="1" dirty="0"/>
              <a:t>Example:</a:t>
            </a:r>
            <a:br>
              <a:rPr lang="en-US" sz="1600" dirty="0"/>
            </a:br>
            <a:r>
              <a:rPr lang="en-US" sz="1600" dirty="0"/>
              <a:t>A growing company can add new users, departments, or additional modules (like CRM or Supply Chain) without disrupting existing operations.</a:t>
            </a:r>
          </a:p>
        </p:txBody>
      </p:sp>
    </p:spTree>
    <p:extLst>
      <p:ext uri="{BB962C8B-B14F-4D97-AF65-F5344CB8AC3E}">
        <p14:creationId xmlns:p14="http://schemas.microsoft.com/office/powerpoint/2010/main" val="4223041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F59B2-A0F1-C38C-BEEB-736649D94A84}"/>
              </a:ext>
            </a:extLst>
          </p:cNvPr>
          <p:cNvSpPr>
            <a:spLocks noGrp="1"/>
          </p:cNvSpPr>
          <p:nvPr>
            <p:ph type="title"/>
          </p:nvPr>
        </p:nvSpPr>
        <p:spPr>
          <a:xfrm>
            <a:off x="1646903" y="1046480"/>
            <a:ext cx="8596668" cy="1148080"/>
          </a:xfrm>
        </p:spPr>
        <p:txBody>
          <a:bodyPr>
            <a:noAutofit/>
          </a:bodyPr>
          <a:lstStyle/>
          <a:p>
            <a:r>
              <a:rPr lang="en-IN" b="1" dirty="0">
                <a:solidFill>
                  <a:schemeClr val="tx1"/>
                </a:solidFill>
              </a:rPr>
              <a:t>Types of ERP</a:t>
            </a:r>
          </a:p>
        </p:txBody>
      </p:sp>
      <p:graphicFrame>
        <p:nvGraphicFramePr>
          <p:cNvPr id="4" name="Content Placeholder 3">
            <a:extLst>
              <a:ext uri="{FF2B5EF4-FFF2-40B4-BE49-F238E27FC236}">
                <a16:creationId xmlns:a16="http://schemas.microsoft.com/office/drawing/2014/main" id="{576EC0B2-FE54-4B04-14A3-823CFB09F5FB}"/>
              </a:ext>
            </a:extLst>
          </p:cNvPr>
          <p:cNvGraphicFramePr>
            <a:graphicFrameLocks noGrp="1"/>
          </p:cNvGraphicFramePr>
          <p:nvPr>
            <p:ph idx="1"/>
            <p:extLst>
              <p:ext uri="{D42A27DB-BD31-4B8C-83A1-F6EECF244321}">
                <p14:modId xmlns:p14="http://schemas.microsoft.com/office/powerpoint/2010/main" val="1509901857"/>
              </p:ext>
            </p:extLst>
          </p:nvPr>
        </p:nvGraphicFramePr>
        <p:xfrm>
          <a:off x="833120" y="2396903"/>
          <a:ext cx="10525760" cy="3736460"/>
        </p:xfrm>
        <a:graphic>
          <a:graphicData uri="http://schemas.openxmlformats.org/drawingml/2006/table">
            <a:tbl>
              <a:tblPr/>
              <a:tblGrid>
                <a:gridCol w="3487472">
                  <a:extLst>
                    <a:ext uri="{9D8B030D-6E8A-4147-A177-3AD203B41FA5}">
                      <a16:colId xmlns:a16="http://schemas.microsoft.com/office/drawing/2014/main" val="2502700109"/>
                    </a:ext>
                  </a:extLst>
                </a:gridCol>
                <a:gridCol w="3519144">
                  <a:extLst>
                    <a:ext uri="{9D8B030D-6E8A-4147-A177-3AD203B41FA5}">
                      <a16:colId xmlns:a16="http://schemas.microsoft.com/office/drawing/2014/main" val="3210799791"/>
                    </a:ext>
                  </a:extLst>
                </a:gridCol>
                <a:gridCol w="3519144">
                  <a:extLst>
                    <a:ext uri="{9D8B030D-6E8A-4147-A177-3AD203B41FA5}">
                      <a16:colId xmlns:a16="http://schemas.microsoft.com/office/drawing/2014/main" val="1260199815"/>
                    </a:ext>
                  </a:extLst>
                </a:gridCol>
              </a:tblGrid>
              <a:tr h="401701">
                <a:tc>
                  <a:txBody>
                    <a:bodyPr/>
                    <a:lstStyle/>
                    <a:p>
                      <a:pPr>
                        <a:buNone/>
                      </a:pPr>
                      <a:r>
                        <a:rPr lang="en-IN" sz="2000" b="1" dirty="0"/>
                        <a:t>Type of ERP</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Deployment</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Best For</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993452"/>
                  </a:ext>
                </a:extLst>
              </a:tr>
              <a:tr h="401701">
                <a:tc>
                  <a:txBody>
                    <a:bodyPr/>
                    <a:lstStyle/>
                    <a:p>
                      <a:pPr>
                        <a:buNone/>
                      </a:pPr>
                      <a:r>
                        <a:rPr lang="en-IN" sz="2000" dirty="0"/>
                        <a:t>On-Premise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Local servers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Large enterprises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0771524"/>
                  </a:ext>
                </a:extLst>
              </a:tr>
              <a:tr h="401701">
                <a:tc>
                  <a:txBody>
                    <a:bodyPr/>
                    <a:lstStyle/>
                    <a:p>
                      <a:pPr>
                        <a:buNone/>
                      </a:pPr>
                      <a:r>
                        <a:rPr lang="en-IN" sz="2000" dirty="0"/>
                        <a:t>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Online/cloud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SMEs, scalable needs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0875726"/>
                  </a:ext>
                </a:extLst>
              </a:tr>
              <a:tr h="401701">
                <a:tc>
                  <a:txBody>
                    <a:bodyPr/>
                    <a:lstStyle/>
                    <a:p>
                      <a:pPr>
                        <a:buNone/>
                      </a:pPr>
                      <a:r>
                        <a:rPr lang="en-IN" sz="2000" dirty="0"/>
                        <a:t>Hybrid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Mix of cloud + on-premise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Growing companies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70591"/>
                  </a:ext>
                </a:extLst>
              </a:tr>
              <a:tr h="663127">
                <a:tc>
                  <a:txBody>
                    <a:bodyPr/>
                    <a:lstStyle/>
                    <a:p>
                      <a:pPr>
                        <a:buNone/>
                      </a:pPr>
                      <a:r>
                        <a:rPr lang="en-IN" sz="2000" dirty="0"/>
                        <a:t>Vertical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Industry-specific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Manufacturing, healthcare, retail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9918511"/>
                  </a:ext>
                </a:extLst>
              </a:tr>
              <a:tr h="663127">
                <a:tc>
                  <a:txBody>
                    <a:bodyPr/>
                    <a:lstStyle/>
                    <a:p>
                      <a:pPr>
                        <a:buNone/>
                      </a:pPr>
                      <a:r>
                        <a:rPr lang="en-IN" sz="2000"/>
                        <a:t>Horizontal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General-purpose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Most mid &amp; large businesses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728227"/>
                  </a:ext>
                </a:extLst>
              </a:tr>
              <a:tr h="401701">
                <a:tc>
                  <a:txBody>
                    <a:bodyPr/>
                    <a:lstStyle/>
                    <a:p>
                      <a:pPr>
                        <a:buNone/>
                      </a:pPr>
                      <a:r>
                        <a:rPr lang="en-IN" sz="2000"/>
                        <a:t>Open-Source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Customizable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Startups, tech teams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313640"/>
                  </a:ext>
                </a:extLst>
              </a:tr>
              <a:tr h="401701">
                <a:tc>
                  <a:txBody>
                    <a:bodyPr/>
                    <a:lstStyle/>
                    <a:p>
                      <a:pPr>
                        <a:buNone/>
                      </a:pPr>
                      <a:r>
                        <a:rPr lang="en-IN" sz="2000"/>
                        <a:t>Small Business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Lightweight versions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Small businesses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13029"/>
                  </a:ext>
                </a:extLst>
              </a:tr>
            </a:tbl>
          </a:graphicData>
        </a:graphic>
      </p:graphicFrame>
    </p:spTree>
    <p:extLst>
      <p:ext uri="{BB962C8B-B14F-4D97-AF65-F5344CB8AC3E}">
        <p14:creationId xmlns:p14="http://schemas.microsoft.com/office/powerpoint/2010/main" val="263163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A1BB-A253-6D35-969A-8882321518A2}"/>
              </a:ext>
            </a:extLst>
          </p:cNvPr>
          <p:cNvSpPr>
            <a:spLocks noGrp="1"/>
          </p:cNvSpPr>
          <p:nvPr>
            <p:ph type="title"/>
          </p:nvPr>
        </p:nvSpPr>
        <p:spPr>
          <a:xfrm>
            <a:off x="1295402" y="1368212"/>
            <a:ext cx="9601196" cy="1303867"/>
          </a:xfrm>
        </p:spPr>
        <p:txBody>
          <a:bodyPr/>
          <a:lstStyle/>
          <a:p>
            <a:r>
              <a:rPr lang="en-IN" b="1" dirty="0">
                <a:solidFill>
                  <a:schemeClr val="tx1"/>
                </a:solidFill>
              </a:rPr>
              <a:t>Benefits of ERP</a:t>
            </a:r>
          </a:p>
        </p:txBody>
      </p:sp>
      <p:sp>
        <p:nvSpPr>
          <p:cNvPr id="3" name="Content Placeholder 2">
            <a:extLst>
              <a:ext uri="{FF2B5EF4-FFF2-40B4-BE49-F238E27FC236}">
                <a16:creationId xmlns:a16="http://schemas.microsoft.com/office/drawing/2014/main" id="{A71E01E1-BA64-D402-C53D-8DAD2B85E28C}"/>
              </a:ext>
            </a:extLst>
          </p:cNvPr>
          <p:cNvSpPr>
            <a:spLocks noGrp="1"/>
          </p:cNvSpPr>
          <p:nvPr>
            <p:ph idx="1"/>
          </p:nvPr>
        </p:nvSpPr>
        <p:spPr>
          <a:xfrm>
            <a:off x="1185880" y="2511273"/>
            <a:ext cx="10226640" cy="4987462"/>
          </a:xfrm>
        </p:spPr>
        <p:txBody>
          <a:bodyPr>
            <a:normAutofit/>
          </a:bodyPr>
          <a:lstStyle/>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Streamlines Business Processes</a:t>
            </a:r>
            <a:r>
              <a:rPr lang="en-US" altLang="en-US" sz="1600" dirty="0">
                <a:solidFill>
                  <a:schemeClr val="tx1"/>
                </a:solidFill>
              </a:rPr>
              <a:t> – Integrates all departments into a single system for smoother operations.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Improves Efficiency</a:t>
            </a:r>
            <a:r>
              <a:rPr lang="en-US" altLang="en-US" sz="1600" dirty="0">
                <a:solidFill>
                  <a:schemeClr val="tx1"/>
                </a:solidFill>
              </a:rPr>
              <a:t> – Automates routine tasks, reducing manual work and errors.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Real-Time Data Access</a:t>
            </a:r>
            <a:r>
              <a:rPr lang="en-US" altLang="en-US" sz="1600" dirty="0">
                <a:solidFill>
                  <a:schemeClr val="tx1"/>
                </a:solidFill>
              </a:rPr>
              <a:t> – Provides up-to-date information for faster, better decision-making.</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Cost Reduction</a:t>
            </a:r>
            <a:r>
              <a:rPr lang="en-US" altLang="en-US" sz="1600" dirty="0">
                <a:solidFill>
                  <a:schemeClr val="tx1"/>
                </a:solidFill>
              </a:rPr>
              <a:t> – Minimizes operational and administrative costs.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Enhanced Collaboration</a:t>
            </a:r>
            <a:r>
              <a:rPr lang="en-US" altLang="en-US" sz="1600" dirty="0">
                <a:solidFill>
                  <a:schemeClr val="tx1"/>
                </a:solidFill>
              </a:rPr>
              <a:t> – Improves communication and coordination between departments.</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Better Reporting &amp; Analytics</a:t>
            </a:r>
            <a:r>
              <a:rPr lang="en-US" altLang="en-US" sz="1600" dirty="0">
                <a:solidFill>
                  <a:schemeClr val="tx1"/>
                </a:solidFill>
              </a:rPr>
              <a:t> – Generates accurate reports and insights for management.</a:t>
            </a:r>
          </a:p>
          <a:p>
            <a:pPr lvl="0" defTabSz="914400" eaLnBrk="0" fontAlgn="base" hangingPunct="0">
              <a:lnSpc>
                <a:spcPct val="150000"/>
              </a:lnSpc>
              <a:spcBef>
                <a:spcPct val="0"/>
              </a:spcBef>
              <a:spcAft>
                <a:spcPct val="0"/>
              </a:spcAft>
              <a:buSzTx/>
              <a:buFont typeface="Wingdings" panose="05000000000000000000" pitchFamily="2" charset="2"/>
              <a:buChar char="Ø"/>
            </a:pPr>
            <a:r>
              <a:rPr lang="en-US" altLang="en-US" sz="1600" b="1" dirty="0">
                <a:solidFill>
                  <a:schemeClr val="tx1"/>
                </a:solidFill>
              </a:rPr>
              <a:t>Scalability</a:t>
            </a:r>
            <a:r>
              <a:rPr lang="en-US" altLang="en-US" sz="1600" dirty="0">
                <a:solidFill>
                  <a:schemeClr val="tx1"/>
                </a:solidFill>
              </a:rPr>
              <a:t> – Can grow and adapt as the organization’s needs increase.</a:t>
            </a:r>
          </a:p>
        </p:txBody>
      </p:sp>
    </p:spTree>
    <p:extLst>
      <p:ext uri="{BB962C8B-B14F-4D97-AF65-F5344CB8AC3E}">
        <p14:creationId xmlns:p14="http://schemas.microsoft.com/office/powerpoint/2010/main" val="346469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725F-4456-3544-DF4C-7568AF55FB82}"/>
              </a:ext>
            </a:extLst>
          </p:cNvPr>
          <p:cNvSpPr>
            <a:spLocks noGrp="1"/>
          </p:cNvSpPr>
          <p:nvPr>
            <p:ph type="title"/>
          </p:nvPr>
        </p:nvSpPr>
        <p:spPr>
          <a:xfrm>
            <a:off x="1868786" y="619760"/>
            <a:ext cx="8596668" cy="757084"/>
          </a:xfrm>
        </p:spPr>
        <p:txBody>
          <a:bodyPr>
            <a:noAutofit/>
          </a:bodyPr>
          <a:lstStyle/>
          <a:p>
            <a:r>
              <a:rPr lang="en-IN" b="1" dirty="0">
                <a:solidFill>
                  <a:schemeClr val="tx1"/>
                </a:solidFill>
              </a:rPr>
              <a:t>ERP vs CRM</a:t>
            </a:r>
          </a:p>
        </p:txBody>
      </p:sp>
      <p:graphicFrame>
        <p:nvGraphicFramePr>
          <p:cNvPr id="4" name="Content Placeholder 3">
            <a:extLst>
              <a:ext uri="{FF2B5EF4-FFF2-40B4-BE49-F238E27FC236}">
                <a16:creationId xmlns:a16="http://schemas.microsoft.com/office/drawing/2014/main" id="{26E22952-15A2-3338-E097-11F91D9C89AE}"/>
              </a:ext>
            </a:extLst>
          </p:cNvPr>
          <p:cNvGraphicFramePr>
            <a:graphicFrameLocks noGrp="1"/>
          </p:cNvGraphicFramePr>
          <p:nvPr>
            <p:ph idx="1"/>
            <p:extLst>
              <p:ext uri="{D42A27DB-BD31-4B8C-83A1-F6EECF244321}">
                <p14:modId xmlns:p14="http://schemas.microsoft.com/office/powerpoint/2010/main" val="1883267923"/>
              </p:ext>
            </p:extLst>
          </p:nvPr>
        </p:nvGraphicFramePr>
        <p:xfrm>
          <a:off x="677863" y="1455173"/>
          <a:ext cx="10707892" cy="4686499"/>
        </p:xfrm>
        <a:graphic>
          <a:graphicData uri="http://schemas.openxmlformats.org/drawingml/2006/table">
            <a:tbl>
              <a:tblPr firstRow="1" bandRow="1">
                <a:tableStyleId>{5C22544A-7EE6-4342-B048-85BDC9FD1C3A}</a:tableStyleId>
              </a:tblPr>
              <a:tblGrid>
                <a:gridCol w="1815589">
                  <a:extLst>
                    <a:ext uri="{9D8B030D-6E8A-4147-A177-3AD203B41FA5}">
                      <a16:colId xmlns:a16="http://schemas.microsoft.com/office/drawing/2014/main" val="3032435645"/>
                    </a:ext>
                  </a:extLst>
                </a:gridCol>
                <a:gridCol w="4338757">
                  <a:extLst>
                    <a:ext uri="{9D8B030D-6E8A-4147-A177-3AD203B41FA5}">
                      <a16:colId xmlns:a16="http://schemas.microsoft.com/office/drawing/2014/main" val="4274318791"/>
                    </a:ext>
                  </a:extLst>
                </a:gridCol>
                <a:gridCol w="4553546">
                  <a:extLst>
                    <a:ext uri="{9D8B030D-6E8A-4147-A177-3AD203B41FA5}">
                      <a16:colId xmlns:a16="http://schemas.microsoft.com/office/drawing/2014/main" val="898027886"/>
                    </a:ext>
                  </a:extLst>
                </a:gridCol>
              </a:tblGrid>
              <a:tr h="442453">
                <a:tc>
                  <a:txBody>
                    <a:bodyPr/>
                    <a:lstStyle/>
                    <a:p>
                      <a:pPr algn="ctr"/>
                      <a:r>
                        <a:rPr lang="en-IN" sz="1800" b="0" i="0" kern="1200" dirty="0">
                          <a:solidFill>
                            <a:schemeClr val="tx1"/>
                          </a:solidFill>
                          <a:effectLst/>
                          <a:latin typeface="+mn-lt"/>
                          <a:ea typeface="+mn-ea"/>
                          <a:cs typeface="+mn-cs"/>
                        </a:rPr>
                        <a:t>Aspect</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b="0" dirty="0">
                          <a:solidFill>
                            <a:schemeClr val="tx1"/>
                          </a:solidFill>
                        </a:rPr>
                        <a:t>ERP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b="0" dirty="0">
                          <a:solidFill>
                            <a:schemeClr val="tx1"/>
                          </a:solidFill>
                        </a:rPr>
                        <a:t>CRM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5788487"/>
                  </a:ext>
                </a:extLst>
              </a:tr>
              <a:tr h="769326">
                <a:tc>
                  <a:txBody>
                    <a:bodyPr/>
                    <a:lstStyle/>
                    <a:p>
                      <a:r>
                        <a:rPr lang="en-IN" b="0" dirty="0"/>
                        <a:t>Purpose</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Manages internal business processes like finance, HR, inventory, supply chain, production, etc.</a:t>
                      </a:r>
                    </a:p>
                    <a:p>
                      <a:r>
                        <a:rPr lang="en-US" b="0" dirty="0"/>
                        <a:t>Focuses on business operations and 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Manages customer-related activities like sales, customer service, marketing.</a:t>
                      </a:r>
                    </a:p>
                    <a:p>
                      <a:r>
                        <a:rPr lang="en-US" b="0" dirty="0"/>
                        <a:t>Focuses on improving customer relationships and sales growth.</a:t>
                      </a:r>
                    </a:p>
                    <a:p>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2692346"/>
                  </a:ext>
                </a:extLst>
              </a:tr>
              <a:tr h="7693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b="0" dirty="0"/>
                        <a:t>Key Functions</a:t>
                      </a:r>
                    </a:p>
                    <a:p>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b="0" dirty="0"/>
                        <a:t>Accounting &amp; Finance</a:t>
                      </a:r>
                    </a:p>
                    <a:p>
                      <a:pPr marL="285750" indent="-285750">
                        <a:buFont typeface="Arial" panose="020B0604020202020204" pitchFamily="34" charset="0"/>
                        <a:buChar char="•"/>
                      </a:pPr>
                      <a:r>
                        <a:rPr lang="en-US" b="0" dirty="0"/>
                        <a:t>Inventory Management</a:t>
                      </a:r>
                    </a:p>
                    <a:p>
                      <a:pPr marL="285750" indent="-285750">
                        <a:buFont typeface="Arial" panose="020B0604020202020204" pitchFamily="34" charset="0"/>
                        <a:buChar char="•"/>
                      </a:pPr>
                      <a:r>
                        <a:rPr lang="en-US" b="0" dirty="0"/>
                        <a:t>HR &amp; Payroll</a:t>
                      </a:r>
                    </a:p>
                    <a:p>
                      <a:pPr marL="285750" indent="-285750">
                        <a:buFont typeface="Arial" panose="020B0604020202020204" pitchFamily="34" charset="0"/>
                        <a:buChar char="•"/>
                      </a:pPr>
                      <a:r>
                        <a:rPr lang="en-US" b="0" dirty="0"/>
                        <a:t>Procurement</a:t>
                      </a:r>
                    </a:p>
                    <a:p>
                      <a:pPr marL="285750" indent="-285750">
                        <a:buFont typeface="Arial" panose="020B0604020202020204" pitchFamily="34" charset="0"/>
                        <a:buChar char="•"/>
                      </a:pPr>
                      <a:r>
                        <a:rPr lang="en-US" b="0" dirty="0"/>
                        <a:t>Supply Chain</a:t>
                      </a:r>
                    </a:p>
                    <a:p>
                      <a:pPr marL="285750" indent="-285750">
                        <a:buFont typeface="Arial" panose="020B0604020202020204" pitchFamily="34" charset="0"/>
                        <a:buChar char="•"/>
                      </a:pPr>
                      <a:r>
                        <a:rPr lang="en-US" b="0" dirty="0"/>
                        <a:t>Manufacturing</a:t>
                      </a:r>
                    </a:p>
                    <a:p>
                      <a:pPr marL="285750" indent="-285750">
                        <a:buFont typeface="Arial" panose="020B0604020202020204" pitchFamily="34" charset="0"/>
                        <a:buChar char="•"/>
                      </a:pPr>
                      <a:r>
                        <a:rPr lang="en-US" b="0" dirty="0"/>
                        <a:t>Production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Lead Management</a:t>
                      </a:r>
                    </a:p>
                    <a:p>
                      <a:r>
                        <a:rPr lang="en-US" b="0" dirty="0"/>
                        <a:t>Sales Tracking</a:t>
                      </a:r>
                    </a:p>
                    <a:p>
                      <a:r>
                        <a:rPr lang="en-US" b="0" dirty="0"/>
                        <a:t>Customer Support</a:t>
                      </a:r>
                    </a:p>
                    <a:p>
                      <a:r>
                        <a:rPr lang="en-US" b="0" dirty="0"/>
                        <a:t>Marketing Campaigns</a:t>
                      </a:r>
                    </a:p>
                    <a:p>
                      <a:r>
                        <a:rPr lang="en-US" b="0" dirty="0"/>
                        <a:t>Contact Management</a:t>
                      </a:r>
                    </a:p>
                    <a:p>
                      <a:r>
                        <a:rPr lang="en-US" b="0" dirty="0"/>
                        <a:t>Service Tickets</a:t>
                      </a:r>
                    </a:p>
                    <a:p>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7590769"/>
                  </a:ext>
                </a:extLst>
              </a:tr>
              <a:tr h="769326">
                <a:tc>
                  <a:txBody>
                    <a:bodyPr/>
                    <a:lstStyle/>
                    <a:p>
                      <a:r>
                        <a:rPr lang="en-IN" b="0" dirty="0"/>
                        <a:t>Data Handled</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Internal data (suppliers, employees, inventory, costs).</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Customer data (leads, buying behavior, communication history).</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249491"/>
                  </a:ext>
                </a:extLst>
              </a:tr>
            </a:tbl>
          </a:graphicData>
        </a:graphic>
      </p:graphicFrame>
    </p:spTree>
    <p:extLst>
      <p:ext uri="{BB962C8B-B14F-4D97-AF65-F5344CB8AC3E}">
        <p14:creationId xmlns:p14="http://schemas.microsoft.com/office/powerpoint/2010/main" val="3074387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740A-EDF0-1626-4C1D-FA9FBF0BD011}"/>
              </a:ext>
            </a:extLst>
          </p:cNvPr>
          <p:cNvSpPr>
            <a:spLocks noGrp="1"/>
          </p:cNvSpPr>
          <p:nvPr>
            <p:ph type="title"/>
          </p:nvPr>
        </p:nvSpPr>
        <p:spPr>
          <a:xfrm>
            <a:off x="1797666" y="782320"/>
            <a:ext cx="8596668" cy="766916"/>
          </a:xfrm>
        </p:spPr>
        <p:txBody>
          <a:bodyPr/>
          <a:lstStyle/>
          <a:p>
            <a:r>
              <a:rPr lang="en-IN" b="1" dirty="0">
                <a:solidFill>
                  <a:schemeClr val="tx1"/>
                </a:solidFill>
              </a:rPr>
              <a:t>ERP vs CRM</a:t>
            </a:r>
            <a:endParaRPr lang="en-IN" dirty="0"/>
          </a:p>
        </p:txBody>
      </p:sp>
      <p:graphicFrame>
        <p:nvGraphicFramePr>
          <p:cNvPr id="5" name="Content Placeholder 4">
            <a:extLst>
              <a:ext uri="{FF2B5EF4-FFF2-40B4-BE49-F238E27FC236}">
                <a16:creationId xmlns:a16="http://schemas.microsoft.com/office/drawing/2014/main" id="{8862101F-EC3B-1588-B5FE-A0EC48A97FB5}"/>
              </a:ext>
            </a:extLst>
          </p:cNvPr>
          <p:cNvGraphicFramePr>
            <a:graphicFrameLocks noGrp="1"/>
          </p:cNvGraphicFramePr>
          <p:nvPr>
            <p:ph idx="1"/>
            <p:extLst>
              <p:ext uri="{D42A27DB-BD31-4B8C-83A1-F6EECF244321}">
                <p14:modId xmlns:p14="http://schemas.microsoft.com/office/powerpoint/2010/main" val="2561373312"/>
              </p:ext>
            </p:extLst>
          </p:nvPr>
        </p:nvGraphicFramePr>
        <p:xfrm>
          <a:off x="874789" y="1871733"/>
          <a:ext cx="10442421" cy="3287614"/>
        </p:xfrm>
        <a:graphic>
          <a:graphicData uri="http://schemas.openxmlformats.org/drawingml/2006/table">
            <a:tbl>
              <a:tblPr firstRow="1" bandRow="1">
                <a:tableStyleId>{5C22544A-7EE6-4342-B048-85BDC9FD1C3A}</a:tableStyleId>
              </a:tblPr>
              <a:tblGrid>
                <a:gridCol w="1740872">
                  <a:extLst>
                    <a:ext uri="{9D8B030D-6E8A-4147-A177-3AD203B41FA5}">
                      <a16:colId xmlns:a16="http://schemas.microsoft.com/office/drawing/2014/main" val="68092935"/>
                    </a:ext>
                  </a:extLst>
                </a:gridCol>
                <a:gridCol w="4247536">
                  <a:extLst>
                    <a:ext uri="{9D8B030D-6E8A-4147-A177-3AD203B41FA5}">
                      <a16:colId xmlns:a16="http://schemas.microsoft.com/office/drawing/2014/main" val="4014362122"/>
                    </a:ext>
                  </a:extLst>
                </a:gridCol>
                <a:gridCol w="4454013">
                  <a:extLst>
                    <a:ext uri="{9D8B030D-6E8A-4147-A177-3AD203B41FA5}">
                      <a16:colId xmlns:a16="http://schemas.microsoft.com/office/drawing/2014/main" val="2263875101"/>
                    </a:ext>
                  </a:extLst>
                </a:gridCol>
              </a:tblGrid>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Aspect</a:t>
                      </a:r>
                      <a:endParaRPr lang="en-IN" dirty="0">
                        <a:solidFill>
                          <a:schemeClr val="tx1"/>
                        </a:solidFill>
                      </a:endParaRPr>
                    </a:p>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ERP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7876902"/>
                  </a:ext>
                </a:extLst>
              </a:tr>
              <a:tr h="1323767">
                <a:tc>
                  <a:txBody>
                    <a:bodyPr/>
                    <a:lstStyle/>
                    <a:p>
                      <a:r>
                        <a:rPr lang="en-IN" dirty="0"/>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Improve </a:t>
                      </a:r>
                      <a:r>
                        <a:rPr lang="en-US" b="1" dirty="0"/>
                        <a:t>efficiency</a:t>
                      </a:r>
                      <a:r>
                        <a:rPr lang="en-US" dirty="0"/>
                        <a:t>, reduce </a:t>
                      </a:r>
                      <a:r>
                        <a:rPr lang="en-US" b="1" dirty="0"/>
                        <a:t>costs</a:t>
                      </a:r>
                      <a:r>
                        <a:rPr lang="en-US" dirty="0"/>
                        <a:t>, and streamline operations.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Improve </a:t>
                      </a:r>
                      <a:r>
                        <a:rPr lang="en-US" b="1" dirty="0"/>
                        <a:t>customer satisfaction</a:t>
                      </a:r>
                      <a:r>
                        <a:rPr lang="en-US" dirty="0"/>
                        <a:t>, increase </a:t>
                      </a:r>
                      <a:r>
                        <a:rPr lang="en-US" b="1" dirty="0"/>
                        <a:t>sales</a:t>
                      </a:r>
                      <a:r>
                        <a:rPr lang="en-US" dirty="0"/>
                        <a:t>, and build relationships.</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1992047"/>
                  </a:ext>
                </a:extLst>
              </a:tr>
              <a:tr h="1323767">
                <a:tc>
                  <a:txBody>
                    <a:bodyPr/>
                    <a:lstStyle/>
                    <a:p>
                      <a:r>
                        <a:rPr lang="en-IN" dirty="0"/>
                        <a:t>Users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Finance team, HR team, operations, logistics, manufacturing.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Sales team, marketing team, customer support.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7418235"/>
                  </a:ext>
                </a:extLst>
              </a:tr>
            </a:tbl>
          </a:graphicData>
        </a:graphic>
      </p:graphicFrame>
    </p:spTree>
    <p:extLst>
      <p:ext uri="{BB962C8B-B14F-4D97-AF65-F5344CB8AC3E}">
        <p14:creationId xmlns:p14="http://schemas.microsoft.com/office/powerpoint/2010/main" val="24859520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2C2E-6E7B-26BF-3E3B-6FC92B85852D}"/>
              </a:ext>
            </a:extLst>
          </p:cNvPr>
          <p:cNvSpPr>
            <a:spLocks noGrp="1"/>
          </p:cNvSpPr>
          <p:nvPr>
            <p:ph type="title"/>
          </p:nvPr>
        </p:nvSpPr>
        <p:spPr>
          <a:xfrm>
            <a:off x="1223679" y="1036320"/>
            <a:ext cx="9253247" cy="1320800"/>
          </a:xfrm>
        </p:spPr>
        <p:txBody>
          <a:bodyPr>
            <a:noAutofit/>
          </a:bodyPr>
          <a:lstStyle/>
          <a:p>
            <a:r>
              <a:rPr lang="en-US" sz="3600" b="1" dirty="0">
                <a:solidFill>
                  <a:schemeClr val="tx1"/>
                </a:solidFill>
              </a:rPr>
              <a:t>The Relationship between Business Strategy, IT Strategy and Alignment Capability</a:t>
            </a:r>
            <a:br>
              <a:rPr lang="en-US" sz="3600" dirty="0"/>
            </a:br>
            <a:endParaRPr lang="en-IN" sz="3600" dirty="0"/>
          </a:p>
        </p:txBody>
      </p:sp>
      <p:sp>
        <p:nvSpPr>
          <p:cNvPr id="3" name="Content Placeholder 2">
            <a:extLst>
              <a:ext uri="{FF2B5EF4-FFF2-40B4-BE49-F238E27FC236}">
                <a16:creationId xmlns:a16="http://schemas.microsoft.com/office/drawing/2014/main" id="{26D8EE1B-C0ED-EF97-E963-35F11DA2EC5C}"/>
              </a:ext>
            </a:extLst>
          </p:cNvPr>
          <p:cNvSpPr>
            <a:spLocks noGrp="1"/>
          </p:cNvSpPr>
          <p:nvPr>
            <p:ph idx="1"/>
          </p:nvPr>
        </p:nvSpPr>
        <p:spPr>
          <a:xfrm>
            <a:off x="1223679" y="2357120"/>
            <a:ext cx="9410563" cy="4190508"/>
          </a:xfrm>
        </p:spPr>
        <p:txBody>
          <a:bodyPr>
            <a:normAutofit lnSpcReduction="10000"/>
          </a:bodyPr>
          <a:lstStyle/>
          <a:p>
            <a:pPr>
              <a:buFont typeface="Wingdings" panose="05000000000000000000" pitchFamily="2" charset="2"/>
              <a:buChar char="Ø"/>
            </a:pPr>
            <a:r>
              <a:rPr lang="en-US" sz="1600" b="1" dirty="0">
                <a:latin typeface="+mj-lt"/>
              </a:rPr>
              <a:t>Business Strategy</a:t>
            </a:r>
          </a:p>
          <a:p>
            <a:r>
              <a:rPr lang="en-US" sz="1600" dirty="0">
                <a:latin typeface="+mj-lt"/>
              </a:rPr>
              <a:t>A business strategy defines the </a:t>
            </a:r>
            <a:r>
              <a:rPr lang="en-US" sz="1600" b="1" dirty="0">
                <a:latin typeface="+mj-lt"/>
              </a:rPr>
              <a:t>goals, objectives, and direction</a:t>
            </a:r>
            <a:r>
              <a:rPr lang="en-US" sz="1600" dirty="0">
                <a:latin typeface="+mj-lt"/>
              </a:rPr>
              <a:t> of an organization to achieve competitive advantage.</a:t>
            </a:r>
          </a:p>
          <a:p>
            <a:r>
              <a:rPr lang="en-US" sz="1600" b="1" dirty="0">
                <a:latin typeface="+mj-lt"/>
              </a:rPr>
              <a:t>Example:</a:t>
            </a:r>
            <a:r>
              <a:rPr lang="en-US" sz="1600" dirty="0">
                <a:latin typeface="+mj-lt"/>
              </a:rPr>
              <a:t> A retail company’s strategy might focus on providing </a:t>
            </a:r>
            <a:r>
              <a:rPr lang="en-US" sz="1600" b="1" dirty="0">
                <a:latin typeface="+mj-lt"/>
              </a:rPr>
              <a:t>fast delivery and superior customer service</a:t>
            </a:r>
            <a:r>
              <a:rPr lang="en-US" sz="1600" dirty="0">
                <a:latin typeface="+mj-lt"/>
              </a:rPr>
              <a:t>.</a:t>
            </a:r>
          </a:p>
          <a:p>
            <a:pPr>
              <a:buFont typeface="Wingdings" panose="05000000000000000000" pitchFamily="2" charset="2"/>
              <a:buChar char="Ø"/>
            </a:pPr>
            <a:r>
              <a:rPr lang="en-US" sz="1600" b="1" dirty="0">
                <a:latin typeface="+mj-lt"/>
              </a:rPr>
              <a:t> IT Strategy</a:t>
            </a:r>
          </a:p>
          <a:p>
            <a:r>
              <a:rPr lang="en-US" sz="1600" dirty="0">
                <a:latin typeface="+mj-lt"/>
              </a:rPr>
              <a:t>IT strategy is a </a:t>
            </a:r>
            <a:r>
              <a:rPr lang="en-US" sz="1600" b="1" dirty="0">
                <a:latin typeface="+mj-lt"/>
              </a:rPr>
              <a:t>plan for using technology</a:t>
            </a:r>
            <a:r>
              <a:rPr lang="en-US" sz="1600" dirty="0">
                <a:latin typeface="+mj-lt"/>
              </a:rPr>
              <a:t> to support business goals and improve efficiency, innovation, and competitive advantage.</a:t>
            </a:r>
          </a:p>
          <a:p>
            <a:r>
              <a:rPr lang="en-US" sz="1600" b="1" dirty="0">
                <a:latin typeface="+mj-lt"/>
              </a:rPr>
              <a:t>Example:</a:t>
            </a:r>
            <a:r>
              <a:rPr lang="en-US" sz="1600" dirty="0">
                <a:latin typeface="+mj-lt"/>
              </a:rPr>
              <a:t> Implementing an </a:t>
            </a:r>
            <a:r>
              <a:rPr lang="en-US" sz="1600" b="1" dirty="0">
                <a:latin typeface="+mj-lt"/>
              </a:rPr>
              <a:t>ERP system or e-commerce platform</a:t>
            </a:r>
            <a:r>
              <a:rPr lang="en-US" sz="1600" dirty="0">
                <a:latin typeface="+mj-lt"/>
              </a:rPr>
              <a:t> to support faster delivery and better customer experience.</a:t>
            </a:r>
          </a:p>
          <a:p>
            <a:pPr>
              <a:buFont typeface="Wingdings" panose="05000000000000000000" pitchFamily="2" charset="2"/>
              <a:buChar char="Ø"/>
            </a:pPr>
            <a:r>
              <a:rPr lang="en-US" sz="1600" b="1" dirty="0">
                <a:latin typeface="+mj-lt"/>
              </a:rPr>
              <a:t> Alignment Capability</a:t>
            </a:r>
          </a:p>
          <a:p>
            <a:r>
              <a:rPr lang="en-US" sz="1600" dirty="0">
                <a:latin typeface="+mj-lt"/>
              </a:rPr>
              <a:t>Alignment capability is the organization’s ability to </a:t>
            </a:r>
            <a:r>
              <a:rPr lang="en-US" sz="1600" b="1" dirty="0">
                <a:latin typeface="+mj-lt"/>
              </a:rPr>
              <a:t>align IT strategy with business strategy</a:t>
            </a:r>
            <a:r>
              <a:rPr lang="en-US" sz="1600" dirty="0">
                <a:latin typeface="+mj-lt"/>
              </a:rPr>
              <a:t> to ensure technology investments directly support business objectives.</a:t>
            </a:r>
          </a:p>
          <a:p>
            <a:r>
              <a:rPr lang="en-US" sz="1600" b="1" dirty="0">
                <a:latin typeface="+mj-lt"/>
              </a:rPr>
              <a:t>Example:</a:t>
            </a:r>
            <a:r>
              <a:rPr lang="en-US" sz="1600" dirty="0">
                <a:latin typeface="+mj-lt"/>
              </a:rPr>
              <a:t> Using IT to </a:t>
            </a:r>
            <a:r>
              <a:rPr lang="en-US" sz="1600" b="1" dirty="0">
                <a:latin typeface="+mj-lt"/>
              </a:rPr>
              <a:t>track inventory in real time</a:t>
            </a:r>
            <a:r>
              <a:rPr lang="en-US" sz="1600" dirty="0">
                <a:latin typeface="+mj-lt"/>
              </a:rPr>
              <a:t> so that the company meets its promise of fast delivery.</a:t>
            </a:r>
          </a:p>
        </p:txBody>
      </p:sp>
    </p:spTree>
    <p:extLst>
      <p:ext uri="{BB962C8B-B14F-4D97-AF65-F5344CB8AC3E}">
        <p14:creationId xmlns:p14="http://schemas.microsoft.com/office/powerpoint/2010/main" val="32966741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AC78-E65C-9D30-A6CB-1C21C7F8F0A1}"/>
              </a:ext>
            </a:extLst>
          </p:cNvPr>
          <p:cNvSpPr>
            <a:spLocks noGrp="1"/>
          </p:cNvSpPr>
          <p:nvPr>
            <p:ph type="title"/>
          </p:nvPr>
        </p:nvSpPr>
        <p:spPr>
          <a:xfrm>
            <a:off x="1399710" y="1329450"/>
            <a:ext cx="9423621" cy="1095873"/>
          </a:xfrm>
        </p:spPr>
        <p:txBody>
          <a:bodyPr>
            <a:normAutofit/>
          </a:bodyPr>
          <a:lstStyle/>
          <a:p>
            <a:r>
              <a:rPr lang="en-IN" b="1" dirty="0">
                <a:solidFill>
                  <a:schemeClr val="tx1"/>
                </a:solidFill>
              </a:rPr>
              <a:t>How They Work Together</a:t>
            </a:r>
          </a:p>
        </p:txBody>
      </p:sp>
      <p:sp>
        <p:nvSpPr>
          <p:cNvPr id="3" name="Content Placeholder 2">
            <a:extLst>
              <a:ext uri="{FF2B5EF4-FFF2-40B4-BE49-F238E27FC236}">
                <a16:creationId xmlns:a16="http://schemas.microsoft.com/office/drawing/2014/main" id="{A0D1DCEA-6F43-B87E-C074-39F208985D22}"/>
              </a:ext>
            </a:extLst>
          </p:cNvPr>
          <p:cNvSpPr>
            <a:spLocks noGrp="1"/>
          </p:cNvSpPr>
          <p:nvPr>
            <p:ph idx="1"/>
          </p:nvPr>
        </p:nvSpPr>
        <p:spPr>
          <a:xfrm>
            <a:off x="1399710" y="2425323"/>
            <a:ext cx="10216808" cy="3582285"/>
          </a:xfrm>
        </p:spPr>
        <p:txBody>
          <a:bodyPr>
            <a:normAutofit fontScale="92500"/>
          </a:bodyPr>
          <a:lstStyle/>
          <a:p>
            <a:pPr lvl="0" defTabSz="914400" eaLnBrk="0" fontAlgn="base" hangingPunct="0">
              <a:spcBef>
                <a:spcPct val="0"/>
              </a:spcBef>
              <a:spcAft>
                <a:spcPct val="0"/>
              </a:spcAft>
              <a:buSzTx/>
              <a:buFont typeface="Wingdings" panose="05000000000000000000" pitchFamily="2" charset="2"/>
              <a:buChar char="Ø"/>
            </a:pPr>
            <a:r>
              <a:rPr lang="en-US" altLang="en-US" sz="1600" b="1" u="sng" dirty="0">
                <a:solidFill>
                  <a:schemeClr val="tx1"/>
                </a:solidFill>
                <a:latin typeface="+mj-lt"/>
              </a:rPr>
              <a:t>Business Strategy Sets the Goals:-</a:t>
            </a:r>
          </a:p>
          <a:p>
            <a:pPr marL="0" lvl="0" indent="0" defTabSz="914400" eaLnBrk="0" fontAlgn="base" hangingPunct="0">
              <a:spcBef>
                <a:spcPct val="0"/>
              </a:spcBef>
              <a:spcAft>
                <a:spcPct val="0"/>
              </a:spcAft>
              <a:buSzTx/>
              <a:buNone/>
            </a:pPr>
            <a:r>
              <a:rPr lang="en-US" altLang="en-US" sz="1600" dirty="0">
                <a:solidFill>
                  <a:schemeClr val="tx1"/>
                </a:solidFill>
                <a:latin typeface="+mj-lt"/>
              </a:rPr>
              <a:t>      The organization defines its objectives, competitive priorities, and long-term vision.</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latin typeface="+mj-lt"/>
              </a:rPr>
              <a:t>Example: A company wants to increase online sales and customer satisfaction.</a:t>
            </a:r>
          </a:p>
          <a:p>
            <a:pPr lvl="0" defTabSz="914400" eaLnBrk="0" fontAlgn="base" hangingPunct="0">
              <a:spcBef>
                <a:spcPct val="0"/>
              </a:spcBef>
              <a:spcAft>
                <a:spcPct val="0"/>
              </a:spcAft>
              <a:buSzTx/>
              <a:buFont typeface="Wingdings" panose="05000000000000000000" pitchFamily="2" charset="2"/>
              <a:buChar char="Ø"/>
            </a:pPr>
            <a:endParaRPr lang="en-US" altLang="en-US" sz="1600" dirty="0">
              <a:solidFill>
                <a:schemeClr val="tx1"/>
              </a:solidFill>
              <a:latin typeface="+mj-lt"/>
            </a:endParaRPr>
          </a:p>
          <a:p>
            <a:pPr lvl="0" defTabSz="914400" eaLnBrk="0" fontAlgn="base" hangingPunct="0">
              <a:spcBef>
                <a:spcPct val="0"/>
              </a:spcBef>
              <a:spcAft>
                <a:spcPct val="0"/>
              </a:spcAft>
              <a:buSzTx/>
              <a:buFont typeface="Wingdings" panose="05000000000000000000" pitchFamily="2" charset="2"/>
              <a:buChar char="Ø"/>
            </a:pPr>
            <a:r>
              <a:rPr lang="en-US" altLang="en-US" sz="1600" b="1" u="sng" dirty="0">
                <a:solidFill>
                  <a:schemeClr val="tx1"/>
                </a:solidFill>
                <a:latin typeface="+mj-lt"/>
              </a:rPr>
              <a:t>IT Strategy Supports the Goals:-</a:t>
            </a:r>
          </a:p>
          <a:p>
            <a:pPr marL="0" lvl="0" indent="0" defTabSz="914400" eaLnBrk="0" fontAlgn="base" hangingPunct="0">
              <a:spcBef>
                <a:spcPct val="0"/>
              </a:spcBef>
              <a:spcAft>
                <a:spcPct val="0"/>
              </a:spcAft>
              <a:buSzTx/>
              <a:buNone/>
            </a:pPr>
            <a:r>
              <a:rPr lang="en-US" altLang="en-US" sz="1600" dirty="0">
                <a:solidFill>
                  <a:schemeClr val="tx1"/>
                </a:solidFill>
                <a:latin typeface="+mj-lt"/>
              </a:rPr>
              <a:t>      IT plans and implements technologies that enable the business to achieve its objectives.</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latin typeface="+mj-lt"/>
              </a:rPr>
              <a:t>Example: Developing an e-commerce platform, CRM, or ERP system.</a:t>
            </a:r>
          </a:p>
          <a:p>
            <a:pPr lvl="0" defTabSz="914400" eaLnBrk="0" fontAlgn="base" hangingPunct="0">
              <a:spcBef>
                <a:spcPct val="0"/>
              </a:spcBef>
              <a:spcAft>
                <a:spcPct val="0"/>
              </a:spcAft>
              <a:buSzTx/>
              <a:buFont typeface="Wingdings" panose="05000000000000000000" pitchFamily="2" charset="2"/>
              <a:buChar char="Ø"/>
            </a:pPr>
            <a:endParaRPr lang="en-US" altLang="en-US" sz="1600" dirty="0">
              <a:solidFill>
                <a:schemeClr val="tx1"/>
              </a:solidFill>
              <a:latin typeface="+mj-lt"/>
            </a:endParaRPr>
          </a:p>
          <a:p>
            <a:pPr lvl="0" defTabSz="914400" eaLnBrk="0" fontAlgn="base" hangingPunct="0">
              <a:spcBef>
                <a:spcPct val="0"/>
              </a:spcBef>
              <a:spcAft>
                <a:spcPct val="0"/>
              </a:spcAft>
              <a:buSzTx/>
              <a:buFont typeface="Wingdings" panose="05000000000000000000" pitchFamily="2" charset="2"/>
              <a:buChar char="Ø"/>
            </a:pPr>
            <a:r>
              <a:rPr lang="en-US" altLang="en-US" sz="1600" b="1" u="sng" dirty="0">
                <a:solidFill>
                  <a:schemeClr val="tx1"/>
                </a:solidFill>
                <a:latin typeface="+mj-lt"/>
              </a:rPr>
              <a:t>Alignment Capability Connects Both:-</a:t>
            </a:r>
          </a:p>
          <a:p>
            <a:pPr marL="0" lvl="0" indent="0" defTabSz="914400" eaLnBrk="0" fontAlgn="base" hangingPunct="0">
              <a:spcBef>
                <a:spcPct val="0"/>
              </a:spcBef>
              <a:spcAft>
                <a:spcPct val="0"/>
              </a:spcAft>
              <a:buSzTx/>
              <a:buNone/>
            </a:pPr>
            <a:r>
              <a:rPr lang="en-US" altLang="en-US" sz="1600" dirty="0">
                <a:solidFill>
                  <a:schemeClr val="tx1"/>
                </a:solidFill>
                <a:latin typeface="+mj-lt"/>
              </a:rPr>
              <a:t>      Ensures that IT initiatives are directly aligned with business priorities, optimizing resources and performance.</a:t>
            </a:r>
          </a:p>
          <a:p>
            <a:pPr lvl="0" defTabSz="914400" eaLnBrk="0" fontAlgn="base" hangingPunct="0">
              <a:spcBef>
                <a:spcPct val="0"/>
              </a:spcBef>
              <a:spcAft>
                <a:spcPct val="0"/>
              </a:spcAft>
              <a:buSzTx/>
              <a:buFont typeface="Wingdings" panose="05000000000000000000" pitchFamily="2" charset="2"/>
              <a:buChar char="ü"/>
            </a:pPr>
            <a:r>
              <a:rPr lang="en-US" altLang="en-US" sz="1600" dirty="0">
                <a:solidFill>
                  <a:schemeClr val="tx1"/>
                </a:solidFill>
                <a:latin typeface="+mj-lt"/>
              </a:rPr>
              <a:t>Example: Real-time inventory tracking allows faster delivery, supporting the business goal of improved customer satisfaction.</a:t>
            </a:r>
          </a:p>
          <a:p>
            <a:pPr lvl="0" defTabSz="914400" eaLnBrk="0" fontAlgn="base" hangingPunct="0">
              <a:spcBef>
                <a:spcPct val="0"/>
              </a:spcBef>
              <a:spcAft>
                <a:spcPct val="0"/>
              </a:spcAft>
              <a:buSzTx/>
              <a:buFont typeface="Wingdings" panose="05000000000000000000" pitchFamily="2" charset="2"/>
              <a:buChar char="Ø"/>
            </a:pPr>
            <a:endParaRPr lang="en-US" altLang="en-US" sz="1600" dirty="0">
              <a:solidFill>
                <a:schemeClr val="tx1"/>
              </a:solidFill>
              <a:latin typeface="+mj-lt"/>
            </a:endParaRPr>
          </a:p>
          <a:p>
            <a:pPr lvl="0" defTabSz="914400" eaLnBrk="0" fontAlgn="base" hangingPunct="0">
              <a:spcBef>
                <a:spcPct val="0"/>
              </a:spcBef>
              <a:spcAft>
                <a:spcPct val="0"/>
              </a:spcAft>
              <a:buSzTx/>
              <a:buFont typeface="Wingdings" panose="05000000000000000000" pitchFamily="2" charset="2"/>
              <a:buChar char="Ø"/>
            </a:pPr>
            <a:r>
              <a:rPr lang="en-US" altLang="en-US" sz="1600" b="1" u="sng" dirty="0">
                <a:solidFill>
                  <a:schemeClr val="tx1"/>
                </a:solidFill>
                <a:latin typeface="+mj-lt"/>
              </a:rPr>
              <a:t>Result: Competitive Advantage:-</a:t>
            </a:r>
          </a:p>
          <a:p>
            <a:pPr marL="0" lvl="0" indent="0" defTabSz="914400" eaLnBrk="0" fontAlgn="base" hangingPunct="0">
              <a:spcBef>
                <a:spcPct val="0"/>
              </a:spcBef>
              <a:spcAft>
                <a:spcPct val="0"/>
              </a:spcAft>
              <a:buSzTx/>
              <a:buNone/>
            </a:pPr>
            <a:r>
              <a:rPr lang="en-US" altLang="en-US" sz="1600" dirty="0">
                <a:solidFill>
                  <a:schemeClr val="tx1"/>
                </a:solidFill>
                <a:latin typeface="+mj-lt"/>
              </a:rPr>
              <a:t>      When all three work together, the organization can operate efficiently, innovate faster, and respond effectively to market changes.</a:t>
            </a:r>
          </a:p>
          <a:p>
            <a:pPr lvl="0" defTabSz="914400" eaLnBrk="0" fontAlgn="base" hangingPunct="0">
              <a:spcBef>
                <a:spcPct val="0"/>
              </a:spcBef>
              <a:spcAft>
                <a:spcPct val="0"/>
              </a:spcAft>
              <a:buSzTx/>
              <a:buFont typeface="Wingdings" panose="05000000000000000000" pitchFamily="2" charset="2"/>
              <a:buChar char="Ø"/>
            </a:pPr>
            <a:endParaRPr lang="en-US" altLang="en-US" sz="1600" dirty="0">
              <a:solidFill>
                <a:schemeClr val="tx1"/>
              </a:solidFill>
              <a:latin typeface="+mj-lt"/>
            </a:endParaRPr>
          </a:p>
          <a:p>
            <a:pPr>
              <a:buFont typeface="Wingdings" panose="05000000000000000000" pitchFamily="2" charset="2"/>
              <a:buChar char="Ø"/>
            </a:pPr>
            <a:endParaRPr lang="en-IN" sz="1600" dirty="0">
              <a:latin typeface="+mj-lt"/>
            </a:endParaRPr>
          </a:p>
        </p:txBody>
      </p:sp>
    </p:spTree>
    <p:extLst>
      <p:ext uri="{BB962C8B-B14F-4D97-AF65-F5344CB8AC3E}">
        <p14:creationId xmlns:p14="http://schemas.microsoft.com/office/powerpoint/2010/main" val="104101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A2A85-F287-329C-4B1F-B7818AB76E0B}"/>
              </a:ext>
            </a:extLst>
          </p:cNvPr>
          <p:cNvSpPr>
            <a:spLocks noGrp="1"/>
          </p:cNvSpPr>
          <p:nvPr>
            <p:ph type="title"/>
          </p:nvPr>
        </p:nvSpPr>
        <p:spPr>
          <a:xfrm>
            <a:off x="1295402" y="1360201"/>
            <a:ext cx="9601196" cy="1303867"/>
          </a:xfrm>
        </p:spPr>
        <p:txBody>
          <a:bodyPr/>
          <a:lstStyle/>
          <a:p>
            <a:r>
              <a:rPr lang="en-IN" b="1" dirty="0">
                <a:solidFill>
                  <a:schemeClr val="tx1"/>
                </a:solidFill>
              </a:rPr>
              <a:t>The Alignment Cycle</a:t>
            </a:r>
          </a:p>
        </p:txBody>
      </p:sp>
      <p:sp>
        <p:nvSpPr>
          <p:cNvPr id="4" name="Rectangle 1">
            <a:extLst>
              <a:ext uri="{FF2B5EF4-FFF2-40B4-BE49-F238E27FC236}">
                <a16:creationId xmlns:a16="http://schemas.microsoft.com/office/drawing/2014/main" id="{A5583293-FAD0-0CCF-D084-2B78F6B2A4EB}"/>
              </a:ext>
            </a:extLst>
          </p:cNvPr>
          <p:cNvSpPr>
            <a:spLocks noGrp="1" noChangeArrowheads="1"/>
          </p:cNvSpPr>
          <p:nvPr>
            <p:ph idx="1"/>
          </p:nvPr>
        </p:nvSpPr>
        <p:spPr bwMode="auto">
          <a:xfrm>
            <a:off x="1641441" y="2538635"/>
            <a:ext cx="890911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SzTx/>
              <a:buFont typeface="Wingdings" panose="05000000000000000000" pitchFamily="2" charset="2"/>
              <a:buChar char="q"/>
            </a:pPr>
            <a:r>
              <a:rPr lang="en-US" sz="2000" dirty="0">
                <a:latin typeface="+mj-lt"/>
              </a:rPr>
              <a:t>The Alignment Cycle is the ongoing process through which an organization ensures that its IT strategy is continuously aligned with its business strategy to achieve maximum efficiency and competitive advantage.</a:t>
            </a:r>
          </a:p>
          <a:p>
            <a:pPr lvl="0" defTabSz="914400" eaLnBrk="0" fontAlgn="base" hangingPunct="0">
              <a:spcBef>
                <a:spcPct val="0"/>
              </a:spcBef>
              <a:spcAft>
                <a:spcPct val="0"/>
              </a:spcAft>
              <a:buSzTx/>
              <a:buFont typeface="Wingdings" panose="05000000000000000000" pitchFamily="2" charset="2"/>
              <a:buChar char="q"/>
            </a:pPr>
            <a:endParaRPr kumimoji="0" lang="en-US" altLang="en-US" sz="2000" i="0" u="none" strike="noStrike" cap="none" normalizeH="0" baseline="0" dirty="0">
              <a:ln>
                <a:noFill/>
              </a:ln>
              <a:solidFill>
                <a:schemeClr val="tx1"/>
              </a:solidFill>
              <a:effectLst/>
              <a:latin typeface="+mj-lt"/>
            </a:endParaRPr>
          </a:p>
          <a:p>
            <a:pPr lvl="0" defTabSz="914400" eaLnBrk="0" fontAlgn="base" hangingPunct="0">
              <a:spcBef>
                <a:spcPct val="0"/>
              </a:spcBef>
              <a:spcAft>
                <a:spcPct val="0"/>
              </a:spcAft>
              <a:buSzTx/>
              <a:buFont typeface="Wingdings" panose="05000000000000000000" pitchFamily="2" charset="2"/>
              <a:buChar char="q"/>
            </a:pPr>
            <a:r>
              <a:rPr lang="en-US" sz="2000" dirty="0"/>
              <a:t>The Alignment Cycle is continuous, ensuring that IT remains a strategic enabler rather than just a support function.</a:t>
            </a:r>
            <a:endParaRPr kumimoji="0" lang="en-US" altLang="en-US" sz="20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910250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F215C-D157-E229-0ADD-384404AA285F}"/>
              </a:ext>
            </a:extLst>
          </p:cNvPr>
          <p:cNvSpPr>
            <a:spLocks noGrp="1"/>
          </p:cNvSpPr>
          <p:nvPr>
            <p:ph type="title"/>
          </p:nvPr>
        </p:nvSpPr>
        <p:spPr>
          <a:xfrm>
            <a:off x="1396511" y="1776046"/>
            <a:ext cx="9601196" cy="861645"/>
          </a:xfrm>
        </p:spPr>
        <p:txBody>
          <a:bodyPr>
            <a:noAutofit/>
          </a:bodyPr>
          <a:lstStyle/>
          <a:p>
            <a:r>
              <a:rPr lang="en-US" b="1" dirty="0"/>
              <a:t>Steps in the Alignment Cycle</a:t>
            </a:r>
            <a:br>
              <a:rPr lang="en-US" b="1" dirty="0"/>
            </a:br>
            <a:endParaRPr lang="en-IN" dirty="0"/>
          </a:p>
        </p:txBody>
      </p:sp>
      <p:sp>
        <p:nvSpPr>
          <p:cNvPr id="3" name="Content Placeholder 2">
            <a:extLst>
              <a:ext uri="{FF2B5EF4-FFF2-40B4-BE49-F238E27FC236}">
                <a16:creationId xmlns:a16="http://schemas.microsoft.com/office/drawing/2014/main" id="{2D2B3BC3-BC3D-515C-29EF-96B74F50B8B5}"/>
              </a:ext>
            </a:extLst>
          </p:cNvPr>
          <p:cNvSpPr>
            <a:spLocks noGrp="1"/>
          </p:cNvSpPr>
          <p:nvPr>
            <p:ph idx="1"/>
          </p:nvPr>
        </p:nvSpPr>
        <p:spPr>
          <a:xfrm>
            <a:off x="1396511" y="2425048"/>
            <a:ext cx="9398977" cy="3799906"/>
          </a:xfrm>
        </p:spPr>
        <p:txBody>
          <a:bodyPr>
            <a:normAutofit fontScale="47500" lnSpcReduction="20000"/>
          </a:bodyPr>
          <a:lstStyle/>
          <a:p>
            <a:pPr>
              <a:buFont typeface="Wingdings" panose="05000000000000000000" pitchFamily="2" charset="2"/>
              <a:buChar char="Ø"/>
            </a:pPr>
            <a:r>
              <a:rPr lang="en-US" b="1" u="sng" dirty="0"/>
              <a:t>Business Strategy Definition:-</a:t>
            </a:r>
            <a:endParaRPr lang="en-US" u="sng" dirty="0"/>
          </a:p>
          <a:p>
            <a:pPr lvl="1"/>
            <a:r>
              <a:rPr lang="en-US" dirty="0"/>
              <a:t>Define the organization’s goals, objectives, and priorities.</a:t>
            </a:r>
          </a:p>
          <a:p>
            <a:pPr lvl="1"/>
            <a:r>
              <a:rPr lang="en-US" b="1" dirty="0"/>
              <a:t>Example:</a:t>
            </a:r>
            <a:r>
              <a:rPr lang="en-US" dirty="0"/>
              <a:t> Focus on improving customer service or expanding online sales.</a:t>
            </a:r>
          </a:p>
          <a:p>
            <a:pPr>
              <a:buFont typeface="Wingdings" panose="05000000000000000000" pitchFamily="2" charset="2"/>
              <a:buChar char="Ø"/>
            </a:pPr>
            <a:r>
              <a:rPr lang="en-US" b="1" u="sng" dirty="0"/>
              <a:t>IT Strategy Formulation:-</a:t>
            </a:r>
            <a:endParaRPr lang="en-US" u="sng" dirty="0"/>
          </a:p>
          <a:p>
            <a:pPr lvl="1"/>
            <a:r>
              <a:rPr lang="en-US" dirty="0"/>
              <a:t>Plan and implement IT initiatives that support business goals.</a:t>
            </a:r>
          </a:p>
          <a:p>
            <a:pPr lvl="1"/>
            <a:r>
              <a:rPr lang="en-US" b="1" dirty="0"/>
              <a:t>Example:</a:t>
            </a:r>
            <a:r>
              <a:rPr lang="en-US" dirty="0"/>
              <a:t> Deploying CRM, ERP, or e-commerce systems.</a:t>
            </a:r>
          </a:p>
          <a:p>
            <a:pPr>
              <a:buFont typeface="Wingdings" panose="05000000000000000000" pitchFamily="2" charset="2"/>
              <a:buChar char="Ø"/>
            </a:pPr>
            <a:r>
              <a:rPr lang="en-US" b="1" u="sng" dirty="0"/>
              <a:t>Implementation of IT Solutions:-</a:t>
            </a:r>
            <a:endParaRPr lang="en-US" u="sng" dirty="0"/>
          </a:p>
          <a:p>
            <a:pPr lvl="1"/>
            <a:r>
              <a:rPr lang="en-US" dirty="0"/>
              <a:t>Execute the planned IT projects, integrating them into business operations.</a:t>
            </a:r>
          </a:p>
          <a:p>
            <a:pPr lvl="1"/>
            <a:r>
              <a:rPr lang="en-US" b="1" dirty="0"/>
              <a:t>Example:</a:t>
            </a:r>
            <a:r>
              <a:rPr lang="en-US" dirty="0"/>
              <a:t> Implementing real-time inventory tracking or automated billing systems.</a:t>
            </a:r>
          </a:p>
          <a:p>
            <a:pPr>
              <a:buFont typeface="Wingdings" panose="05000000000000000000" pitchFamily="2" charset="2"/>
              <a:buChar char="Ø"/>
            </a:pPr>
            <a:r>
              <a:rPr lang="en-US" b="1" u="sng" dirty="0"/>
              <a:t>Monitoring &amp; Feedback:-</a:t>
            </a:r>
            <a:endParaRPr lang="en-US" u="sng" dirty="0"/>
          </a:p>
          <a:p>
            <a:pPr lvl="1"/>
            <a:r>
              <a:rPr lang="en-US" dirty="0"/>
              <a:t>Continuously monitor IT performance and gather feedback on business outcomes.</a:t>
            </a:r>
          </a:p>
          <a:p>
            <a:pPr lvl="1"/>
            <a:r>
              <a:rPr lang="en-US" b="1" dirty="0"/>
              <a:t>Example:</a:t>
            </a:r>
            <a:r>
              <a:rPr lang="en-US" dirty="0"/>
              <a:t> Checking if the CRM system improves customer response time.</a:t>
            </a:r>
          </a:p>
          <a:p>
            <a:pPr>
              <a:buFont typeface="Wingdings" panose="05000000000000000000" pitchFamily="2" charset="2"/>
              <a:buChar char="Ø"/>
            </a:pPr>
            <a:r>
              <a:rPr lang="en-US" b="1" u="sng" dirty="0"/>
              <a:t>Adjustment &amp; Optimization:-</a:t>
            </a:r>
            <a:endParaRPr lang="en-US" u="sng" dirty="0"/>
          </a:p>
          <a:p>
            <a:pPr lvl="1"/>
            <a:r>
              <a:rPr lang="en-US" dirty="0"/>
              <a:t>Update IT strategy or processes to better support evolving business goals.</a:t>
            </a:r>
          </a:p>
          <a:p>
            <a:pPr lvl="1"/>
            <a:r>
              <a:rPr lang="en-US" b="1" dirty="0"/>
              <a:t>Example:</a:t>
            </a:r>
            <a:r>
              <a:rPr lang="en-US" dirty="0"/>
              <a:t> Adding new features to the ERP system or upgrading cloud infrastructure.</a:t>
            </a:r>
          </a:p>
          <a:p>
            <a:endParaRPr lang="en-IN" sz="1600" dirty="0">
              <a:latin typeface="+mj-lt"/>
            </a:endParaRPr>
          </a:p>
        </p:txBody>
      </p:sp>
    </p:spTree>
    <p:extLst>
      <p:ext uri="{BB962C8B-B14F-4D97-AF65-F5344CB8AC3E}">
        <p14:creationId xmlns:p14="http://schemas.microsoft.com/office/powerpoint/2010/main" val="3167426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C137-8CE7-F69F-0CE8-F99F6220CFEE}"/>
              </a:ext>
            </a:extLst>
          </p:cNvPr>
          <p:cNvSpPr>
            <a:spLocks noGrp="1"/>
          </p:cNvSpPr>
          <p:nvPr>
            <p:ph type="title"/>
          </p:nvPr>
        </p:nvSpPr>
        <p:spPr>
          <a:xfrm>
            <a:off x="1234442" y="1463040"/>
            <a:ext cx="9601196" cy="1028699"/>
          </a:xfrm>
        </p:spPr>
        <p:txBody>
          <a:bodyPr/>
          <a:lstStyle/>
          <a:p>
            <a:r>
              <a:rPr lang="en-IN" b="1" dirty="0"/>
              <a:t>Data</a:t>
            </a:r>
          </a:p>
        </p:txBody>
      </p:sp>
      <p:sp>
        <p:nvSpPr>
          <p:cNvPr id="3" name="Content Placeholder 2">
            <a:extLst>
              <a:ext uri="{FF2B5EF4-FFF2-40B4-BE49-F238E27FC236}">
                <a16:creationId xmlns:a16="http://schemas.microsoft.com/office/drawing/2014/main" id="{4FB9D74A-FB5A-9964-3F20-32BC4FB1E9CF}"/>
              </a:ext>
            </a:extLst>
          </p:cNvPr>
          <p:cNvSpPr>
            <a:spLocks noGrp="1"/>
          </p:cNvSpPr>
          <p:nvPr>
            <p:ph idx="1"/>
          </p:nvPr>
        </p:nvSpPr>
        <p:spPr/>
        <p:txBody>
          <a:bodyPr>
            <a:normAutofit/>
          </a:bodyPr>
          <a:lstStyle/>
          <a:p>
            <a:pPr>
              <a:buFont typeface="Wingdings" panose="05000000000000000000" pitchFamily="2" charset="2"/>
              <a:buChar char="q"/>
            </a:pPr>
            <a:r>
              <a:rPr lang="en-US" sz="1600" b="1" u="sng" dirty="0"/>
              <a:t>Definition:-</a:t>
            </a:r>
            <a:br>
              <a:rPr lang="en-US" sz="1600" dirty="0"/>
            </a:br>
            <a:r>
              <a:rPr lang="en-US" sz="1600" dirty="0"/>
              <a:t>Data is raw facts, figures, or information that can be collected, stored, and processed to generate meaningful insights.</a:t>
            </a:r>
          </a:p>
          <a:p>
            <a:pPr>
              <a:buFont typeface="Wingdings" panose="05000000000000000000" pitchFamily="2" charset="2"/>
              <a:buChar char="Ø"/>
            </a:pPr>
            <a:r>
              <a:rPr lang="en-US" sz="1600" b="1" u="sng" dirty="0"/>
              <a:t>Types of Data (Based on Nature):-</a:t>
            </a:r>
          </a:p>
          <a:p>
            <a:pPr lvl="0" defTabSz="914400" eaLnBrk="0" fontAlgn="base" hangingPunct="0">
              <a:lnSpc>
                <a:spcPct val="150000"/>
              </a:lnSpc>
              <a:spcBef>
                <a:spcPct val="0"/>
              </a:spcBef>
              <a:spcAft>
                <a:spcPct val="0"/>
              </a:spcAft>
              <a:buSzTx/>
              <a:buFont typeface="Wingdings" panose="05000000000000000000" pitchFamily="2" charset="2"/>
              <a:buChar char="ü"/>
            </a:pPr>
            <a:r>
              <a:rPr lang="en-US" altLang="en-US" sz="1600" b="1" u="sng" dirty="0">
                <a:solidFill>
                  <a:schemeClr val="tx1"/>
                </a:solidFill>
              </a:rPr>
              <a:t>Structured Data:</a:t>
            </a:r>
            <a:r>
              <a:rPr lang="en-US" altLang="en-US" sz="1600" u="sng" dirty="0">
                <a:solidFill>
                  <a:schemeClr val="tx1"/>
                </a:solidFill>
              </a:rPr>
              <a:t> </a:t>
            </a:r>
            <a:r>
              <a:rPr lang="en-US" altLang="en-US" sz="1600" dirty="0">
                <a:solidFill>
                  <a:schemeClr val="tx1"/>
                </a:solidFill>
              </a:rPr>
              <a:t>Organized in rows and columns, easy to store and analyze (customer records).</a:t>
            </a:r>
          </a:p>
          <a:p>
            <a:pPr lvl="0" defTabSz="914400" eaLnBrk="0" fontAlgn="base" hangingPunct="0">
              <a:lnSpc>
                <a:spcPct val="150000"/>
              </a:lnSpc>
              <a:spcBef>
                <a:spcPct val="0"/>
              </a:spcBef>
              <a:spcAft>
                <a:spcPct val="0"/>
              </a:spcAft>
              <a:buSzTx/>
              <a:buFont typeface="Wingdings" panose="05000000000000000000" pitchFamily="2" charset="2"/>
              <a:buChar char="ü"/>
            </a:pPr>
            <a:r>
              <a:rPr lang="en-US" altLang="en-US" sz="1600" b="1" u="sng" dirty="0">
                <a:solidFill>
                  <a:schemeClr val="tx1"/>
                </a:solidFill>
              </a:rPr>
              <a:t>Semi-Structured Data:</a:t>
            </a:r>
            <a:r>
              <a:rPr lang="en-US" altLang="en-US" sz="1600" u="sng" dirty="0">
                <a:solidFill>
                  <a:schemeClr val="tx1"/>
                </a:solidFill>
              </a:rPr>
              <a:t> </a:t>
            </a:r>
            <a:r>
              <a:rPr lang="en-US" altLang="en-US" sz="1600" dirty="0">
                <a:solidFill>
                  <a:schemeClr val="tx1"/>
                </a:solidFill>
              </a:rPr>
              <a:t>Partially organized with tags or markers, not in fixed tables (XML, JSON, emails).</a:t>
            </a:r>
          </a:p>
          <a:p>
            <a:pPr lvl="0" defTabSz="914400" eaLnBrk="0" fontAlgn="base" hangingPunct="0">
              <a:lnSpc>
                <a:spcPct val="150000"/>
              </a:lnSpc>
              <a:spcBef>
                <a:spcPct val="0"/>
              </a:spcBef>
              <a:spcAft>
                <a:spcPct val="0"/>
              </a:spcAft>
              <a:buSzTx/>
              <a:buFont typeface="Wingdings" panose="05000000000000000000" pitchFamily="2" charset="2"/>
              <a:buChar char="ü"/>
            </a:pPr>
            <a:r>
              <a:rPr lang="en-US" altLang="en-US" sz="1600" b="1" u="sng" dirty="0">
                <a:solidFill>
                  <a:schemeClr val="tx1"/>
                </a:solidFill>
              </a:rPr>
              <a:t>Unstructured Data:</a:t>
            </a:r>
            <a:r>
              <a:rPr lang="en-US" altLang="en-US" sz="1600" u="sng" dirty="0">
                <a:solidFill>
                  <a:schemeClr val="tx1"/>
                </a:solidFill>
              </a:rPr>
              <a:t> </a:t>
            </a:r>
            <a:r>
              <a:rPr lang="en-US" altLang="en-US" sz="1600" dirty="0">
                <a:solidFill>
                  <a:schemeClr val="tx1"/>
                </a:solidFill>
              </a:rPr>
              <a:t>No predefined format, difficult to analyze with traditional methods (images, videos, social media posts).</a:t>
            </a:r>
          </a:p>
          <a:p>
            <a:endParaRPr lang="en-US" sz="1600" b="1" dirty="0"/>
          </a:p>
          <a:p>
            <a:endParaRPr lang="en-US" sz="1600" b="1" dirty="0"/>
          </a:p>
          <a:p>
            <a:endParaRPr lang="en-IN" sz="1600" dirty="0"/>
          </a:p>
        </p:txBody>
      </p:sp>
    </p:spTree>
    <p:extLst>
      <p:ext uri="{BB962C8B-B14F-4D97-AF65-F5344CB8AC3E}">
        <p14:creationId xmlns:p14="http://schemas.microsoft.com/office/powerpoint/2010/main" val="3829163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9AD5-545B-9CC8-445B-21CE23D4DA43}"/>
              </a:ext>
            </a:extLst>
          </p:cNvPr>
          <p:cNvSpPr>
            <a:spLocks noGrp="1"/>
          </p:cNvSpPr>
          <p:nvPr>
            <p:ph type="title"/>
          </p:nvPr>
        </p:nvSpPr>
        <p:spPr>
          <a:xfrm>
            <a:off x="1582942" y="1647092"/>
            <a:ext cx="8596668" cy="668594"/>
          </a:xfrm>
        </p:spPr>
        <p:txBody>
          <a:bodyPr>
            <a:normAutofit fontScale="90000"/>
          </a:bodyPr>
          <a:lstStyle/>
          <a:p>
            <a:pPr marL="685800" indent="-685800">
              <a:buClr>
                <a:schemeClr val="accent1"/>
              </a:buClr>
              <a:buFont typeface="Wingdings" panose="05000000000000000000" pitchFamily="2" charset="2"/>
              <a:buChar char="ü"/>
            </a:pPr>
            <a:r>
              <a:rPr lang="en-IN" sz="4900" b="1" dirty="0">
                <a:solidFill>
                  <a:schemeClr val="tx1"/>
                </a:solidFill>
              </a:rPr>
              <a:t>Structured</a:t>
            </a:r>
            <a:r>
              <a:rPr lang="en-IN" b="1" dirty="0">
                <a:solidFill>
                  <a:schemeClr val="tx1"/>
                </a:solidFill>
              </a:rPr>
              <a:t> Data</a:t>
            </a:r>
          </a:p>
        </p:txBody>
      </p:sp>
      <p:sp>
        <p:nvSpPr>
          <p:cNvPr id="3" name="Content Placeholder 2">
            <a:extLst>
              <a:ext uri="{FF2B5EF4-FFF2-40B4-BE49-F238E27FC236}">
                <a16:creationId xmlns:a16="http://schemas.microsoft.com/office/drawing/2014/main" id="{7E08FB11-B5C9-A2BA-7A9B-CEAB23DE5658}"/>
              </a:ext>
            </a:extLst>
          </p:cNvPr>
          <p:cNvSpPr>
            <a:spLocks noGrp="1"/>
          </p:cNvSpPr>
          <p:nvPr>
            <p:ph idx="1"/>
          </p:nvPr>
        </p:nvSpPr>
        <p:spPr>
          <a:xfrm>
            <a:off x="1046610" y="2400300"/>
            <a:ext cx="10344627" cy="3848100"/>
          </a:xfrm>
        </p:spPr>
        <p:txBody>
          <a:bodyPr>
            <a:normAutofit fontScale="85000" lnSpcReduction="20000"/>
          </a:bodyPr>
          <a:lstStyle/>
          <a:p>
            <a:pPr>
              <a:buFont typeface="Wingdings" panose="05000000000000000000" pitchFamily="2" charset="2"/>
              <a:buChar char="q"/>
            </a:pPr>
            <a:r>
              <a:rPr lang="en-US" sz="1600" b="1" dirty="0">
                <a:latin typeface="+mj-lt"/>
              </a:rPr>
              <a:t>Definition:-</a:t>
            </a:r>
            <a:br>
              <a:rPr lang="en-US" sz="1600" dirty="0">
                <a:latin typeface="+mj-lt"/>
              </a:rPr>
            </a:br>
            <a:r>
              <a:rPr lang="en-US" sz="1600" dirty="0">
                <a:latin typeface="+mj-lt"/>
              </a:rPr>
              <a:t>Structured data is information that is organized in a predefined format, typically stored in rows and columns in databases, making it easy to input, search, and analyze.</a:t>
            </a:r>
          </a:p>
          <a:p>
            <a:pPr>
              <a:buFont typeface="Wingdings" panose="05000000000000000000" pitchFamily="2" charset="2"/>
              <a:buChar char="Ø"/>
            </a:pPr>
            <a:r>
              <a:rPr lang="en-US" sz="1600" b="1" dirty="0">
                <a:latin typeface="+mj-lt"/>
              </a:rPr>
              <a:t>Examples:-</a:t>
            </a:r>
          </a:p>
          <a:p>
            <a:pPr>
              <a:buFont typeface="Courier New" panose="02070309020205020404" pitchFamily="49" charset="0"/>
              <a:buChar char="o"/>
            </a:pPr>
            <a:r>
              <a:rPr lang="en-US" sz="1600" dirty="0">
                <a:latin typeface="+mj-lt"/>
              </a:rPr>
              <a:t>Customer details in a database (Name, Age, Email, Phone Number)</a:t>
            </a:r>
          </a:p>
          <a:p>
            <a:pPr>
              <a:buFont typeface="Courier New" panose="02070309020205020404" pitchFamily="49" charset="0"/>
              <a:buChar char="o"/>
            </a:pPr>
            <a:r>
              <a:rPr lang="en-US" sz="1600" dirty="0">
                <a:latin typeface="+mj-lt"/>
              </a:rPr>
              <a:t>Employee payroll records</a:t>
            </a:r>
          </a:p>
          <a:p>
            <a:pPr>
              <a:buFont typeface="Courier New" panose="02070309020205020404" pitchFamily="49" charset="0"/>
              <a:buChar char="o"/>
            </a:pPr>
            <a:r>
              <a:rPr lang="en-US" sz="1600" dirty="0">
                <a:latin typeface="+mj-lt"/>
              </a:rPr>
              <a:t>Product inventory with ID, Name, Quantity, Price</a:t>
            </a:r>
          </a:p>
          <a:p>
            <a:pPr>
              <a:buFont typeface="Wingdings" panose="05000000000000000000" pitchFamily="2" charset="2"/>
              <a:buChar char="Ø"/>
            </a:pPr>
            <a:r>
              <a:rPr lang="en-US" sz="1600" b="1" dirty="0">
                <a:latin typeface="+mj-lt"/>
              </a:rPr>
              <a:t>Key Feature:-</a:t>
            </a:r>
          </a:p>
          <a:p>
            <a:pPr>
              <a:buFont typeface="Courier New" panose="02070309020205020404" pitchFamily="49" charset="0"/>
              <a:buChar char="o"/>
            </a:pPr>
            <a:r>
              <a:rPr lang="en-US" sz="1600" dirty="0">
                <a:latin typeface="+mj-lt"/>
              </a:rPr>
              <a:t>It follows a fixed schema, which makes it simple for computers and software to process efficiently.</a:t>
            </a:r>
          </a:p>
          <a:p>
            <a:pPr>
              <a:buFont typeface="Wingdings" panose="05000000000000000000" pitchFamily="2" charset="2"/>
              <a:buChar char="Ø"/>
            </a:pPr>
            <a:r>
              <a:rPr lang="en-US" sz="1600" b="1" dirty="0"/>
              <a:t>Characteristics:-</a:t>
            </a:r>
          </a:p>
          <a:p>
            <a:pPr>
              <a:buFont typeface="Courier New" panose="02070309020205020404" pitchFamily="49" charset="0"/>
              <a:buChar char="o"/>
            </a:pPr>
            <a:r>
              <a:rPr lang="en-US" sz="1600" dirty="0"/>
              <a:t>Follows a predefined schema (fixed columns like Name, Age, Salary). </a:t>
            </a:r>
          </a:p>
          <a:p>
            <a:pPr>
              <a:buFont typeface="Courier New" panose="02070309020205020404" pitchFamily="49" charset="0"/>
              <a:buChar char="o"/>
            </a:pPr>
            <a:r>
              <a:rPr lang="en-US" sz="1600" dirty="0"/>
              <a:t>Easy to search, filter, and analyze using SQL. </a:t>
            </a:r>
          </a:p>
          <a:p>
            <a:pPr>
              <a:buFont typeface="Courier New" panose="02070309020205020404" pitchFamily="49" charset="0"/>
              <a:buChar char="o"/>
            </a:pPr>
            <a:r>
              <a:rPr lang="en-US" sz="1600" dirty="0"/>
              <a:t>Stored in relational databases (RDBMS).</a:t>
            </a:r>
          </a:p>
          <a:p>
            <a:endParaRPr lang="en-IN" sz="1600" dirty="0">
              <a:latin typeface="+mj-lt"/>
            </a:endParaRPr>
          </a:p>
        </p:txBody>
      </p:sp>
    </p:spTree>
    <p:extLst>
      <p:ext uri="{BB962C8B-B14F-4D97-AF65-F5344CB8AC3E}">
        <p14:creationId xmlns:p14="http://schemas.microsoft.com/office/powerpoint/2010/main" val="1509918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B34F-4415-AC38-8F2F-AB00B81AF20A}"/>
              </a:ext>
            </a:extLst>
          </p:cNvPr>
          <p:cNvSpPr>
            <a:spLocks noGrp="1"/>
          </p:cNvSpPr>
          <p:nvPr>
            <p:ph type="title"/>
          </p:nvPr>
        </p:nvSpPr>
        <p:spPr>
          <a:xfrm>
            <a:off x="1609318" y="1640982"/>
            <a:ext cx="8596668" cy="747252"/>
          </a:xfrm>
        </p:spPr>
        <p:txBody>
          <a:bodyPr>
            <a:noAutofit/>
          </a:bodyPr>
          <a:lstStyle/>
          <a:p>
            <a:pPr marL="571500" indent="-571500">
              <a:buClr>
                <a:schemeClr val="accent1"/>
              </a:buClr>
              <a:buFont typeface="Wingdings" panose="05000000000000000000" pitchFamily="2" charset="2"/>
              <a:buChar char="ü"/>
            </a:pPr>
            <a:r>
              <a:rPr lang="en-IN" b="1" dirty="0">
                <a:solidFill>
                  <a:schemeClr val="tx1"/>
                </a:solidFill>
              </a:rPr>
              <a:t>Semi-structured Data</a:t>
            </a:r>
          </a:p>
        </p:txBody>
      </p:sp>
      <p:sp>
        <p:nvSpPr>
          <p:cNvPr id="3" name="Content Placeholder 2">
            <a:extLst>
              <a:ext uri="{FF2B5EF4-FFF2-40B4-BE49-F238E27FC236}">
                <a16:creationId xmlns:a16="http://schemas.microsoft.com/office/drawing/2014/main" id="{E68A82FC-8DF6-4F28-78E8-3D999B24C911}"/>
              </a:ext>
            </a:extLst>
          </p:cNvPr>
          <p:cNvSpPr>
            <a:spLocks noGrp="1"/>
          </p:cNvSpPr>
          <p:nvPr>
            <p:ph idx="1"/>
          </p:nvPr>
        </p:nvSpPr>
        <p:spPr>
          <a:xfrm>
            <a:off x="1229715" y="2417884"/>
            <a:ext cx="9961169" cy="4141177"/>
          </a:xfrm>
        </p:spPr>
        <p:txBody>
          <a:bodyPr>
            <a:normAutofit fontScale="62500" lnSpcReduction="20000"/>
          </a:bodyPr>
          <a:lstStyle/>
          <a:p>
            <a:pPr>
              <a:buFont typeface="Wingdings" panose="05000000000000000000" pitchFamily="2" charset="2"/>
              <a:buChar char="q"/>
            </a:pPr>
            <a:r>
              <a:rPr lang="en-US" sz="2000" b="1" u="sng" dirty="0"/>
              <a:t>Definition:-</a:t>
            </a:r>
            <a:br>
              <a:rPr lang="en-US" sz="2000" dirty="0"/>
            </a:br>
            <a:r>
              <a:rPr lang="en-US" sz="2000" dirty="0"/>
              <a:t>Semi-structured data is information that does not reside in a traditional database table but still contains tags or markers to separate data elements, making it easier to organize and analyze than completely unstructured data.</a:t>
            </a:r>
          </a:p>
          <a:p>
            <a:pPr>
              <a:buFont typeface="Wingdings" panose="05000000000000000000" pitchFamily="2" charset="2"/>
              <a:buChar char="Ø"/>
            </a:pPr>
            <a:r>
              <a:rPr lang="en-US" sz="2000" b="1" u="sng" dirty="0"/>
              <a:t>Examples:-</a:t>
            </a:r>
          </a:p>
          <a:p>
            <a:pPr>
              <a:buFont typeface="Courier New" panose="02070309020205020404" pitchFamily="49" charset="0"/>
              <a:buChar char="o"/>
            </a:pPr>
            <a:r>
              <a:rPr lang="en-US" sz="2000" dirty="0"/>
              <a:t>XML files</a:t>
            </a:r>
          </a:p>
          <a:p>
            <a:pPr>
              <a:buFont typeface="Courier New" panose="02070309020205020404" pitchFamily="49" charset="0"/>
              <a:buChar char="o"/>
            </a:pPr>
            <a:r>
              <a:rPr lang="en-US" sz="2000" dirty="0"/>
              <a:t>JSON files</a:t>
            </a:r>
          </a:p>
          <a:p>
            <a:pPr>
              <a:buFont typeface="Courier New" panose="02070309020205020404" pitchFamily="49" charset="0"/>
              <a:buChar char="o"/>
            </a:pPr>
            <a:r>
              <a:rPr lang="en-US" sz="2000" dirty="0"/>
              <a:t>Emails with subject, sender, and body</a:t>
            </a:r>
          </a:p>
          <a:p>
            <a:pPr>
              <a:buFont typeface="Courier New" panose="02070309020205020404" pitchFamily="49" charset="0"/>
              <a:buChar char="o"/>
            </a:pPr>
            <a:r>
              <a:rPr lang="en-US" sz="2000" dirty="0"/>
              <a:t>Log files with time stamps and messages</a:t>
            </a:r>
          </a:p>
          <a:p>
            <a:pPr>
              <a:buFont typeface="Wingdings" panose="05000000000000000000" pitchFamily="2" charset="2"/>
              <a:buChar char="Ø"/>
            </a:pPr>
            <a:r>
              <a:rPr lang="en-US" sz="2000" b="1" u="sng" dirty="0"/>
              <a:t>Key Feature:-</a:t>
            </a:r>
          </a:p>
          <a:p>
            <a:pPr>
              <a:buFont typeface="Courier New" panose="02070309020205020404" pitchFamily="49" charset="0"/>
              <a:buChar char="o"/>
            </a:pPr>
            <a:r>
              <a:rPr lang="en-US" sz="2000" dirty="0"/>
              <a:t>It doesn’t follow a rigid schema like structured data, but contains some organizational properties that make it partially organized.</a:t>
            </a:r>
          </a:p>
          <a:p>
            <a:pPr>
              <a:buFont typeface="Wingdings" panose="05000000000000000000" pitchFamily="2" charset="2"/>
              <a:buChar char="Ø"/>
            </a:pPr>
            <a:r>
              <a:rPr lang="en-US" sz="2000" b="1" u="sng" dirty="0"/>
              <a:t>Characteristics: -</a:t>
            </a:r>
          </a:p>
          <a:p>
            <a:pPr>
              <a:buFont typeface="Courier New" panose="02070309020205020404" pitchFamily="49" charset="0"/>
              <a:buChar char="o"/>
            </a:pPr>
            <a:r>
              <a:rPr lang="en-US" sz="2000" dirty="0"/>
              <a:t>No fixed row-column format. </a:t>
            </a:r>
          </a:p>
          <a:p>
            <a:pPr>
              <a:buFont typeface="Courier New" panose="02070309020205020404" pitchFamily="49" charset="0"/>
              <a:buChar char="o"/>
            </a:pPr>
            <a:r>
              <a:rPr lang="en-US" sz="2000" dirty="0"/>
              <a:t>Has tags, key–value pairs or hierarchical structure. </a:t>
            </a:r>
          </a:p>
          <a:p>
            <a:pPr>
              <a:buFont typeface="Courier New" panose="02070309020205020404" pitchFamily="49" charset="0"/>
              <a:buChar char="o"/>
            </a:pPr>
            <a:r>
              <a:rPr lang="en-US" sz="2000" dirty="0"/>
              <a:t>Easier to organize than unstructured data, but harder than structured data. </a:t>
            </a:r>
          </a:p>
          <a:p>
            <a:pPr>
              <a:buFont typeface="Courier New" panose="02070309020205020404" pitchFamily="49" charset="0"/>
              <a:buChar char="o"/>
            </a:pPr>
            <a:r>
              <a:rPr lang="en-US" sz="2000" dirty="0"/>
              <a:t>Often used in web and big data applications. </a:t>
            </a:r>
          </a:p>
          <a:p>
            <a:endParaRPr lang="en-US" sz="2000" dirty="0"/>
          </a:p>
        </p:txBody>
      </p:sp>
      <p:sp>
        <p:nvSpPr>
          <p:cNvPr id="5" name="TextBox 4">
            <a:extLst>
              <a:ext uri="{FF2B5EF4-FFF2-40B4-BE49-F238E27FC236}">
                <a16:creationId xmlns:a16="http://schemas.microsoft.com/office/drawing/2014/main" id="{47405C87-33C9-50F8-8BEF-6920249619AF}"/>
              </a:ext>
            </a:extLst>
          </p:cNvPr>
          <p:cNvSpPr txBox="1"/>
          <p:nvPr/>
        </p:nvSpPr>
        <p:spPr>
          <a:xfrm>
            <a:off x="3039940" y="3105835"/>
            <a:ext cx="6115050" cy="646331"/>
          </a:xfrm>
          <a:prstGeom prst="rect">
            <a:avLst/>
          </a:prstGeom>
          <a:noFill/>
        </p:spPr>
        <p:txBody>
          <a:bodyPr wrap="square">
            <a:spAutoFit/>
          </a:bodyPr>
          <a:lstStyle/>
          <a:p>
            <a:br>
              <a:rPr lang="en-US" sz="1800" dirty="0"/>
            </a:br>
            <a:endParaRPr lang="en-IN" dirty="0"/>
          </a:p>
        </p:txBody>
      </p:sp>
    </p:spTree>
    <p:extLst>
      <p:ext uri="{BB962C8B-B14F-4D97-AF65-F5344CB8AC3E}">
        <p14:creationId xmlns:p14="http://schemas.microsoft.com/office/powerpoint/2010/main" val="2340984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2D09A-5094-215A-42E6-5EA52FBC7ED6}"/>
              </a:ext>
            </a:extLst>
          </p:cNvPr>
          <p:cNvSpPr>
            <a:spLocks noGrp="1"/>
          </p:cNvSpPr>
          <p:nvPr>
            <p:ph type="title"/>
          </p:nvPr>
        </p:nvSpPr>
        <p:spPr>
          <a:xfrm>
            <a:off x="1459850" y="1731707"/>
            <a:ext cx="8596668" cy="668594"/>
          </a:xfrm>
        </p:spPr>
        <p:txBody>
          <a:bodyPr>
            <a:noAutofit/>
          </a:bodyPr>
          <a:lstStyle/>
          <a:p>
            <a:pPr marL="571500" indent="-571500">
              <a:buClr>
                <a:schemeClr val="accent1"/>
              </a:buClr>
              <a:buFont typeface="Wingdings" panose="05000000000000000000" pitchFamily="2" charset="2"/>
              <a:buChar char="ü"/>
            </a:pPr>
            <a:r>
              <a:rPr lang="en-IN" b="1" dirty="0">
                <a:solidFill>
                  <a:schemeClr val="tx1"/>
                </a:solidFill>
              </a:rPr>
              <a:t>Unstructured Data</a:t>
            </a:r>
          </a:p>
        </p:txBody>
      </p:sp>
      <p:sp>
        <p:nvSpPr>
          <p:cNvPr id="3" name="Content Placeholder 2">
            <a:extLst>
              <a:ext uri="{FF2B5EF4-FFF2-40B4-BE49-F238E27FC236}">
                <a16:creationId xmlns:a16="http://schemas.microsoft.com/office/drawing/2014/main" id="{C21FC707-7E44-82D7-0023-0205A884DD04}"/>
              </a:ext>
            </a:extLst>
          </p:cNvPr>
          <p:cNvSpPr>
            <a:spLocks noGrp="1"/>
          </p:cNvSpPr>
          <p:nvPr>
            <p:ph idx="1"/>
          </p:nvPr>
        </p:nvSpPr>
        <p:spPr>
          <a:xfrm>
            <a:off x="1152118" y="2400301"/>
            <a:ext cx="10639595" cy="4106007"/>
          </a:xfrm>
        </p:spPr>
        <p:txBody>
          <a:bodyPr>
            <a:normAutofit fontScale="77500" lnSpcReduction="20000"/>
          </a:bodyPr>
          <a:lstStyle/>
          <a:p>
            <a:pPr>
              <a:buFont typeface="Wingdings" panose="05000000000000000000" pitchFamily="2" charset="2"/>
              <a:buChar char="q"/>
            </a:pPr>
            <a:r>
              <a:rPr lang="en-US" sz="1600" b="1" dirty="0">
                <a:latin typeface="+mj-lt"/>
              </a:rPr>
              <a:t>Definition:</a:t>
            </a:r>
            <a:br>
              <a:rPr lang="en-US" sz="1600" dirty="0">
                <a:latin typeface="+mj-lt"/>
              </a:rPr>
            </a:br>
            <a:r>
              <a:rPr lang="en-US" sz="1600" dirty="0">
                <a:latin typeface="+mj-lt"/>
              </a:rPr>
              <a:t>Unstructured data is information that </a:t>
            </a:r>
            <a:r>
              <a:rPr lang="en-US" sz="1600" b="1" dirty="0">
                <a:latin typeface="+mj-lt"/>
              </a:rPr>
              <a:t>does not have a predefined format or organization</a:t>
            </a:r>
            <a:r>
              <a:rPr lang="en-US" sz="1600" dirty="0">
                <a:latin typeface="+mj-lt"/>
              </a:rPr>
              <a:t>, making it </a:t>
            </a:r>
            <a:r>
              <a:rPr lang="en-US" sz="1600" b="1" dirty="0">
                <a:latin typeface="+mj-lt"/>
              </a:rPr>
              <a:t>difficult to store, search, and analyze</a:t>
            </a:r>
            <a:r>
              <a:rPr lang="en-US" sz="1600" dirty="0">
                <a:latin typeface="+mj-lt"/>
              </a:rPr>
              <a:t> using traditional database methods.</a:t>
            </a:r>
          </a:p>
          <a:p>
            <a:pPr>
              <a:buFont typeface="Wingdings" panose="05000000000000000000" pitchFamily="2" charset="2"/>
              <a:buChar char="Ø"/>
            </a:pPr>
            <a:r>
              <a:rPr lang="en-US" sz="1600" b="1" dirty="0">
                <a:latin typeface="+mj-lt"/>
              </a:rPr>
              <a:t>Examples:</a:t>
            </a:r>
          </a:p>
          <a:p>
            <a:pPr>
              <a:buFont typeface="Courier New" panose="02070309020205020404" pitchFamily="49" charset="0"/>
              <a:buChar char="o"/>
            </a:pPr>
            <a:r>
              <a:rPr lang="en-US" sz="1600" dirty="0">
                <a:latin typeface="+mj-lt"/>
              </a:rPr>
              <a:t>Text documents and reports</a:t>
            </a:r>
          </a:p>
          <a:p>
            <a:pPr>
              <a:buFont typeface="Courier New" panose="02070309020205020404" pitchFamily="49" charset="0"/>
              <a:buChar char="o"/>
            </a:pPr>
            <a:r>
              <a:rPr lang="en-US" sz="1600" dirty="0">
                <a:latin typeface="+mj-lt"/>
              </a:rPr>
              <a:t>Images, videos, and audio files</a:t>
            </a:r>
          </a:p>
          <a:p>
            <a:pPr>
              <a:buFont typeface="Courier New" panose="02070309020205020404" pitchFamily="49" charset="0"/>
              <a:buChar char="o"/>
            </a:pPr>
            <a:r>
              <a:rPr lang="en-US" sz="1600" dirty="0">
                <a:latin typeface="+mj-lt"/>
              </a:rPr>
              <a:t>Social media posts (Facebook, Twitter)</a:t>
            </a:r>
          </a:p>
          <a:p>
            <a:pPr>
              <a:buFont typeface="Courier New" panose="02070309020205020404" pitchFamily="49" charset="0"/>
              <a:buChar char="o"/>
            </a:pPr>
            <a:r>
              <a:rPr lang="en-US" sz="1600" dirty="0">
                <a:latin typeface="+mj-lt"/>
              </a:rPr>
              <a:t>Emails without structured fields</a:t>
            </a:r>
          </a:p>
          <a:p>
            <a:pPr>
              <a:buFont typeface="Wingdings" panose="05000000000000000000" pitchFamily="2" charset="2"/>
              <a:buChar char="Ø"/>
            </a:pPr>
            <a:r>
              <a:rPr lang="en-US" sz="1600" b="1" dirty="0">
                <a:latin typeface="+mj-lt"/>
              </a:rPr>
              <a:t>Key Feature:</a:t>
            </a:r>
          </a:p>
          <a:p>
            <a:pPr>
              <a:buFont typeface="Courier New" panose="02070309020205020404" pitchFamily="49" charset="0"/>
              <a:buChar char="o"/>
            </a:pPr>
            <a:r>
              <a:rPr lang="en-US" sz="1600" dirty="0">
                <a:latin typeface="+mj-lt"/>
              </a:rPr>
              <a:t>It lacks a fixed schema and is often stored in data lakes or specialized storage systems that can handle diverse formats.</a:t>
            </a:r>
          </a:p>
          <a:p>
            <a:pPr>
              <a:buFont typeface="Wingdings" panose="05000000000000000000" pitchFamily="2" charset="2"/>
              <a:buChar char="Ø"/>
            </a:pPr>
            <a:r>
              <a:rPr lang="en-US" sz="1600" b="1" dirty="0"/>
              <a:t>Characteristics </a:t>
            </a:r>
          </a:p>
          <a:p>
            <a:pPr>
              <a:buFont typeface="Courier New" panose="02070309020205020404" pitchFamily="49" charset="0"/>
              <a:buChar char="o"/>
            </a:pPr>
            <a:r>
              <a:rPr lang="en-US" sz="1600" dirty="0"/>
              <a:t>Mostly free-form content. </a:t>
            </a:r>
          </a:p>
          <a:p>
            <a:pPr>
              <a:buFont typeface="Courier New" panose="02070309020205020404" pitchFamily="49" charset="0"/>
              <a:buChar char="o"/>
            </a:pPr>
            <a:r>
              <a:rPr lang="en-US" sz="1600" dirty="0"/>
              <a:t>Difficult to store in traditional databases. </a:t>
            </a:r>
          </a:p>
          <a:p>
            <a:pPr>
              <a:buFont typeface="Courier New" panose="02070309020205020404" pitchFamily="49" charset="0"/>
              <a:buChar char="o"/>
            </a:pPr>
            <a:r>
              <a:rPr lang="en-US" sz="1600" dirty="0"/>
              <a:t>Requires techniques like text mining, NLP, image processing for analysis. </a:t>
            </a:r>
          </a:p>
          <a:p>
            <a:pPr>
              <a:buFont typeface="Courier New" panose="02070309020205020404" pitchFamily="49" charset="0"/>
              <a:buChar char="o"/>
            </a:pPr>
            <a:r>
              <a:rPr lang="en-US" sz="1600" dirty="0"/>
              <a:t>Makes up a large portion of real-world data. </a:t>
            </a:r>
          </a:p>
          <a:p>
            <a:pPr marL="0" indent="0">
              <a:buNone/>
            </a:pPr>
            <a:endParaRPr lang="en-US" sz="1600" dirty="0">
              <a:latin typeface="+mj-lt"/>
            </a:endParaRPr>
          </a:p>
        </p:txBody>
      </p:sp>
    </p:spTree>
    <p:extLst>
      <p:ext uri="{BB962C8B-B14F-4D97-AF65-F5344CB8AC3E}">
        <p14:creationId xmlns:p14="http://schemas.microsoft.com/office/powerpoint/2010/main" val="797114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5363F-EADD-13FA-E47B-FA34250FE3E0}"/>
              </a:ext>
            </a:extLst>
          </p:cNvPr>
          <p:cNvSpPr>
            <a:spLocks noGrp="1"/>
          </p:cNvSpPr>
          <p:nvPr>
            <p:ph type="title"/>
          </p:nvPr>
        </p:nvSpPr>
        <p:spPr>
          <a:xfrm>
            <a:off x="1163517" y="1925515"/>
            <a:ext cx="9601196" cy="764930"/>
          </a:xfrm>
        </p:spPr>
        <p:txBody>
          <a:bodyPr>
            <a:noAutofit/>
          </a:bodyPr>
          <a:lstStyle/>
          <a:p>
            <a:r>
              <a:rPr lang="en-IN" b="1" dirty="0">
                <a:solidFill>
                  <a:schemeClr val="tx1"/>
                </a:solidFill>
              </a:rPr>
              <a:t>Common Data Sources</a:t>
            </a:r>
            <a:br>
              <a:rPr lang="en-IN" b="1" dirty="0"/>
            </a:br>
            <a:endParaRPr lang="en-IN" dirty="0"/>
          </a:p>
        </p:txBody>
      </p:sp>
      <p:sp>
        <p:nvSpPr>
          <p:cNvPr id="3" name="Content Placeholder 2">
            <a:extLst>
              <a:ext uri="{FF2B5EF4-FFF2-40B4-BE49-F238E27FC236}">
                <a16:creationId xmlns:a16="http://schemas.microsoft.com/office/drawing/2014/main" id="{BE231AF7-5DCE-65E4-1546-171AFA7D2677}"/>
              </a:ext>
            </a:extLst>
          </p:cNvPr>
          <p:cNvSpPr>
            <a:spLocks noGrp="1"/>
          </p:cNvSpPr>
          <p:nvPr>
            <p:ph idx="1"/>
          </p:nvPr>
        </p:nvSpPr>
        <p:spPr/>
        <p:txBody>
          <a:bodyPr>
            <a:normAutofit/>
          </a:bodyPr>
          <a:lstStyle/>
          <a:p>
            <a:pPr>
              <a:buFont typeface="Wingdings" panose="05000000000000000000" pitchFamily="2" charset="2"/>
              <a:buChar char="q"/>
            </a:pPr>
            <a:r>
              <a:rPr lang="en-US" sz="1600" b="1" u="sng" dirty="0"/>
              <a:t>Definition</a:t>
            </a:r>
            <a:r>
              <a:rPr lang="en-US" sz="1600" dirty="0"/>
              <a:t>:-</a:t>
            </a:r>
            <a:br>
              <a:rPr lang="en-US" sz="1600" dirty="0"/>
            </a:br>
            <a:r>
              <a:rPr lang="en-US" sz="1600" dirty="0"/>
              <a:t>Common data sources are the origins or locations from which organizations collect information to analyze, make decisions, or support business operations.</a:t>
            </a:r>
          </a:p>
          <a:p>
            <a:pPr>
              <a:buFont typeface="Wingdings" panose="05000000000000000000" pitchFamily="2" charset="2"/>
              <a:buChar char="Ø"/>
            </a:pPr>
            <a:r>
              <a:rPr lang="en-US" sz="1600" b="1" u="sng" dirty="0"/>
              <a:t>Examples:</a:t>
            </a:r>
          </a:p>
          <a:p>
            <a:pPr>
              <a:buFont typeface="Wingdings" panose="05000000000000000000" pitchFamily="2" charset="2"/>
              <a:buChar char="ü"/>
            </a:pPr>
            <a:r>
              <a:rPr lang="en-US" sz="1600" b="1" dirty="0"/>
              <a:t>Internal Data: </a:t>
            </a:r>
            <a:r>
              <a:rPr lang="en-US" sz="1600" dirty="0"/>
              <a:t>Sales records, employee data</a:t>
            </a:r>
          </a:p>
          <a:p>
            <a:pPr>
              <a:buFont typeface="Wingdings" panose="05000000000000000000" pitchFamily="2" charset="2"/>
              <a:buChar char="ü"/>
            </a:pPr>
            <a:r>
              <a:rPr lang="en-US" sz="1600" b="1" dirty="0"/>
              <a:t>External Data: </a:t>
            </a:r>
            <a:r>
              <a:rPr lang="en-US" sz="1600" dirty="0"/>
              <a:t>Competitor information, market trends</a:t>
            </a:r>
          </a:p>
          <a:p>
            <a:pPr>
              <a:buFont typeface="Wingdings" panose="05000000000000000000" pitchFamily="2" charset="2"/>
              <a:buChar char="ü"/>
            </a:pPr>
            <a:r>
              <a:rPr lang="en-US" sz="1600" b="1" dirty="0"/>
              <a:t>Third-Party Analytics:</a:t>
            </a:r>
            <a:r>
              <a:rPr lang="en-US" sz="1600" dirty="0"/>
              <a:t> Market research reports from analytics providers</a:t>
            </a:r>
          </a:p>
          <a:p>
            <a:pPr>
              <a:buFont typeface="Wingdings" panose="05000000000000000000" pitchFamily="2" charset="2"/>
              <a:buChar char="ü"/>
            </a:pPr>
            <a:r>
              <a:rPr lang="en-US" sz="1600" b="1" dirty="0"/>
              <a:t>Open Data: </a:t>
            </a:r>
            <a:r>
              <a:rPr lang="en-US" sz="1600" dirty="0"/>
              <a:t>Government datasets, public research data</a:t>
            </a:r>
          </a:p>
          <a:p>
            <a:endParaRPr lang="en-IN" sz="1600" dirty="0"/>
          </a:p>
        </p:txBody>
      </p:sp>
    </p:spTree>
    <p:extLst>
      <p:ext uri="{BB962C8B-B14F-4D97-AF65-F5344CB8AC3E}">
        <p14:creationId xmlns:p14="http://schemas.microsoft.com/office/powerpoint/2010/main" val="12351786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0860-9E37-C58B-D916-7882BA164073}"/>
              </a:ext>
            </a:extLst>
          </p:cNvPr>
          <p:cNvSpPr>
            <a:spLocks noGrp="1"/>
          </p:cNvSpPr>
          <p:nvPr>
            <p:ph type="title"/>
          </p:nvPr>
        </p:nvSpPr>
        <p:spPr>
          <a:xfrm>
            <a:off x="1295402" y="1389186"/>
            <a:ext cx="9601196" cy="1063868"/>
          </a:xfrm>
        </p:spPr>
        <p:txBody>
          <a:bodyPr/>
          <a:lstStyle/>
          <a:p>
            <a:pPr marL="571500" indent="-571500">
              <a:buClr>
                <a:schemeClr val="accent1"/>
              </a:buClr>
              <a:buFont typeface="Wingdings" panose="05000000000000000000" pitchFamily="2" charset="2"/>
              <a:buChar char="ü"/>
            </a:pPr>
            <a:r>
              <a:rPr lang="en-US" b="1" dirty="0"/>
              <a:t>Internal Data</a:t>
            </a:r>
            <a:endParaRPr lang="en-IN" dirty="0"/>
          </a:p>
        </p:txBody>
      </p:sp>
      <p:sp>
        <p:nvSpPr>
          <p:cNvPr id="3" name="Content Placeholder 2">
            <a:extLst>
              <a:ext uri="{FF2B5EF4-FFF2-40B4-BE49-F238E27FC236}">
                <a16:creationId xmlns:a16="http://schemas.microsoft.com/office/drawing/2014/main" id="{A3E89412-5F41-3489-0E1B-8FCAB43F692B}"/>
              </a:ext>
            </a:extLst>
          </p:cNvPr>
          <p:cNvSpPr>
            <a:spLocks noGrp="1"/>
          </p:cNvSpPr>
          <p:nvPr>
            <p:ph idx="1"/>
          </p:nvPr>
        </p:nvSpPr>
        <p:spPr>
          <a:xfrm>
            <a:off x="1295402" y="2453054"/>
            <a:ext cx="9601196" cy="3851031"/>
          </a:xfrm>
        </p:spPr>
        <p:txBody>
          <a:bodyPr>
            <a:normAutofit fontScale="62500" lnSpcReduction="20000"/>
          </a:bodyPr>
          <a:lstStyle/>
          <a:p>
            <a:pPr>
              <a:buFont typeface="Wingdings" panose="05000000000000000000" pitchFamily="2" charset="2"/>
              <a:buChar char="q"/>
            </a:pPr>
            <a:r>
              <a:rPr lang="en-IN" b="1" u="sng" dirty="0">
                <a:solidFill>
                  <a:schemeClr val="tx1"/>
                </a:solidFill>
              </a:rPr>
              <a:t>Definition:-</a:t>
            </a:r>
          </a:p>
          <a:p>
            <a:pPr marL="0" indent="0">
              <a:buNone/>
            </a:pPr>
            <a:r>
              <a:rPr lang="en-US" dirty="0">
                <a:solidFill>
                  <a:schemeClr val="tx1"/>
                </a:solidFill>
              </a:rPr>
              <a:t>Internal data is the data generated and stored within an organization during its day-to-day operations.</a:t>
            </a:r>
          </a:p>
          <a:p>
            <a:pPr>
              <a:buFont typeface="Wingdings" panose="05000000000000000000" pitchFamily="2" charset="2"/>
              <a:buChar char="Ø"/>
            </a:pPr>
            <a:r>
              <a:rPr lang="en-US" b="1" u="sng" dirty="0">
                <a:solidFill>
                  <a:schemeClr val="tx1"/>
                </a:solidFill>
              </a:rPr>
              <a:t>Examples:-</a:t>
            </a:r>
            <a:endParaRPr lang="en-US" u="sng" dirty="0">
              <a:solidFill>
                <a:schemeClr val="tx1"/>
              </a:solidFill>
            </a:endParaRPr>
          </a:p>
          <a:p>
            <a:pPr>
              <a:buFont typeface="Courier New" panose="02070309020205020404" pitchFamily="49" charset="0"/>
              <a:buChar char="o"/>
            </a:pPr>
            <a:r>
              <a:rPr lang="en-US" dirty="0">
                <a:solidFill>
                  <a:schemeClr val="tx1"/>
                </a:solidFill>
              </a:rPr>
              <a:t>Sales records, invoices, billing data</a:t>
            </a:r>
          </a:p>
          <a:p>
            <a:pPr>
              <a:buFont typeface="Courier New" panose="02070309020205020404" pitchFamily="49" charset="0"/>
              <a:buChar char="o"/>
            </a:pPr>
            <a:r>
              <a:rPr lang="en-US" dirty="0">
                <a:solidFill>
                  <a:schemeClr val="tx1"/>
                </a:solidFill>
              </a:rPr>
              <a:t>Customer details from CRM</a:t>
            </a:r>
          </a:p>
          <a:p>
            <a:pPr>
              <a:buFont typeface="Courier New" panose="02070309020205020404" pitchFamily="49" charset="0"/>
              <a:buChar char="o"/>
            </a:pPr>
            <a:r>
              <a:rPr lang="en-US" dirty="0">
                <a:solidFill>
                  <a:schemeClr val="tx1"/>
                </a:solidFill>
              </a:rPr>
              <a:t>Employee records, attendance, payroll</a:t>
            </a:r>
          </a:p>
          <a:p>
            <a:pPr>
              <a:buFont typeface="Courier New" panose="02070309020205020404" pitchFamily="49" charset="0"/>
              <a:buChar char="o"/>
            </a:pPr>
            <a:r>
              <a:rPr lang="en-US" dirty="0">
                <a:solidFill>
                  <a:schemeClr val="tx1"/>
                </a:solidFill>
              </a:rPr>
              <a:t>Inventory and stock levels</a:t>
            </a:r>
          </a:p>
          <a:p>
            <a:pPr>
              <a:buFont typeface="Courier New" panose="02070309020205020404" pitchFamily="49" charset="0"/>
              <a:buChar char="o"/>
            </a:pPr>
            <a:r>
              <a:rPr lang="en-US" dirty="0">
                <a:solidFill>
                  <a:schemeClr val="tx1"/>
                </a:solidFill>
              </a:rPr>
              <a:t>Production and logistics data</a:t>
            </a:r>
          </a:p>
          <a:p>
            <a:pPr>
              <a:buFont typeface="Wingdings" panose="05000000000000000000" pitchFamily="2" charset="2"/>
              <a:buChar char="Ø"/>
            </a:pPr>
            <a:r>
              <a:rPr lang="en-US" b="1" dirty="0">
                <a:solidFill>
                  <a:schemeClr val="tx1"/>
                </a:solidFill>
              </a:rPr>
              <a:t>Key Points:-</a:t>
            </a:r>
            <a:endParaRPr lang="en-US" dirty="0">
              <a:solidFill>
                <a:schemeClr val="tx1"/>
              </a:solidFill>
            </a:endParaRPr>
          </a:p>
          <a:p>
            <a:pPr>
              <a:buFont typeface="Courier New" panose="02070309020205020404" pitchFamily="49" charset="0"/>
              <a:buChar char="o"/>
            </a:pPr>
            <a:r>
              <a:rPr lang="en-US" dirty="0">
                <a:solidFill>
                  <a:schemeClr val="tx1"/>
                </a:solidFill>
              </a:rPr>
              <a:t>Usually stored in internal databases, ERP, CRM, HR systems.</a:t>
            </a:r>
          </a:p>
          <a:p>
            <a:pPr>
              <a:buFont typeface="Courier New" panose="02070309020205020404" pitchFamily="49" charset="0"/>
              <a:buChar char="o"/>
            </a:pPr>
            <a:r>
              <a:rPr lang="en-US" dirty="0">
                <a:solidFill>
                  <a:schemeClr val="tx1"/>
                </a:solidFill>
              </a:rPr>
              <a:t>Considered reliable and confidential.</a:t>
            </a:r>
          </a:p>
          <a:p>
            <a:pPr>
              <a:buFont typeface="Courier New" panose="02070309020205020404" pitchFamily="49" charset="0"/>
              <a:buChar char="o"/>
            </a:pPr>
            <a:r>
              <a:rPr lang="en-US" dirty="0">
                <a:solidFill>
                  <a:schemeClr val="tx1"/>
                </a:solidFill>
              </a:rPr>
              <a:t>Main source for management reports, KPIs, and performance analysis</a:t>
            </a:r>
            <a:endParaRPr lang="en-IN" dirty="0"/>
          </a:p>
        </p:txBody>
      </p:sp>
    </p:spTree>
    <p:extLst>
      <p:ext uri="{BB962C8B-B14F-4D97-AF65-F5344CB8AC3E}">
        <p14:creationId xmlns:p14="http://schemas.microsoft.com/office/powerpoint/2010/main" val="5417296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6F444-C986-0F6C-2BB0-9BA83C2A3F44}"/>
              </a:ext>
            </a:extLst>
          </p:cNvPr>
          <p:cNvSpPr>
            <a:spLocks noGrp="1"/>
          </p:cNvSpPr>
          <p:nvPr>
            <p:ph type="title"/>
          </p:nvPr>
        </p:nvSpPr>
        <p:spPr>
          <a:xfrm>
            <a:off x="1295402" y="1457894"/>
            <a:ext cx="9601196" cy="993530"/>
          </a:xfrm>
        </p:spPr>
        <p:txBody>
          <a:bodyPr/>
          <a:lstStyle/>
          <a:p>
            <a:pPr marL="571500" indent="-571500">
              <a:buClr>
                <a:schemeClr val="accent1"/>
              </a:buClr>
              <a:buFont typeface="Wingdings" panose="05000000000000000000" pitchFamily="2" charset="2"/>
              <a:buChar char="ü"/>
            </a:pPr>
            <a:r>
              <a:rPr lang="en-US" b="1" dirty="0"/>
              <a:t>External Data</a:t>
            </a:r>
            <a:endParaRPr lang="en-IN" dirty="0"/>
          </a:p>
        </p:txBody>
      </p:sp>
      <p:sp>
        <p:nvSpPr>
          <p:cNvPr id="3" name="Content Placeholder 2">
            <a:extLst>
              <a:ext uri="{FF2B5EF4-FFF2-40B4-BE49-F238E27FC236}">
                <a16:creationId xmlns:a16="http://schemas.microsoft.com/office/drawing/2014/main" id="{17125F7F-C8C7-FE10-E073-240807CF7F08}"/>
              </a:ext>
            </a:extLst>
          </p:cNvPr>
          <p:cNvSpPr>
            <a:spLocks noGrp="1"/>
          </p:cNvSpPr>
          <p:nvPr>
            <p:ph idx="1"/>
          </p:nvPr>
        </p:nvSpPr>
        <p:spPr>
          <a:xfrm>
            <a:off x="1295402" y="2451424"/>
            <a:ext cx="9601196" cy="3318936"/>
          </a:xfrm>
        </p:spPr>
        <p:txBody>
          <a:bodyPr>
            <a:normAutofit fontScale="55000" lnSpcReduction="20000"/>
          </a:bodyPr>
          <a:lstStyle/>
          <a:p>
            <a:pPr>
              <a:buFont typeface="Wingdings" panose="05000000000000000000" pitchFamily="2" charset="2"/>
              <a:buChar char="q"/>
            </a:pPr>
            <a:r>
              <a:rPr lang="en-US" b="1" u="sng" dirty="0"/>
              <a:t>Definition:-</a:t>
            </a:r>
            <a:br>
              <a:rPr lang="en-US" dirty="0"/>
            </a:br>
            <a:r>
              <a:rPr lang="en-US" dirty="0"/>
              <a:t>External data is information collected from sources outside the organization to support business decisions and gain market insights.</a:t>
            </a:r>
          </a:p>
          <a:p>
            <a:pPr>
              <a:buFont typeface="Wingdings" panose="05000000000000000000" pitchFamily="2" charset="2"/>
              <a:buChar char="Ø"/>
            </a:pPr>
            <a:r>
              <a:rPr lang="en-US" b="1" u="sng" dirty="0">
                <a:solidFill>
                  <a:schemeClr val="tx1"/>
                </a:solidFill>
              </a:rPr>
              <a:t>Examples:-</a:t>
            </a:r>
            <a:endParaRPr lang="en-US" u="sng" dirty="0">
              <a:solidFill>
                <a:schemeClr val="tx1"/>
              </a:solidFill>
            </a:endParaRPr>
          </a:p>
          <a:p>
            <a:pPr>
              <a:buFont typeface="Courier New" panose="02070309020205020404" pitchFamily="49" charset="0"/>
              <a:buChar char="o"/>
            </a:pPr>
            <a:r>
              <a:rPr lang="en-US" dirty="0">
                <a:solidFill>
                  <a:schemeClr val="tx1"/>
                </a:solidFill>
              </a:rPr>
              <a:t>Market trends and competitor information</a:t>
            </a:r>
          </a:p>
          <a:p>
            <a:pPr>
              <a:buFont typeface="Courier New" panose="02070309020205020404" pitchFamily="49" charset="0"/>
              <a:buChar char="o"/>
            </a:pPr>
            <a:r>
              <a:rPr lang="en-US" dirty="0">
                <a:solidFill>
                  <a:schemeClr val="tx1"/>
                </a:solidFill>
              </a:rPr>
              <a:t>Customer demographics from external agencies</a:t>
            </a:r>
          </a:p>
          <a:p>
            <a:pPr>
              <a:buFont typeface="Courier New" panose="02070309020205020404" pitchFamily="49" charset="0"/>
              <a:buChar char="o"/>
            </a:pPr>
            <a:r>
              <a:rPr lang="en-US" dirty="0">
                <a:solidFill>
                  <a:schemeClr val="tx1"/>
                </a:solidFill>
              </a:rPr>
              <a:t>Industry reports and statistics</a:t>
            </a:r>
          </a:p>
          <a:p>
            <a:pPr>
              <a:buFont typeface="Courier New" panose="02070309020205020404" pitchFamily="49" charset="0"/>
              <a:buChar char="o"/>
            </a:pPr>
            <a:r>
              <a:rPr lang="en-US" dirty="0">
                <a:solidFill>
                  <a:schemeClr val="tx1"/>
                </a:solidFill>
              </a:rPr>
              <a:t>Supplier and vendor data</a:t>
            </a:r>
          </a:p>
          <a:p>
            <a:pPr>
              <a:buFont typeface="Wingdings" panose="05000000000000000000" pitchFamily="2" charset="2"/>
              <a:buChar char="Ø"/>
            </a:pPr>
            <a:r>
              <a:rPr lang="en-US" b="1" u="sng" dirty="0">
                <a:solidFill>
                  <a:schemeClr val="tx1"/>
                </a:solidFill>
              </a:rPr>
              <a:t>Key Points:-</a:t>
            </a:r>
          </a:p>
          <a:p>
            <a:pPr>
              <a:buFont typeface="Courier New" panose="02070309020205020404" pitchFamily="49" charset="0"/>
              <a:buChar char="o"/>
            </a:pPr>
            <a:r>
              <a:rPr lang="en-US" dirty="0">
                <a:solidFill>
                  <a:schemeClr val="tx1"/>
                </a:solidFill>
              </a:rPr>
              <a:t>Used to understand the business environment and competition.</a:t>
            </a:r>
          </a:p>
          <a:p>
            <a:pPr>
              <a:buFont typeface="Courier New" panose="02070309020205020404" pitchFamily="49" charset="0"/>
              <a:buChar char="o"/>
            </a:pPr>
            <a:r>
              <a:rPr lang="en-US" dirty="0">
                <a:solidFill>
                  <a:schemeClr val="tx1"/>
                </a:solidFill>
              </a:rPr>
              <a:t>Often obtained through subscriptions, data vendors, industry bodies.</a:t>
            </a:r>
          </a:p>
          <a:p>
            <a:pPr>
              <a:buFont typeface="Courier New" panose="02070309020205020404" pitchFamily="49" charset="0"/>
              <a:buChar char="o"/>
            </a:pPr>
            <a:r>
              <a:rPr lang="en-US" dirty="0">
                <a:solidFill>
                  <a:schemeClr val="tx1"/>
                </a:solidFill>
              </a:rPr>
              <a:t>Complements internal data for better forecasting and strategy.</a:t>
            </a:r>
          </a:p>
          <a:p>
            <a:endParaRPr lang="en-IN" dirty="0"/>
          </a:p>
        </p:txBody>
      </p:sp>
    </p:spTree>
    <p:extLst>
      <p:ext uri="{BB962C8B-B14F-4D97-AF65-F5344CB8AC3E}">
        <p14:creationId xmlns:p14="http://schemas.microsoft.com/office/powerpoint/2010/main" val="2187008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314C-7ECE-B5CE-2F58-1A34C83B797F}"/>
              </a:ext>
            </a:extLst>
          </p:cNvPr>
          <p:cNvSpPr>
            <a:spLocks noGrp="1"/>
          </p:cNvSpPr>
          <p:nvPr>
            <p:ph type="title"/>
          </p:nvPr>
        </p:nvSpPr>
        <p:spPr>
          <a:xfrm>
            <a:off x="1295402" y="1468315"/>
            <a:ext cx="9601196" cy="940776"/>
          </a:xfrm>
        </p:spPr>
        <p:txBody>
          <a:bodyPr/>
          <a:lstStyle/>
          <a:p>
            <a:pPr marL="571500" indent="-571500">
              <a:buClr>
                <a:schemeClr val="accent1"/>
              </a:buClr>
              <a:buFont typeface="Wingdings" panose="05000000000000000000" pitchFamily="2" charset="2"/>
              <a:buChar char="ü"/>
            </a:pPr>
            <a:r>
              <a:rPr lang="en-US" b="1" dirty="0"/>
              <a:t>Third-Party Analytics</a:t>
            </a:r>
            <a:endParaRPr lang="en-IN" dirty="0"/>
          </a:p>
        </p:txBody>
      </p:sp>
      <p:sp>
        <p:nvSpPr>
          <p:cNvPr id="3" name="Content Placeholder 2">
            <a:extLst>
              <a:ext uri="{FF2B5EF4-FFF2-40B4-BE49-F238E27FC236}">
                <a16:creationId xmlns:a16="http://schemas.microsoft.com/office/drawing/2014/main" id="{4DA929FB-CFFE-1170-5667-7230926CF71C}"/>
              </a:ext>
            </a:extLst>
          </p:cNvPr>
          <p:cNvSpPr>
            <a:spLocks noGrp="1"/>
          </p:cNvSpPr>
          <p:nvPr>
            <p:ph idx="1"/>
          </p:nvPr>
        </p:nvSpPr>
        <p:spPr>
          <a:xfrm>
            <a:off x="1295402" y="2409091"/>
            <a:ext cx="9601196" cy="3771902"/>
          </a:xfrm>
        </p:spPr>
        <p:txBody>
          <a:bodyPr>
            <a:normAutofit fontScale="62500" lnSpcReduction="20000"/>
          </a:bodyPr>
          <a:lstStyle/>
          <a:p>
            <a:pPr>
              <a:buFont typeface="Wingdings" panose="05000000000000000000" pitchFamily="2" charset="2"/>
              <a:buChar char="q"/>
            </a:pPr>
            <a:r>
              <a:rPr lang="en-US" b="1" u="sng" dirty="0"/>
              <a:t>Definition:-</a:t>
            </a:r>
            <a:br>
              <a:rPr lang="en-US" dirty="0"/>
            </a:br>
            <a:r>
              <a:rPr lang="en-US" dirty="0"/>
              <a:t>Third-party analytics refers to data and insights provided by external organizations or analytics companies to help businesses make informed decisions.</a:t>
            </a:r>
          </a:p>
          <a:p>
            <a:pPr>
              <a:buFont typeface="Wingdings" panose="05000000000000000000" pitchFamily="2" charset="2"/>
              <a:buChar char="Ø"/>
            </a:pPr>
            <a:r>
              <a:rPr lang="en-US" b="1" u="sng" dirty="0">
                <a:solidFill>
                  <a:schemeClr val="tx1"/>
                </a:solidFill>
              </a:rPr>
              <a:t>Examples:-</a:t>
            </a:r>
            <a:endParaRPr lang="en-US" u="sng" dirty="0">
              <a:solidFill>
                <a:schemeClr val="tx1"/>
              </a:solidFill>
            </a:endParaRPr>
          </a:p>
          <a:p>
            <a:pPr>
              <a:buFont typeface="Courier New" panose="02070309020205020404" pitchFamily="49" charset="0"/>
              <a:buChar char="o"/>
            </a:pPr>
            <a:r>
              <a:rPr lang="en-US" dirty="0">
                <a:solidFill>
                  <a:schemeClr val="tx1"/>
                </a:solidFill>
              </a:rPr>
              <a:t>Website traffic data from tools like Google Analytics</a:t>
            </a:r>
          </a:p>
          <a:p>
            <a:pPr>
              <a:buFont typeface="Courier New" panose="02070309020205020404" pitchFamily="49" charset="0"/>
              <a:buChar char="o"/>
            </a:pPr>
            <a:r>
              <a:rPr lang="en-US" dirty="0">
                <a:solidFill>
                  <a:schemeClr val="tx1"/>
                </a:solidFill>
              </a:rPr>
              <a:t>Social media analytics from platforms or marketing tools</a:t>
            </a:r>
          </a:p>
          <a:p>
            <a:pPr>
              <a:buFont typeface="Courier New" panose="02070309020205020404" pitchFamily="49" charset="0"/>
              <a:buChar char="o"/>
            </a:pPr>
            <a:r>
              <a:rPr lang="en-US" dirty="0">
                <a:solidFill>
                  <a:schemeClr val="tx1"/>
                </a:solidFill>
              </a:rPr>
              <a:t>Market research reports bought from research firms</a:t>
            </a:r>
          </a:p>
          <a:p>
            <a:pPr>
              <a:buFont typeface="Courier New" panose="02070309020205020404" pitchFamily="49" charset="0"/>
              <a:buChar char="o"/>
            </a:pPr>
            <a:r>
              <a:rPr lang="en-US" dirty="0">
                <a:solidFill>
                  <a:schemeClr val="tx1"/>
                </a:solidFill>
              </a:rPr>
              <a:t>Advertising performance data from ad platforms</a:t>
            </a:r>
          </a:p>
          <a:p>
            <a:pPr>
              <a:buFont typeface="Wingdings" panose="05000000000000000000" pitchFamily="2" charset="2"/>
              <a:buChar char="Ø"/>
            </a:pPr>
            <a:r>
              <a:rPr lang="en-US" b="1" u="sng" dirty="0">
                <a:solidFill>
                  <a:schemeClr val="tx1"/>
                </a:solidFill>
              </a:rPr>
              <a:t>Key Points:-</a:t>
            </a:r>
            <a:endParaRPr lang="en-US" u="sng" dirty="0">
              <a:solidFill>
                <a:schemeClr val="tx1"/>
              </a:solidFill>
            </a:endParaRPr>
          </a:p>
          <a:p>
            <a:pPr>
              <a:buFont typeface="Courier New" panose="02070309020205020404" pitchFamily="49" charset="0"/>
              <a:buChar char="o"/>
            </a:pPr>
            <a:r>
              <a:rPr lang="en-US" dirty="0">
                <a:solidFill>
                  <a:schemeClr val="tx1"/>
                </a:solidFill>
              </a:rPr>
              <a:t>Helps organizations understand user behaviors, marketing performance, trends.</a:t>
            </a:r>
          </a:p>
          <a:p>
            <a:pPr>
              <a:buFont typeface="Courier New" panose="02070309020205020404" pitchFamily="49" charset="0"/>
              <a:buChar char="o"/>
            </a:pPr>
            <a:r>
              <a:rPr lang="en-US" dirty="0">
                <a:solidFill>
                  <a:schemeClr val="tx1"/>
                </a:solidFill>
              </a:rPr>
              <a:t>Often provided via dashboards, reports, or APIs.</a:t>
            </a:r>
          </a:p>
          <a:p>
            <a:pPr>
              <a:buFont typeface="Courier New" panose="02070309020205020404" pitchFamily="49" charset="0"/>
              <a:buChar char="o"/>
            </a:pPr>
            <a:r>
              <a:rPr lang="en-US" dirty="0">
                <a:solidFill>
                  <a:schemeClr val="tx1"/>
                </a:solidFill>
              </a:rPr>
              <a:t>Useful when a company doesn’t have its own advanced analytics tools.</a:t>
            </a:r>
          </a:p>
          <a:p>
            <a:endParaRPr lang="en-IN" dirty="0"/>
          </a:p>
        </p:txBody>
      </p:sp>
    </p:spTree>
    <p:extLst>
      <p:ext uri="{BB962C8B-B14F-4D97-AF65-F5344CB8AC3E}">
        <p14:creationId xmlns:p14="http://schemas.microsoft.com/office/powerpoint/2010/main" val="36487845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6E323-79D7-9009-3D84-AD8718DE6A39}"/>
              </a:ext>
            </a:extLst>
          </p:cNvPr>
          <p:cNvSpPr>
            <a:spLocks noGrp="1"/>
          </p:cNvSpPr>
          <p:nvPr>
            <p:ph type="title"/>
          </p:nvPr>
        </p:nvSpPr>
        <p:spPr>
          <a:xfrm>
            <a:off x="1295401" y="1406769"/>
            <a:ext cx="9601196" cy="958361"/>
          </a:xfrm>
        </p:spPr>
        <p:txBody>
          <a:bodyPr/>
          <a:lstStyle/>
          <a:p>
            <a:pPr marL="571500" indent="-571500">
              <a:buClr>
                <a:schemeClr val="accent1"/>
              </a:buClr>
              <a:buFont typeface="Wingdings" panose="05000000000000000000" pitchFamily="2" charset="2"/>
              <a:buChar char="ü"/>
            </a:pPr>
            <a:r>
              <a:rPr lang="en-US" b="1" dirty="0"/>
              <a:t>Open Data</a:t>
            </a:r>
            <a:endParaRPr lang="en-IN" dirty="0"/>
          </a:p>
        </p:txBody>
      </p:sp>
      <p:sp>
        <p:nvSpPr>
          <p:cNvPr id="3" name="Content Placeholder 2">
            <a:extLst>
              <a:ext uri="{FF2B5EF4-FFF2-40B4-BE49-F238E27FC236}">
                <a16:creationId xmlns:a16="http://schemas.microsoft.com/office/drawing/2014/main" id="{C1922F61-C68B-8BE8-CC5D-33F114E2A276}"/>
              </a:ext>
            </a:extLst>
          </p:cNvPr>
          <p:cNvSpPr>
            <a:spLocks noGrp="1"/>
          </p:cNvSpPr>
          <p:nvPr>
            <p:ph idx="1"/>
          </p:nvPr>
        </p:nvSpPr>
        <p:spPr>
          <a:xfrm>
            <a:off x="1295401" y="2426677"/>
            <a:ext cx="9601196" cy="3736731"/>
          </a:xfrm>
        </p:spPr>
        <p:txBody>
          <a:bodyPr>
            <a:normAutofit fontScale="55000" lnSpcReduction="20000"/>
          </a:bodyPr>
          <a:lstStyle/>
          <a:p>
            <a:pPr>
              <a:lnSpc>
                <a:spcPct val="150000"/>
              </a:lnSpc>
              <a:buFont typeface="Wingdings" panose="05000000000000000000" pitchFamily="2" charset="2"/>
              <a:buChar char="q"/>
            </a:pPr>
            <a:r>
              <a:rPr lang="en-US" b="1" u="sng" dirty="0"/>
              <a:t>Definition:-</a:t>
            </a:r>
            <a:br>
              <a:rPr lang="en-US" dirty="0"/>
            </a:br>
            <a:r>
              <a:rPr lang="en-US" dirty="0"/>
              <a:t>Open data is information that is freely available to the public, often provided by governments, organizations, or institutions for transparency, research, and innovation.</a:t>
            </a:r>
            <a:endParaRPr lang="en-US" dirty="0">
              <a:solidFill>
                <a:schemeClr val="tx1"/>
              </a:solidFill>
            </a:endParaRPr>
          </a:p>
          <a:p>
            <a:pPr>
              <a:buFont typeface="Wingdings" panose="05000000000000000000" pitchFamily="2" charset="2"/>
              <a:buChar char="Ø"/>
            </a:pPr>
            <a:r>
              <a:rPr lang="en-US" b="1" u="sng" dirty="0">
                <a:solidFill>
                  <a:schemeClr val="tx1"/>
                </a:solidFill>
              </a:rPr>
              <a:t>Examples:-</a:t>
            </a:r>
            <a:endParaRPr lang="en-US" u="sng" dirty="0">
              <a:solidFill>
                <a:schemeClr val="tx1"/>
              </a:solidFill>
            </a:endParaRPr>
          </a:p>
          <a:p>
            <a:pPr>
              <a:buFont typeface="Courier New" panose="02070309020205020404" pitchFamily="49" charset="0"/>
              <a:buChar char="o"/>
            </a:pPr>
            <a:r>
              <a:rPr lang="en-US" dirty="0">
                <a:solidFill>
                  <a:schemeClr val="tx1"/>
                </a:solidFill>
              </a:rPr>
              <a:t>Government census data</a:t>
            </a:r>
          </a:p>
          <a:p>
            <a:pPr>
              <a:buFont typeface="Courier New" panose="02070309020205020404" pitchFamily="49" charset="0"/>
              <a:buChar char="o"/>
            </a:pPr>
            <a:r>
              <a:rPr lang="en-US" dirty="0">
                <a:solidFill>
                  <a:schemeClr val="tx1"/>
                </a:solidFill>
              </a:rPr>
              <a:t>Health, education, and crime statistics</a:t>
            </a:r>
          </a:p>
          <a:p>
            <a:pPr>
              <a:buFont typeface="Courier New" panose="02070309020205020404" pitchFamily="49" charset="0"/>
              <a:buChar char="o"/>
            </a:pPr>
            <a:r>
              <a:rPr lang="en-US" dirty="0">
                <a:solidFill>
                  <a:schemeClr val="tx1"/>
                </a:solidFill>
              </a:rPr>
              <a:t>Weather and climate data</a:t>
            </a:r>
          </a:p>
          <a:p>
            <a:pPr>
              <a:buFont typeface="Courier New" panose="02070309020205020404" pitchFamily="49" charset="0"/>
              <a:buChar char="o"/>
            </a:pPr>
            <a:r>
              <a:rPr lang="en-US" dirty="0">
                <a:solidFill>
                  <a:schemeClr val="tx1"/>
                </a:solidFill>
              </a:rPr>
              <a:t>Transport and traffic data</a:t>
            </a:r>
          </a:p>
          <a:p>
            <a:pPr>
              <a:buFont typeface="Courier New" panose="02070309020205020404" pitchFamily="49" charset="0"/>
              <a:buChar char="o"/>
            </a:pPr>
            <a:r>
              <a:rPr lang="en-US" dirty="0">
                <a:solidFill>
                  <a:schemeClr val="tx1"/>
                </a:solidFill>
              </a:rPr>
              <a:t>Open data portals (national or city-level)</a:t>
            </a:r>
          </a:p>
          <a:p>
            <a:pPr>
              <a:buFont typeface="Wingdings" panose="05000000000000000000" pitchFamily="2" charset="2"/>
              <a:buChar char="Ø"/>
            </a:pPr>
            <a:r>
              <a:rPr lang="en-US" b="1" u="sng" dirty="0">
                <a:solidFill>
                  <a:schemeClr val="tx1"/>
                </a:solidFill>
              </a:rPr>
              <a:t>Key Points:-</a:t>
            </a:r>
            <a:endParaRPr lang="en-US" u="sng" dirty="0">
              <a:solidFill>
                <a:schemeClr val="tx1"/>
              </a:solidFill>
            </a:endParaRPr>
          </a:p>
          <a:p>
            <a:pPr>
              <a:buFont typeface="Courier New" panose="02070309020205020404" pitchFamily="49" charset="0"/>
              <a:buChar char="o"/>
            </a:pPr>
            <a:r>
              <a:rPr lang="en-US" dirty="0">
                <a:solidFill>
                  <a:schemeClr val="tx1"/>
                </a:solidFill>
              </a:rPr>
              <a:t>Generally free or low-cost.</a:t>
            </a:r>
          </a:p>
          <a:p>
            <a:pPr>
              <a:buFont typeface="Courier New" panose="02070309020205020404" pitchFamily="49" charset="0"/>
              <a:buChar char="o"/>
            </a:pPr>
            <a:r>
              <a:rPr lang="en-US" dirty="0">
                <a:solidFill>
                  <a:schemeClr val="tx1"/>
                </a:solidFill>
              </a:rPr>
              <a:t>Promotes research, innovation, transparency, and public services.</a:t>
            </a:r>
          </a:p>
          <a:p>
            <a:pPr>
              <a:buFont typeface="Courier New" panose="02070309020205020404" pitchFamily="49" charset="0"/>
              <a:buChar char="o"/>
            </a:pPr>
            <a:r>
              <a:rPr lang="en-US" dirty="0">
                <a:solidFill>
                  <a:schemeClr val="tx1"/>
                </a:solidFill>
              </a:rPr>
              <a:t>Can be combined with internal data for deeper analysis and insights.</a:t>
            </a:r>
          </a:p>
          <a:p>
            <a:pPr marL="0" indent="0">
              <a:buNone/>
            </a:pPr>
            <a:endParaRPr lang="en-IN" dirty="0">
              <a:solidFill>
                <a:schemeClr val="tx1"/>
              </a:solidFill>
            </a:endParaRPr>
          </a:p>
        </p:txBody>
      </p:sp>
    </p:spTree>
    <p:extLst>
      <p:ext uri="{BB962C8B-B14F-4D97-AF65-F5344CB8AC3E}">
        <p14:creationId xmlns:p14="http://schemas.microsoft.com/office/powerpoint/2010/main" val="1182857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356D-C1E6-7658-6A75-F42E63823C80}"/>
              </a:ext>
            </a:extLst>
          </p:cNvPr>
          <p:cNvSpPr>
            <a:spLocks noGrp="1"/>
          </p:cNvSpPr>
          <p:nvPr>
            <p:ph type="title"/>
          </p:nvPr>
        </p:nvSpPr>
        <p:spPr>
          <a:xfrm>
            <a:off x="1797666" y="1752354"/>
            <a:ext cx="8596668" cy="678426"/>
          </a:xfrm>
        </p:spPr>
        <p:txBody>
          <a:bodyPr>
            <a:noAutofit/>
          </a:bodyPr>
          <a:lstStyle/>
          <a:p>
            <a:r>
              <a:rPr lang="en-IN" b="1" dirty="0">
                <a:solidFill>
                  <a:schemeClr val="tx1"/>
                </a:solidFill>
              </a:rPr>
              <a:t>Data Collection</a:t>
            </a:r>
          </a:p>
        </p:txBody>
      </p:sp>
      <p:sp>
        <p:nvSpPr>
          <p:cNvPr id="3" name="Content Placeholder 2">
            <a:extLst>
              <a:ext uri="{FF2B5EF4-FFF2-40B4-BE49-F238E27FC236}">
                <a16:creationId xmlns:a16="http://schemas.microsoft.com/office/drawing/2014/main" id="{9EE5BD9D-2CC7-8DC0-6C3D-D003E8CECDB5}"/>
              </a:ext>
            </a:extLst>
          </p:cNvPr>
          <p:cNvSpPr>
            <a:spLocks noGrp="1"/>
          </p:cNvSpPr>
          <p:nvPr>
            <p:ph idx="1"/>
          </p:nvPr>
        </p:nvSpPr>
        <p:spPr>
          <a:xfrm>
            <a:off x="1264073" y="2430780"/>
            <a:ext cx="9480127" cy="3947160"/>
          </a:xfrm>
        </p:spPr>
        <p:txBody>
          <a:bodyPr>
            <a:normAutofit fontScale="85000" lnSpcReduction="20000"/>
          </a:bodyPr>
          <a:lstStyle/>
          <a:p>
            <a:pPr>
              <a:buFont typeface="Wingdings" panose="05000000000000000000" pitchFamily="2" charset="2"/>
              <a:buChar char="q"/>
            </a:pPr>
            <a:r>
              <a:rPr lang="en-US" sz="1600" b="1" u="sng" dirty="0">
                <a:solidFill>
                  <a:schemeClr val="tx1"/>
                </a:solidFill>
              </a:rPr>
              <a:t>Definition:-</a:t>
            </a:r>
          </a:p>
          <a:p>
            <a:pPr marL="0" indent="0">
              <a:buNone/>
            </a:pPr>
            <a:r>
              <a:rPr lang="en-US" sz="1600" dirty="0">
                <a:solidFill>
                  <a:schemeClr val="tx1"/>
                </a:solidFill>
              </a:rPr>
              <a:t>Data collection is the process of gathering information from various sources to answer questions, test hypotheses, or make decisions. It is used in research, business, education, government, and data analytics.</a:t>
            </a:r>
          </a:p>
          <a:p>
            <a:pPr>
              <a:buFont typeface="Wingdings" panose="05000000000000000000" pitchFamily="2" charset="2"/>
              <a:buChar char="q"/>
            </a:pPr>
            <a:r>
              <a:rPr lang="en-US" sz="1600" b="1" u="sng" dirty="0">
                <a:solidFill>
                  <a:schemeClr val="tx1"/>
                </a:solidFill>
                <a:effectLst>
                  <a:outerShdw blurRad="38100" dist="38100" dir="2700000" algn="tl">
                    <a:srgbClr val="000000">
                      <a:alpha val="43137"/>
                    </a:srgbClr>
                  </a:outerShdw>
                </a:effectLst>
              </a:rPr>
              <a:t>Types of Data (Based on Nature):-</a:t>
            </a:r>
          </a:p>
          <a:p>
            <a:pPr>
              <a:buFont typeface="Wingdings" panose="05000000000000000000" pitchFamily="2" charset="2"/>
              <a:buChar char="Ø"/>
            </a:pPr>
            <a:r>
              <a:rPr lang="en-US" sz="1600" b="1" u="sng" dirty="0">
                <a:solidFill>
                  <a:schemeClr val="tx1"/>
                </a:solidFill>
              </a:rPr>
              <a:t>Qualitative Data (Non-numerical):-</a:t>
            </a:r>
          </a:p>
          <a:p>
            <a:pPr>
              <a:buFont typeface="Courier New" panose="02070309020205020404" pitchFamily="49" charset="0"/>
              <a:buChar char="o"/>
            </a:pPr>
            <a:r>
              <a:rPr lang="en-US" sz="1600" dirty="0">
                <a:solidFill>
                  <a:schemeClr val="tx1"/>
                </a:solidFill>
              </a:rPr>
              <a:t>Descriptive, textual information</a:t>
            </a:r>
          </a:p>
          <a:p>
            <a:pPr>
              <a:buFont typeface="Courier New" panose="02070309020205020404" pitchFamily="49" charset="0"/>
              <a:buChar char="o"/>
            </a:pPr>
            <a:r>
              <a:rPr lang="en-US" sz="1600" dirty="0">
                <a:solidFill>
                  <a:schemeClr val="tx1"/>
                </a:solidFill>
              </a:rPr>
              <a:t>Answers “why” and “how”</a:t>
            </a:r>
          </a:p>
          <a:p>
            <a:pPr>
              <a:buFont typeface="Courier New" panose="02070309020205020404" pitchFamily="49" charset="0"/>
              <a:buChar char="o"/>
            </a:pPr>
            <a:r>
              <a:rPr lang="en-US" sz="1600" b="1" dirty="0">
                <a:solidFill>
                  <a:schemeClr val="tx1"/>
                </a:solidFill>
              </a:rPr>
              <a:t>Examples</a:t>
            </a:r>
            <a:r>
              <a:rPr lang="en-US" sz="1600" dirty="0">
                <a:solidFill>
                  <a:schemeClr val="tx1"/>
                </a:solidFill>
              </a:rPr>
              <a:t>: opinions, </a:t>
            </a:r>
            <a:r>
              <a:rPr lang="en-US" sz="1600" dirty="0">
                <a:solidFill>
                  <a:schemeClr val="tx1"/>
                </a:solidFill>
                <a:latin typeface="+mj-lt"/>
              </a:rPr>
              <a:t>feedback</a:t>
            </a:r>
            <a:r>
              <a:rPr lang="en-US" sz="1600" dirty="0">
                <a:solidFill>
                  <a:schemeClr val="tx1"/>
                </a:solidFill>
              </a:rPr>
              <a:t>, comments, interview responses</a:t>
            </a:r>
          </a:p>
          <a:p>
            <a:pPr>
              <a:buFont typeface="Wingdings" panose="05000000000000000000" pitchFamily="2" charset="2"/>
              <a:buChar char="Ø"/>
            </a:pPr>
            <a:r>
              <a:rPr lang="en-US" sz="1600" dirty="0">
                <a:solidFill>
                  <a:schemeClr val="tx1"/>
                </a:solidFill>
              </a:rPr>
              <a:t>  </a:t>
            </a:r>
            <a:r>
              <a:rPr lang="en-US" sz="1600" b="1" u="sng" dirty="0">
                <a:solidFill>
                  <a:schemeClr val="tx1"/>
                </a:solidFill>
              </a:rPr>
              <a:t>Quantitative Data (Numerical):-</a:t>
            </a:r>
          </a:p>
          <a:p>
            <a:pPr>
              <a:buFont typeface="Courier New" panose="02070309020205020404" pitchFamily="49" charset="0"/>
              <a:buChar char="o"/>
            </a:pPr>
            <a:r>
              <a:rPr lang="en-US" sz="1600" dirty="0">
                <a:solidFill>
                  <a:schemeClr val="tx1"/>
                </a:solidFill>
              </a:rPr>
              <a:t>Data in numbers</a:t>
            </a:r>
          </a:p>
          <a:p>
            <a:pPr>
              <a:buFont typeface="Courier New" panose="02070309020205020404" pitchFamily="49" charset="0"/>
              <a:buChar char="o"/>
            </a:pPr>
            <a:r>
              <a:rPr lang="en-US" sz="1600" dirty="0">
                <a:solidFill>
                  <a:schemeClr val="tx1"/>
                </a:solidFill>
              </a:rPr>
              <a:t>Answers “how much”, “how many”</a:t>
            </a:r>
          </a:p>
          <a:p>
            <a:pPr>
              <a:buFont typeface="Courier New" panose="02070309020205020404" pitchFamily="49" charset="0"/>
              <a:buChar char="o"/>
            </a:pPr>
            <a:r>
              <a:rPr lang="en-US" sz="1600" b="1" dirty="0">
                <a:solidFill>
                  <a:schemeClr val="tx1"/>
                </a:solidFill>
              </a:rPr>
              <a:t>Examples: </a:t>
            </a:r>
            <a:r>
              <a:rPr lang="en-US" sz="1600" dirty="0">
                <a:solidFill>
                  <a:schemeClr val="tx1"/>
                </a:solidFill>
              </a:rPr>
              <a:t>marks, sales figures, age, income, rating </a:t>
            </a:r>
          </a:p>
          <a:p>
            <a:pPr>
              <a:buFont typeface="Wingdings" panose="05000000000000000000" pitchFamily="2" charset="2"/>
              <a:buChar char="v"/>
            </a:pPr>
            <a:r>
              <a:rPr lang="en-US" sz="1600" b="1" u="sng" dirty="0">
                <a:solidFill>
                  <a:schemeClr val="tx1"/>
                </a:solidFill>
              </a:rPr>
              <a:t>Note:-</a:t>
            </a:r>
          </a:p>
          <a:p>
            <a:pPr marL="0" indent="0">
              <a:buNone/>
            </a:pPr>
            <a:r>
              <a:rPr lang="en-US" sz="1300" dirty="0">
                <a:solidFill>
                  <a:srgbClr val="FF0000"/>
                </a:solidFill>
              </a:rPr>
              <a:t>Data collection methods are often chosen based on whether you need qualitative or quantitative data.</a:t>
            </a:r>
          </a:p>
          <a:p>
            <a:pPr marL="0" indent="0">
              <a:buNone/>
            </a:pPr>
            <a:endParaRPr lang="en-IN" sz="1600" dirty="0"/>
          </a:p>
        </p:txBody>
      </p:sp>
    </p:spTree>
    <p:extLst>
      <p:ext uri="{BB962C8B-B14F-4D97-AF65-F5344CB8AC3E}">
        <p14:creationId xmlns:p14="http://schemas.microsoft.com/office/powerpoint/2010/main" val="1022920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74510-A60D-4448-9910-AB11640F25D8}"/>
              </a:ext>
            </a:extLst>
          </p:cNvPr>
          <p:cNvSpPr>
            <a:spLocks noGrp="1"/>
          </p:cNvSpPr>
          <p:nvPr>
            <p:ph type="title"/>
          </p:nvPr>
        </p:nvSpPr>
        <p:spPr>
          <a:xfrm>
            <a:off x="1331725" y="1365738"/>
            <a:ext cx="9528550" cy="776748"/>
          </a:xfrm>
        </p:spPr>
        <p:txBody>
          <a:bodyPr>
            <a:noAutofit/>
          </a:bodyPr>
          <a:lstStyle/>
          <a:p>
            <a:r>
              <a:rPr lang="en-US" b="1" dirty="0">
                <a:solidFill>
                  <a:schemeClr val="tx1"/>
                </a:solidFill>
              </a:rPr>
              <a:t>Types of Data Collection </a:t>
            </a:r>
            <a:br>
              <a:rPr lang="en-US" b="1" dirty="0">
                <a:solidFill>
                  <a:schemeClr val="tx1"/>
                </a:solidFill>
              </a:rPr>
            </a:br>
            <a:r>
              <a:rPr lang="en-US" b="1" dirty="0">
                <a:solidFill>
                  <a:schemeClr val="tx1"/>
                </a:solidFill>
              </a:rPr>
              <a:t>(Based on Source)</a:t>
            </a:r>
            <a:endParaRPr lang="en-IN" b="1" dirty="0">
              <a:solidFill>
                <a:schemeClr val="tx1"/>
              </a:solidFill>
            </a:endParaRPr>
          </a:p>
        </p:txBody>
      </p:sp>
      <p:sp>
        <p:nvSpPr>
          <p:cNvPr id="3" name="Content Placeholder 2">
            <a:extLst>
              <a:ext uri="{FF2B5EF4-FFF2-40B4-BE49-F238E27FC236}">
                <a16:creationId xmlns:a16="http://schemas.microsoft.com/office/drawing/2014/main" id="{988A5603-64F6-9497-AEBC-94881DE8C9AE}"/>
              </a:ext>
            </a:extLst>
          </p:cNvPr>
          <p:cNvSpPr>
            <a:spLocks noGrp="1"/>
          </p:cNvSpPr>
          <p:nvPr>
            <p:ph idx="1"/>
          </p:nvPr>
        </p:nvSpPr>
        <p:spPr>
          <a:xfrm>
            <a:off x="1210407" y="2379879"/>
            <a:ext cx="10295466" cy="4108844"/>
          </a:xfrm>
        </p:spPr>
        <p:txBody>
          <a:bodyPr>
            <a:normAutofit/>
          </a:bodyPr>
          <a:lstStyle/>
          <a:p>
            <a:pPr>
              <a:buFont typeface="Wingdings" panose="05000000000000000000" pitchFamily="2" charset="2"/>
              <a:buChar char="Ø"/>
            </a:pPr>
            <a:r>
              <a:rPr lang="en-US" sz="1500" b="1" u="sng" dirty="0">
                <a:solidFill>
                  <a:schemeClr val="tx1"/>
                </a:solidFill>
              </a:rPr>
              <a:t> Primary Data Collection:-</a:t>
            </a:r>
          </a:p>
          <a:p>
            <a:pPr>
              <a:buFont typeface="Courier New" panose="02070309020205020404" pitchFamily="49" charset="0"/>
              <a:buChar char="o"/>
            </a:pPr>
            <a:r>
              <a:rPr lang="en-US" sz="1500" dirty="0">
                <a:solidFill>
                  <a:schemeClr val="tx1"/>
                </a:solidFill>
              </a:rPr>
              <a:t>Data collected first-hand by the researcher for a specific purpose.</a:t>
            </a:r>
          </a:p>
          <a:p>
            <a:pPr>
              <a:buFont typeface="Courier New" panose="02070309020205020404" pitchFamily="49" charset="0"/>
              <a:buChar char="o"/>
            </a:pPr>
            <a:r>
              <a:rPr lang="en-US" sz="1500" b="1" dirty="0">
                <a:solidFill>
                  <a:schemeClr val="tx1"/>
                </a:solidFill>
              </a:rPr>
              <a:t>Methods: </a:t>
            </a:r>
            <a:r>
              <a:rPr lang="en-US" sz="1500" dirty="0">
                <a:solidFill>
                  <a:schemeClr val="tx1"/>
                </a:solidFill>
              </a:rPr>
              <a:t>surveys, interviews, experiments, observations, focus groups.</a:t>
            </a:r>
          </a:p>
          <a:p>
            <a:pPr>
              <a:buFont typeface="Wingdings" panose="05000000000000000000" pitchFamily="2" charset="2"/>
              <a:buChar char="§"/>
            </a:pPr>
            <a:r>
              <a:rPr lang="en-US" sz="1500" b="1" dirty="0">
                <a:solidFill>
                  <a:schemeClr val="tx1"/>
                </a:solidFill>
              </a:rPr>
              <a:t>Advantage</a:t>
            </a:r>
            <a:r>
              <a:rPr lang="en-US" sz="1500" dirty="0">
                <a:solidFill>
                  <a:schemeClr val="tx1"/>
                </a:solidFill>
              </a:rPr>
              <a:t>: Original and specific</a:t>
            </a:r>
          </a:p>
          <a:p>
            <a:pPr>
              <a:buFont typeface="Wingdings" panose="05000000000000000000" pitchFamily="2" charset="2"/>
              <a:buChar char="§"/>
            </a:pPr>
            <a:r>
              <a:rPr lang="en-US" sz="1500" b="1" dirty="0">
                <a:solidFill>
                  <a:schemeClr val="tx1"/>
                </a:solidFill>
              </a:rPr>
              <a:t>Disadvantage</a:t>
            </a:r>
            <a:r>
              <a:rPr lang="en-US" sz="1500" dirty="0">
                <a:solidFill>
                  <a:schemeClr val="tx1"/>
                </a:solidFill>
              </a:rPr>
              <a:t>: Takes more time and cost.</a:t>
            </a:r>
          </a:p>
          <a:p>
            <a:pPr marL="0" indent="0">
              <a:buNone/>
            </a:pPr>
            <a:endParaRPr lang="en-US" sz="1500" dirty="0">
              <a:solidFill>
                <a:schemeClr val="tx1"/>
              </a:solidFill>
            </a:endParaRPr>
          </a:p>
          <a:p>
            <a:pPr>
              <a:buFont typeface="Wingdings" panose="05000000000000000000" pitchFamily="2" charset="2"/>
              <a:buChar char="Ø"/>
            </a:pPr>
            <a:r>
              <a:rPr lang="en-US" sz="1500" b="1" u="sng" dirty="0">
                <a:solidFill>
                  <a:schemeClr val="tx1"/>
                </a:solidFill>
              </a:rPr>
              <a:t>Secondary Data Collection:-</a:t>
            </a:r>
          </a:p>
          <a:p>
            <a:pPr>
              <a:buFont typeface="Courier New" panose="02070309020205020404" pitchFamily="49" charset="0"/>
              <a:buChar char="o"/>
            </a:pPr>
            <a:r>
              <a:rPr lang="en-US" sz="1500" dirty="0">
                <a:solidFill>
                  <a:schemeClr val="tx1"/>
                </a:solidFill>
              </a:rPr>
              <a:t>Data collected from existing sources that were gathered by others.</a:t>
            </a:r>
          </a:p>
          <a:p>
            <a:pPr>
              <a:buFont typeface="Courier New" panose="02070309020205020404" pitchFamily="49" charset="0"/>
              <a:buChar char="o"/>
            </a:pPr>
            <a:r>
              <a:rPr lang="en-US" sz="1500" b="1" dirty="0">
                <a:solidFill>
                  <a:schemeClr val="tx1"/>
                </a:solidFill>
              </a:rPr>
              <a:t>Sources: </a:t>
            </a:r>
            <a:r>
              <a:rPr lang="en-US" sz="1500" dirty="0">
                <a:solidFill>
                  <a:schemeClr val="tx1"/>
                </a:solidFill>
              </a:rPr>
              <a:t>books, websites, reports, research papers, government data.</a:t>
            </a:r>
          </a:p>
          <a:p>
            <a:pPr>
              <a:buFont typeface="Wingdings" panose="05000000000000000000" pitchFamily="2" charset="2"/>
              <a:buChar char="§"/>
            </a:pPr>
            <a:r>
              <a:rPr lang="en-US" sz="1500" b="1" dirty="0">
                <a:solidFill>
                  <a:schemeClr val="tx1"/>
                </a:solidFill>
              </a:rPr>
              <a:t>Advantage</a:t>
            </a:r>
            <a:r>
              <a:rPr lang="en-US" sz="1500" dirty="0">
                <a:solidFill>
                  <a:schemeClr val="tx1"/>
                </a:solidFill>
              </a:rPr>
              <a:t>: Quick and cheap</a:t>
            </a:r>
          </a:p>
          <a:p>
            <a:pPr>
              <a:buFont typeface="Wingdings" panose="05000000000000000000" pitchFamily="2" charset="2"/>
              <a:buChar char="§"/>
            </a:pPr>
            <a:r>
              <a:rPr lang="en-US" sz="1500" b="1" dirty="0">
                <a:solidFill>
                  <a:schemeClr val="tx1"/>
                </a:solidFill>
              </a:rPr>
              <a:t>Disadvantage</a:t>
            </a:r>
            <a:r>
              <a:rPr lang="en-US" sz="1500" dirty="0">
                <a:solidFill>
                  <a:schemeClr val="tx1"/>
                </a:solidFill>
              </a:rPr>
              <a:t>: May be less relevant or outdated.</a:t>
            </a:r>
          </a:p>
          <a:p>
            <a:endParaRPr lang="en-IN" sz="1500" dirty="0"/>
          </a:p>
        </p:txBody>
      </p:sp>
    </p:spTree>
    <p:extLst>
      <p:ext uri="{BB962C8B-B14F-4D97-AF65-F5344CB8AC3E}">
        <p14:creationId xmlns:p14="http://schemas.microsoft.com/office/powerpoint/2010/main" val="32911041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B33F-6687-E083-F894-95D6FEF187F5}"/>
              </a:ext>
            </a:extLst>
          </p:cNvPr>
          <p:cNvSpPr>
            <a:spLocks noGrp="1"/>
          </p:cNvSpPr>
          <p:nvPr>
            <p:ph type="title"/>
          </p:nvPr>
        </p:nvSpPr>
        <p:spPr>
          <a:xfrm>
            <a:off x="900544" y="1700823"/>
            <a:ext cx="9764524" cy="717062"/>
          </a:xfrm>
        </p:spPr>
        <p:txBody>
          <a:bodyPr>
            <a:noAutofit/>
          </a:bodyPr>
          <a:lstStyle/>
          <a:p>
            <a:r>
              <a:rPr lang="en-US" b="1" dirty="0">
                <a:solidFill>
                  <a:schemeClr val="tx1"/>
                </a:solidFill>
              </a:rPr>
              <a:t>Introduction to data lifecycle management (DLM)</a:t>
            </a:r>
            <a:br>
              <a:rPr lang="en-US" b="1" dirty="0"/>
            </a:br>
            <a:endParaRPr lang="en-IN" dirty="0"/>
          </a:p>
        </p:txBody>
      </p:sp>
      <p:sp>
        <p:nvSpPr>
          <p:cNvPr id="3" name="Content Placeholder 2">
            <a:extLst>
              <a:ext uri="{FF2B5EF4-FFF2-40B4-BE49-F238E27FC236}">
                <a16:creationId xmlns:a16="http://schemas.microsoft.com/office/drawing/2014/main" id="{CF3DDF58-E139-EE5E-FF5A-8D92CA45852D}"/>
              </a:ext>
            </a:extLst>
          </p:cNvPr>
          <p:cNvSpPr>
            <a:spLocks noGrp="1"/>
          </p:cNvSpPr>
          <p:nvPr>
            <p:ph idx="1"/>
          </p:nvPr>
        </p:nvSpPr>
        <p:spPr>
          <a:xfrm>
            <a:off x="755991" y="2417885"/>
            <a:ext cx="10639595" cy="3830514"/>
          </a:xfrm>
        </p:spPr>
        <p:txBody>
          <a:bodyPr>
            <a:normAutofit/>
          </a:bodyPr>
          <a:lstStyle/>
          <a:p>
            <a:pPr>
              <a:buFont typeface="Wingdings" panose="05000000000000000000" pitchFamily="2" charset="2"/>
              <a:buChar char="q"/>
            </a:pPr>
            <a:r>
              <a:rPr lang="en-US" sz="1600" b="1" u="sng" dirty="0">
                <a:solidFill>
                  <a:schemeClr val="tx1"/>
                </a:solidFill>
              </a:rPr>
              <a:t>Definition:-</a:t>
            </a:r>
          </a:p>
          <a:p>
            <a:pPr marL="0" indent="0">
              <a:buNone/>
            </a:pPr>
            <a:r>
              <a:rPr lang="en-US" sz="1600" dirty="0">
                <a:solidFill>
                  <a:schemeClr val="tx1"/>
                </a:solidFill>
              </a:rPr>
              <a:t>Data Life Cycle Management (DLM) is all about how data is handled from the moment it is created until it is no longer needed and is deleted or archived.</a:t>
            </a:r>
          </a:p>
          <a:p>
            <a:pPr>
              <a:buFont typeface="Wingdings" panose="05000000000000000000" pitchFamily="2" charset="2"/>
              <a:buChar char="Ø"/>
            </a:pPr>
            <a:r>
              <a:rPr lang="en-US" sz="1600" b="1" u="sng" dirty="0">
                <a:solidFill>
                  <a:schemeClr val="tx1"/>
                </a:solidFill>
              </a:rPr>
              <a:t>Main Stages of the Data Life Cycle:-</a:t>
            </a:r>
          </a:p>
          <a:p>
            <a:endParaRPr lang="en-US" sz="1600" dirty="0">
              <a:solidFill>
                <a:schemeClr val="tx1"/>
              </a:solidFill>
            </a:endParaRPr>
          </a:p>
          <a:p>
            <a:endParaRPr lang="en-IN" sz="1600" dirty="0">
              <a:solidFill>
                <a:schemeClr val="tx1"/>
              </a:solidFill>
            </a:endParaRPr>
          </a:p>
        </p:txBody>
      </p:sp>
      <p:pic>
        <p:nvPicPr>
          <p:cNvPr id="1026" name="Picture 2">
            <a:extLst>
              <a:ext uri="{FF2B5EF4-FFF2-40B4-BE49-F238E27FC236}">
                <a16:creationId xmlns:a16="http://schemas.microsoft.com/office/drawing/2014/main" id="{63BD8EAF-07E6-64F3-1652-FE3550B7C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5363" y="3060700"/>
            <a:ext cx="5090745" cy="339089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750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469C4-A7B5-0F23-15EF-93A38F8732B1}"/>
              </a:ext>
            </a:extLst>
          </p:cNvPr>
          <p:cNvSpPr>
            <a:spLocks noGrp="1"/>
          </p:cNvSpPr>
          <p:nvPr>
            <p:ph type="title"/>
          </p:nvPr>
        </p:nvSpPr>
        <p:spPr>
          <a:xfrm>
            <a:off x="1797666" y="1937238"/>
            <a:ext cx="8596668" cy="658761"/>
          </a:xfrm>
        </p:spPr>
        <p:txBody>
          <a:bodyPr>
            <a:noAutofit/>
          </a:bodyPr>
          <a:lstStyle/>
          <a:p>
            <a:r>
              <a:rPr lang="en-US" b="1" dirty="0">
                <a:solidFill>
                  <a:schemeClr val="tx1"/>
                </a:solidFill>
              </a:rPr>
              <a:t>What Do Business Analysts Do?</a:t>
            </a:r>
            <a:br>
              <a:rPr lang="en-US" b="1"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F6164F5C-AE75-6E78-B3AB-709079904317}"/>
              </a:ext>
            </a:extLst>
          </p:cNvPr>
          <p:cNvSpPr>
            <a:spLocks noGrp="1"/>
          </p:cNvSpPr>
          <p:nvPr>
            <p:ph idx="1"/>
          </p:nvPr>
        </p:nvSpPr>
        <p:spPr>
          <a:xfrm>
            <a:off x="1213664" y="2514599"/>
            <a:ext cx="9715174" cy="3544347"/>
          </a:xfrm>
        </p:spPr>
        <p:txBody>
          <a:bodyPr>
            <a:normAutofit/>
          </a:bodyPr>
          <a:lstStyle/>
          <a:p>
            <a:pPr>
              <a:buFont typeface="Wingdings" panose="05000000000000000000" pitchFamily="2" charset="2"/>
              <a:buChar char="q"/>
            </a:pPr>
            <a:r>
              <a:rPr lang="en-US" sz="1600" b="1" u="sng" dirty="0"/>
              <a:t>Definition:-</a:t>
            </a:r>
            <a:br>
              <a:rPr lang="en-US" sz="1600" dirty="0"/>
            </a:br>
            <a:r>
              <a:rPr lang="en-US" sz="1600" dirty="0"/>
              <a:t>A Business Analyst (BA) identifies business needs and problems, and helps organizations improve processes, make data-driven decisions, and implement effective solutions.</a:t>
            </a:r>
          </a:p>
          <a:p>
            <a:pPr>
              <a:buFont typeface="Wingdings" panose="05000000000000000000" pitchFamily="2" charset="2"/>
              <a:buChar char="Ø"/>
            </a:pPr>
            <a:r>
              <a:rPr lang="en-IN" sz="1600" b="1" u="sng" dirty="0"/>
              <a:t>Key Responsibilities:-</a:t>
            </a:r>
            <a:endParaRPr lang="en-US" sz="1600" u="sng" dirty="0"/>
          </a:p>
          <a:p>
            <a:pPr lvl="0" defTabSz="914400" eaLnBrk="0" fontAlgn="base" hangingPunct="0">
              <a:spcBef>
                <a:spcPct val="0"/>
              </a:spcBef>
              <a:spcAft>
                <a:spcPct val="0"/>
              </a:spcAft>
              <a:buSzTx/>
              <a:buFont typeface="Courier New" panose="02070309020205020404" pitchFamily="49" charset="0"/>
              <a:buChar char="o"/>
            </a:pPr>
            <a:r>
              <a:rPr lang="en-US" altLang="en-US" sz="1600" b="1" dirty="0">
                <a:solidFill>
                  <a:schemeClr val="tx1"/>
                </a:solidFill>
              </a:rPr>
              <a:t>Gather Requirements:</a:t>
            </a:r>
            <a:r>
              <a:rPr lang="en-US" altLang="en-US" sz="1600" dirty="0">
                <a:solidFill>
                  <a:schemeClr val="tx1"/>
                </a:solidFill>
              </a:rPr>
              <a:t> Collect and document business needs from stakeholders.</a:t>
            </a:r>
          </a:p>
          <a:p>
            <a:pPr lvl="0" defTabSz="914400" eaLnBrk="0" fontAlgn="base" hangingPunct="0">
              <a:spcBef>
                <a:spcPct val="0"/>
              </a:spcBef>
              <a:spcAft>
                <a:spcPct val="0"/>
              </a:spcAft>
              <a:buSzTx/>
              <a:buFont typeface="Courier New" panose="02070309020205020404" pitchFamily="49" charset="0"/>
              <a:buChar char="o"/>
            </a:pPr>
            <a:r>
              <a:rPr lang="en-US" altLang="en-US" sz="1600" b="1" dirty="0">
                <a:solidFill>
                  <a:schemeClr val="tx1"/>
                </a:solidFill>
              </a:rPr>
              <a:t>Analyze Data:</a:t>
            </a:r>
            <a:r>
              <a:rPr lang="en-US" altLang="en-US" sz="1600" dirty="0">
                <a:solidFill>
                  <a:schemeClr val="tx1"/>
                </a:solidFill>
              </a:rPr>
              <a:t> Examine business data to find trends and issues.</a:t>
            </a:r>
          </a:p>
          <a:p>
            <a:pPr lvl="0" defTabSz="914400" eaLnBrk="0" fontAlgn="base" hangingPunct="0">
              <a:spcBef>
                <a:spcPct val="0"/>
              </a:spcBef>
              <a:spcAft>
                <a:spcPct val="0"/>
              </a:spcAft>
              <a:buSzTx/>
              <a:buFont typeface="Courier New" panose="02070309020205020404" pitchFamily="49" charset="0"/>
              <a:buChar char="o"/>
            </a:pPr>
            <a:r>
              <a:rPr lang="en-US" altLang="en-US" sz="1600" b="1" dirty="0">
                <a:solidFill>
                  <a:schemeClr val="tx1"/>
                </a:solidFill>
              </a:rPr>
              <a:t>Improve Processes:</a:t>
            </a:r>
            <a:r>
              <a:rPr lang="en-US" altLang="en-US" sz="1600" dirty="0">
                <a:solidFill>
                  <a:schemeClr val="tx1"/>
                </a:solidFill>
              </a:rPr>
              <a:t> Recommend ways to optimize workflows and operations.</a:t>
            </a:r>
          </a:p>
          <a:p>
            <a:pPr lvl="0" defTabSz="914400" eaLnBrk="0" fontAlgn="base" hangingPunct="0">
              <a:spcBef>
                <a:spcPct val="0"/>
              </a:spcBef>
              <a:spcAft>
                <a:spcPct val="0"/>
              </a:spcAft>
              <a:buSzTx/>
              <a:buFont typeface="Courier New" panose="02070309020205020404" pitchFamily="49" charset="0"/>
              <a:buChar char="o"/>
            </a:pPr>
            <a:r>
              <a:rPr lang="en-US" altLang="en-US" sz="1600" b="1" dirty="0">
                <a:solidFill>
                  <a:schemeClr val="tx1"/>
                </a:solidFill>
              </a:rPr>
              <a:t>Design Solutions:</a:t>
            </a:r>
            <a:r>
              <a:rPr lang="en-US" altLang="en-US" sz="1600" dirty="0">
                <a:solidFill>
                  <a:schemeClr val="tx1"/>
                </a:solidFill>
              </a:rPr>
              <a:t> Work with teams to create software or process solutions.</a:t>
            </a:r>
          </a:p>
          <a:p>
            <a:pPr lvl="0" defTabSz="914400" eaLnBrk="0" fontAlgn="base" hangingPunct="0">
              <a:spcBef>
                <a:spcPct val="0"/>
              </a:spcBef>
              <a:spcAft>
                <a:spcPct val="0"/>
              </a:spcAft>
              <a:buSzTx/>
              <a:buFont typeface="Courier New" panose="02070309020205020404" pitchFamily="49" charset="0"/>
              <a:buChar char="o"/>
            </a:pPr>
            <a:r>
              <a:rPr lang="en-US" altLang="en-US" sz="1600" b="1" dirty="0">
                <a:solidFill>
                  <a:schemeClr val="tx1"/>
                </a:solidFill>
              </a:rPr>
              <a:t>Communicate with Stakeholders:</a:t>
            </a:r>
            <a:r>
              <a:rPr lang="en-US" altLang="en-US" sz="1600" dirty="0">
                <a:solidFill>
                  <a:schemeClr val="tx1"/>
                </a:solidFill>
              </a:rPr>
              <a:t> Act as a bridge between business and technical teams.</a:t>
            </a:r>
          </a:p>
          <a:p>
            <a:pPr>
              <a:buFont typeface="Wingdings" panose="05000000000000000000" pitchFamily="2" charset="2"/>
              <a:buChar char="q"/>
            </a:pPr>
            <a:endParaRPr lang="en-IN" sz="1600" dirty="0">
              <a:solidFill>
                <a:schemeClr val="tx1"/>
              </a:solidFill>
            </a:endParaRPr>
          </a:p>
        </p:txBody>
      </p:sp>
    </p:spTree>
    <p:extLst>
      <p:ext uri="{BB962C8B-B14F-4D97-AF65-F5344CB8AC3E}">
        <p14:creationId xmlns:p14="http://schemas.microsoft.com/office/powerpoint/2010/main" val="877864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9349A-7492-4DC7-B144-2B34111C4C04}"/>
              </a:ext>
            </a:extLst>
          </p:cNvPr>
          <p:cNvSpPr>
            <a:spLocks noGrp="1"/>
          </p:cNvSpPr>
          <p:nvPr>
            <p:ph type="title"/>
          </p:nvPr>
        </p:nvSpPr>
        <p:spPr>
          <a:xfrm>
            <a:off x="1797666" y="1299169"/>
            <a:ext cx="8596668" cy="1320800"/>
          </a:xfrm>
        </p:spPr>
        <p:txBody>
          <a:bodyPr/>
          <a:lstStyle/>
          <a:p>
            <a:r>
              <a:rPr lang="en-US" b="1" dirty="0">
                <a:solidFill>
                  <a:schemeClr val="tx1"/>
                </a:solidFill>
              </a:rPr>
              <a:t>Skills of a Business Analyst</a:t>
            </a:r>
            <a:endParaRPr lang="en-IN" b="1" dirty="0">
              <a:solidFill>
                <a:schemeClr val="tx1"/>
              </a:solidFill>
            </a:endParaRPr>
          </a:p>
        </p:txBody>
      </p:sp>
      <p:sp>
        <p:nvSpPr>
          <p:cNvPr id="4" name="Rectangle 1">
            <a:extLst>
              <a:ext uri="{FF2B5EF4-FFF2-40B4-BE49-F238E27FC236}">
                <a16:creationId xmlns:a16="http://schemas.microsoft.com/office/drawing/2014/main" id="{C9A13540-9049-9DFF-8321-6AD05A1C00D6}"/>
              </a:ext>
            </a:extLst>
          </p:cNvPr>
          <p:cNvSpPr>
            <a:spLocks noGrp="1" noChangeArrowheads="1"/>
          </p:cNvSpPr>
          <p:nvPr>
            <p:ph idx="1"/>
          </p:nvPr>
        </p:nvSpPr>
        <p:spPr bwMode="auto">
          <a:xfrm>
            <a:off x="1414545" y="2927895"/>
            <a:ext cx="9527775" cy="2262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SzTx/>
              <a:buFont typeface="Courier New" panose="02070309020205020404" pitchFamily="49" charset="0"/>
              <a:buChar char="o"/>
              <a:tabLst/>
            </a:pPr>
            <a:r>
              <a:rPr kumimoji="0" lang="en-US" altLang="en-US" sz="1600" i="0" u="none" strike="noStrike" cap="none" normalizeH="0" baseline="0" dirty="0">
                <a:ln>
                  <a:noFill/>
                </a:ln>
                <a:solidFill>
                  <a:schemeClr val="tx1"/>
                </a:solidFill>
                <a:effectLst/>
                <a:latin typeface="Arial" panose="020B0604020202020204" pitchFamily="34" charset="0"/>
              </a:rPr>
              <a:t>Analytical thinking</a:t>
            </a:r>
          </a:p>
          <a:p>
            <a:pPr marR="0" lvl="0" algn="l" defTabSz="914400" rtl="0" eaLnBrk="0" fontAlgn="base" latinLnBrk="0" hangingPunct="0">
              <a:lnSpc>
                <a:spcPct val="150000"/>
              </a:lnSpc>
              <a:spcBef>
                <a:spcPct val="0"/>
              </a:spcBef>
              <a:spcAft>
                <a:spcPct val="0"/>
              </a:spcAft>
              <a:buSzTx/>
              <a:buFont typeface="Courier New" panose="02070309020205020404" pitchFamily="49" charset="0"/>
              <a:buChar char="o"/>
              <a:tabLst/>
            </a:pPr>
            <a:r>
              <a:rPr kumimoji="0" lang="en-US" altLang="en-US" sz="1600" i="0" u="none" strike="noStrike" cap="none" normalizeH="0" baseline="0" dirty="0">
                <a:ln>
                  <a:noFill/>
                </a:ln>
                <a:solidFill>
                  <a:schemeClr val="tx1"/>
                </a:solidFill>
                <a:effectLst/>
                <a:latin typeface="Arial" panose="020B0604020202020204" pitchFamily="34" charset="0"/>
              </a:rPr>
              <a:t>Communication skills (talking to both business &amp; technical people)</a:t>
            </a:r>
          </a:p>
          <a:p>
            <a:pPr marR="0" lvl="0" algn="l" defTabSz="914400" rtl="0" eaLnBrk="0" fontAlgn="base" latinLnBrk="0" hangingPunct="0">
              <a:lnSpc>
                <a:spcPct val="150000"/>
              </a:lnSpc>
              <a:spcBef>
                <a:spcPct val="0"/>
              </a:spcBef>
              <a:spcAft>
                <a:spcPct val="0"/>
              </a:spcAft>
              <a:buSzTx/>
              <a:buFont typeface="Courier New" panose="02070309020205020404" pitchFamily="49" charset="0"/>
              <a:buChar char="o"/>
              <a:tabLst/>
            </a:pPr>
            <a:r>
              <a:rPr kumimoji="0" lang="en-US" altLang="en-US" sz="1600" i="0" u="none" strike="noStrike" cap="none" normalizeH="0" baseline="0" dirty="0">
                <a:ln>
                  <a:noFill/>
                </a:ln>
                <a:solidFill>
                  <a:schemeClr val="tx1"/>
                </a:solidFill>
                <a:effectLst/>
                <a:latin typeface="Arial" panose="020B0604020202020204" pitchFamily="34" charset="0"/>
              </a:rPr>
              <a:t>Problem-solving</a:t>
            </a:r>
          </a:p>
          <a:p>
            <a:pPr marR="0" lvl="0" algn="l" defTabSz="914400" rtl="0" eaLnBrk="0" fontAlgn="base" latinLnBrk="0" hangingPunct="0">
              <a:lnSpc>
                <a:spcPct val="150000"/>
              </a:lnSpc>
              <a:spcBef>
                <a:spcPct val="0"/>
              </a:spcBef>
              <a:spcAft>
                <a:spcPct val="0"/>
              </a:spcAft>
              <a:buSzTx/>
              <a:buFont typeface="Courier New" panose="02070309020205020404" pitchFamily="49" charset="0"/>
              <a:buChar char="o"/>
              <a:tabLst/>
            </a:pPr>
            <a:r>
              <a:rPr kumimoji="0" lang="en-US" altLang="en-US" sz="1600" i="0" u="none" strike="noStrike" cap="none" normalizeH="0" baseline="0" dirty="0">
                <a:ln>
                  <a:noFill/>
                </a:ln>
                <a:solidFill>
                  <a:schemeClr val="tx1"/>
                </a:solidFill>
                <a:effectLst/>
                <a:latin typeface="Arial" panose="020B0604020202020204" pitchFamily="34" charset="0"/>
              </a:rPr>
              <a:t>Documentation and modelling</a:t>
            </a:r>
          </a:p>
          <a:p>
            <a:pPr marR="0" lvl="0" algn="l" defTabSz="914400" rtl="0" eaLnBrk="0" fontAlgn="base" latinLnBrk="0" hangingPunct="0">
              <a:lnSpc>
                <a:spcPct val="150000"/>
              </a:lnSpc>
              <a:spcBef>
                <a:spcPct val="0"/>
              </a:spcBef>
              <a:spcAft>
                <a:spcPct val="0"/>
              </a:spcAft>
              <a:buSzTx/>
              <a:buFont typeface="Courier New" panose="02070309020205020404" pitchFamily="49" charset="0"/>
              <a:buChar char="o"/>
              <a:tabLst/>
            </a:pPr>
            <a:r>
              <a:rPr kumimoji="0" lang="en-US" altLang="en-US" sz="1600" i="0" u="none" strike="noStrike" cap="none" normalizeH="0" baseline="0" dirty="0">
                <a:ln>
                  <a:noFill/>
                </a:ln>
                <a:solidFill>
                  <a:schemeClr val="tx1"/>
                </a:solidFill>
                <a:effectLst/>
                <a:latin typeface="Arial" panose="020B0604020202020204" pitchFamily="34" charset="0"/>
              </a:rPr>
              <a:t>Basic knowledge of databases, Excel, BI tools</a:t>
            </a:r>
          </a:p>
          <a:p>
            <a:pPr marR="0" lvl="0" algn="l" defTabSz="914400" rtl="0" eaLnBrk="0" fontAlgn="base" latinLnBrk="0" hangingPunct="0">
              <a:lnSpc>
                <a:spcPct val="150000"/>
              </a:lnSpc>
              <a:spcBef>
                <a:spcPct val="0"/>
              </a:spcBef>
              <a:spcAft>
                <a:spcPct val="0"/>
              </a:spcAft>
              <a:buSzTx/>
              <a:buFont typeface="Courier New" panose="02070309020205020404" pitchFamily="49" charset="0"/>
              <a:buChar char="o"/>
              <a:tabLst/>
            </a:pPr>
            <a:r>
              <a:rPr kumimoji="0" lang="en-US" altLang="en-US" sz="1600" i="0" u="none" strike="noStrike" cap="none" normalizeH="0" baseline="0" dirty="0">
                <a:ln>
                  <a:noFill/>
                </a:ln>
                <a:solidFill>
                  <a:schemeClr val="tx1"/>
                </a:solidFill>
                <a:effectLst/>
                <a:latin typeface="Arial" panose="020B0604020202020204" pitchFamily="34" charset="0"/>
              </a:rPr>
              <a:t>Understanding of business domains (finance, sales, operations, etc.)</a:t>
            </a:r>
          </a:p>
        </p:txBody>
      </p:sp>
    </p:spTree>
    <p:extLst>
      <p:ext uri="{BB962C8B-B14F-4D97-AF65-F5344CB8AC3E}">
        <p14:creationId xmlns:p14="http://schemas.microsoft.com/office/powerpoint/2010/main" val="41971300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7645D-2C4D-E00B-D35D-49E0C83A122D}"/>
              </a:ext>
            </a:extLst>
          </p:cNvPr>
          <p:cNvSpPr>
            <a:spLocks noGrp="1"/>
          </p:cNvSpPr>
          <p:nvPr>
            <p:ph type="title"/>
          </p:nvPr>
        </p:nvSpPr>
        <p:spPr>
          <a:xfrm>
            <a:off x="1907732" y="1391920"/>
            <a:ext cx="8596668" cy="698090"/>
          </a:xfrm>
        </p:spPr>
        <p:txBody>
          <a:bodyPr>
            <a:noAutofit/>
          </a:bodyPr>
          <a:lstStyle/>
          <a:p>
            <a:r>
              <a:rPr lang="en-US" b="1" dirty="0">
                <a:solidFill>
                  <a:schemeClr val="tx1"/>
                </a:solidFill>
              </a:rPr>
              <a:t>The Tools Used by </a:t>
            </a:r>
            <a:br>
              <a:rPr lang="en-US" b="1" dirty="0">
                <a:solidFill>
                  <a:schemeClr val="tx1"/>
                </a:solidFill>
              </a:rPr>
            </a:br>
            <a:r>
              <a:rPr lang="en-US" b="1" dirty="0">
                <a:solidFill>
                  <a:schemeClr val="tx1"/>
                </a:solidFill>
              </a:rPr>
              <a:t>Business Analysts</a:t>
            </a:r>
            <a:endParaRPr lang="en-IN" dirty="0">
              <a:solidFill>
                <a:schemeClr val="tx1"/>
              </a:solidFill>
            </a:endParaRPr>
          </a:p>
        </p:txBody>
      </p:sp>
      <p:sp>
        <p:nvSpPr>
          <p:cNvPr id="3" name="Content Placeholder 2">
            <a:extLst>
              <a:ext uri="{FF2B5EF4-FFF2-40B4-BE49-F238E27FC236}">
                <a16:creationId xmlns:a16="http://schemas.microsoft.com/office/drawing/2014/main" id="{83FE09F6-31E9-7FB4-F15F-AB1EDBC2A31E}"/>
              </a:ext>
            </a:extLst>
          </p:cNvPr>
          <p:cNvSpPr>
            <a:spLocks noGrp="1"/>
          </p:cNvSpPr>
          <p:nvPr>
            <p:ph idx="1"/>
          </p:nvPr>
        </p:nvSpPr>
        <p:spPr>
          <a:xfrm>
            <a:off x="1337733" y="2475222"/>
            <a:ext cx="9736667" cy="4879307"/>
          </a:xfrm>
        </p:spPr>
        <p:txBody>
          <a:bodyPr>
            <a:normAutofit/>
          </a:bodyPr>
          <a:lstStyle/>
          <a:p>
            <a:pPr>
              <a:buFont typeface="Wingdings" panose="05000000000000000000" pitchFamily="2" charset="2"/>
              <a:buChar char="q"/>
            </a:pPr>
            <a:r>
              <a:rPr lang="en-US" sz="1600" dirty="0">
                <a:solidFill>
                  <a:schemeClr val="tx1"/>
                </a:solidFill>
              </a:rPr>
              <a:t>To carry out all these responsibilities, business analysts rely on a variety of tools to manage their tasks efficiently. </a:t>
            </a:r>
          </a:p>
          <a:p>
            <a:pPr>
              <a:buFont typeface="Wingdings" panose="05000000000000000000" pitchFamily="2" charset="2"/>
              <a:buChar char="Ø"/>
            </a:pPr>
            <a:r>
              <a:rPr lang="en-US" sz="1600" b="1" u="sng" dirty="0">
                <a:solidFill>
                  <a:schemeClr val="tx1"/>
                </a:solidFill>
              </a:rPr>
              <a:t>Some of the most common tools include:-</a:t>
            </a:r>
          </a:p>
          <a:p>
            <a:pPr fontAlgn="base">
              <a:buFont typeface="Courier New" panose="02070309020205020404" pitchFamily="49" charset="0"/>
              <a:buChar char="o"/>
            </a:pPr>
            <a:r>
              <a:rPr lang="en-US" sz="1600" b="1" dirty="0">
                <a:solidFill>
                  <a:schemeClr val="tx1"/>
                </a:solidFill>
              </a:rPr>
              <a:t>Requirements Management Tools</a:t>
            </a:r>
            <a:r>
              <a:rPr lang="en-US" sz="1600" dirty="0">
                <a:solidFill>
                  <a:schemeClr val="tx1"/>
                </a:solidFill>
              </a:rPr>
              <a:t>: Tools like JIRA, Confluence, or Trello are used to document and track requirements, user stories, and tasks.</a:t>
            </a:r>
          </a:p>
          <a:p>
            <a:pPr fontAlgn="base">
              <a:buFont typeface="Courier New" panose="02070309020205020404" pitchFamily="49" charset="0"/>
              <a:buChar char="o"/>
            </a:pPr>
            <a:r>
              <a:rPr lang="en-US" sz="1600" b="1" dirty="0">
                <a:solidFill>
                  <a:schemeClr val="tx1"/>
                </a:solidFill>
              </a:rPr>
              <a:t>Data Analysis Tools</a:t>
            </a:r>
            <a:r>
              <a:rPr lang="en-US" sz="1600" dirty="0">
                <a:solidFill>
                  <a:schemeClr val="tx1"/>
                </a:solidFill>
              </a:rPr>
              <a:t>: Business analysts often use software like Microsoft Excel, Google Analytics, and Tableau to analyze data and create visual reports.</a:t>
            </a:r>
          </a:p>
          <a:p>
            <a:pPr fontAlgn="base">
              <a:buFont typeface="Courier New" panose="02070309020205020404" pitchFamily="49" charset="0"/>
              <a:buChar char="o"/>
            </a:pPr>
            <a:r>
              <a:rPr lang="en-US" sz="1600" b="1" dirty="0">
                <a:solidFill>
                  <a:schemeClr val="tx1"/>
                </a:solidFill>
              </a:rPr>
              <a:t>Process Mapping Tools</a:t>
            </a:r>
            <a:r>
              <a:rPr lang="en-US" sz="1600" dirty="0">
                <a:solidFill>
                  <a:schemeClr val="tx1"/>
                </a:solidFill>
              </a:rPr>
              <a:t>: Tools such as Microsoft Visio or Lucid chart help business analysts create diagrams to map processes and workflows.</a:t>
            </a:r>
          </a:p>
          <a:p>
            <a:pPr fontAlgn="base">
              <a:buFont typeface="Courier New" panose="02070309020205020404" pitchFamily="49" charset="0"/>
              <a:buChar char="o"/>
            </a:pPr>
            <a:r>
              <a:rPr lang="en-US" sz="1600" b="1" dirty="0">
                <a:solidFill>
                  <a:schemeClr val="tx1"/>
                </a:solidFill>
              </a:rPr>
              <a:t>Collaboration Tools</a:t>
            </a:r>
            <a:r>
              <a:rPr lang="en-US" sz="1600" dirty="0">
                <a:solidFill>
                  <a:schemeClr val="tx1"/>
                </a:solidFill>
              </a:rPr>
              <a:t>: Platforms like Slack, Zoom, and Microsoft Teams facilitate communication and collaboration with stakeholders and team members.</a:t>
            </a:r>
          </a:p>
          <a:p>
            <a:endParaRPr lang="en-IN" sz="1600" dirty="0"/>
          </a:p>
        </p:txBody>
      </p:sp>
    </p:spTree>
    <p:extLst>
      <p:ext uri="{BB962C8B-B14F-4D97-AF65-F5344CB8AC3E}">
        <p14:creationId xmlns:p14="http://schemas.microsoft.com/office/powerpoint/2010/main" val="4813684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C2DA-B47C-8977-4414-9F016C637BFD}"/>
              </a:ext>
            </a:extLst>
          </p:cNvPr>
          <p:cNvSpPr>
            <a:spLocks noGrp="1"/>
          </p:cNvSpPr>
          <p:nvPr>
            <p:ph type="title"/>
          </p:nvPr>
        </p:nvSpPr>
        <p:spPr>
          <a:xfrm>
            <a:off x="1729931" y="1402080"/>
            <a:ext cx="8732137" cy="1160206"/>
          </a:xfrm>
        </p:spPr>
        <p:txBody>
          <a:bodyPr>
            <a:noAutofit/>
          </a:bodyPr>
          <a:lstStyle/>
          <a:p>
            <a:r>
              <a:rPr lang="en-US" b="1" dirty="0">
                <a:solidFill>
                  <a:schemeClr val="tx1"/>
                </a:solidFill>
              </a:rPr>
              <a:t>Collaboration and Relationship-Building in Business Analysis</a:t>
            </a:r>
            <a:br>
              <a:rPr lang="en-US" b="1" dirty="0"/>
            </a:br>
            <a:endParaRPr lang="en-IN" dirty="0"/>
          </a:p>
        </p:txBody>
      </p:sp>
      <p:sp>
        <p:nvSpPr>
          <p:cNvPr id="3" name="Content Placeholder 2">
            <a:extLst>
              <a:ext uri="{FF2B5EF4-FFF2-40B4-BE49-F238E27FC236}">
                <a16:creationId xmlns:a16="http://schemas.microsoft.com/office/drawing/2014/main" id="{81F114BA-E1A1-B96D-D5E2-5EEB610A22E4}"/>
              </a:ext>
            </a:extLst>
          </p:cNvPr>
          <p:cNvSpPr>
            <a:spLocks noGrp="1"/>
          </p:cNvSpPr>
          <p:nvPr>
            <p:ph idx="1"/>
          </p:nvPr>
        </p:nvSpPr>
        <p:spPr>
          <a:xfrm>
            <a:off x="1439333" y="2394484"/>
            <a:ext cx="9462347" cy="3802462"/>
          </a:xfrm>
        </p:spPr>
        <p:txBody>
          <a:bodyPr>
            <a:normAutofit/>
          </a:bodyPr>
          <a:lstStyle/>
          <a:p>
            <a:pPr>
              <a:buFont typeface="Wingdings" panose="05000000000000000000" pitchFamily="2" charset="2"/>
              <a:buChar char="q"/>
            </a:pPr>
            <a:r>
              <a:rPr lang="en-US" sz="1600" b="1" u="sng" dirty="0">
                <a:solidFill>
                  <a:schemeClr val="tx1"/>
                </a:solidFill>
              </a:rPr>
              <a:t>Definition:-</a:t>
            </a:r>
          </a:p>
          <a:p>
            <a:pPr marL="0" indent="0">
              <a:buNone/>
            </a:pPr>
            <a:r>
              <a:rPr lang="en-US" sz="1600" dirty="0">
                <a:solidFill>
                  <a:schemeClr val="tx1"/>
                </a:solidFill>
              </a:rPr>
              <a:t>Collaboration and relationship-building in business analysis refer to how a Business Analyst works with stakeholders, builds trust, and maintains effective communication to successfully deliver projects and solutions.</a:t>
            </a:r>
          </a:p>
          <a:p>
            <a:pPr>
              <a:buFont typeface="Wingdings" panose="05000000000000000000" pitchFamily="2" charset="2"/>
              <a:buChar char="Ø"/>
            </a:pPr>
            <a:r>
              <a:rPr lang="en-IN" sz="1600" b="1" u="sng" dirty="0">
                <a:solidFill>
                  <a:schemeClr val="tx1"/>
                </a:solidFill>
              </a:rPr>
              <a:t>Key benefits include:-</a:t>
            </a:r>
          </a:p>
          <a:p>
            <a:pPr lvl="0">
              <a:buFont typeface="Courier New" panose="02070309020205020404" pitchFamily="49" charset="0"/>
              <a:buChar char="o"/>
            </a:pPr>
            <a:r>
              <a:rPr lang="en-IN" sz="1600" b="1" dirty="0">
                <a:solidFill>
                  <a:schemeClr val="tx1"/>
                </a:solidFill>
              </a:rPr>
              <a:t>Comprehensive Requirements:</a:t>
            </a:r>
            <a:r>
              <a:rPr lang="en-IN" sz="1600" dirty="0">
                <a:solidFill>
                  <a:schemeClr val="tx1"/>
                </a:solidFill>
              </a:rPr>
              <a:t> Working closely with diverse stakeholders helps uncover all necessary information, leading to complete and accurate requirements .</a:t>
            </a:r>
          </a:p>
          <a:p>
            <a:pPr lvl="0">
              <a:buFont typeface="Courier New" panose="02070309020205020404" pitchFamily="49" charset="0"/>
              <a:buChar char="o"/>
            </a:pPr>
            <a:r>
              <a:rPr lang="en-IN" sz="1600" b="1" dirty="0">
                <a:solidFill>
                  <a:schemeClr val="tx1"/>
                </a:solidFill>
              </a:rPr>
              <a:t>Increased Buy-in:</a:t>
            </a:r>
            <a:r>
              <a:rPr lang="en-IN" sz="1600" dirty="0">
                <a:solidFill>
                  <a:schemeClr val="tx1"/>
                </a:solidFill>
              </a:rPr>
              <a:t> Involving stakeholders in the analysis process makes them feel heard, which increases their support for the final solution .</a:t>
            </a:r>
          </a:p>
          <a:p>
            <a:pPr lvl="0">
              <a:buFont typeface="Courier New" panose="02070309020205020404" pitchFamily="49" charset="0"/>
              <a:buChar char="o"/>
            </a:pPr>
            <a:r>
              <a:rPr lang="en-IN" sz="1600" b="1" dirty="0">
                <a:solidFill>
                  <a:schemeClr val="tx1"/>
                </a:solidFill>
              </a:rPr>
              <a:t>Risk Mitigation:</a:t>
            </a:r>
            <a:r>
              <a:rPr lang="en-IN" sz="1600" dirty="0">
                <a:solidFill>
                  <a:schemeClr val="tx1"/>
                </a:solidFill>
              </a:rPr>
              <a:t> Open communication channels help identify potential issues early, allowing the team to address them proactively .</a:t>
            </a:r>
          </a:p>
          <a:p>
            <a:pPr lvl="0">
              <a:buFont typeface="Courier New" panose="02070309020205020404" pitchFamily="49" charset="0"/>
              <a:buChar char="o"/>
            </a:pPr>
            <a:r>
              <a:rPr lang="en-IN" sz="1600" b="1" dirty="0">
                <a:solidFill>
                  <a:schemeClr val="tx1"/>
                </a:solidFill>
              </a:rPr>
              <a:t>Faster Decision Making:</a:t>
            </a:r>
            <a:r>
              <a:rPr lang="en-IN" sz="1600" dirty="0">
                <a:solidFill>
                  <a:schemeClr val="tx1"/>
                </a:solidFill>
              </a:rPr>
              <a:t> Trusting relationships allow for more efficient conflict resolution. </a:t>
            </a:r>
          </a:p>
          <a:p>
            <a:endParaRPr lang="en-IN" sz="1600" dirty="0"/>
          </a:p>
        </p:txBody>
      </p:sp>
    </p:spTree>
    <p:extLst>
      <p:ext uri="{BB962C8B-B14F-4D97-AF65-F5344CB8AC3E}">
        <p14:creationId xmlns:p14="http://schemas.microsoft.com/office/powerpoint/2010/main" val="11941372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F65D-327D-2A24-C659-E4118FF6883B}"/>
              </a:ext>
            </a:extLst>
          </p:cNvPr>
          <p:cNvSpPr>
            <a:spLocks noGrp="1"/>
          </p:cNvSpPr>
          <p:nvPr>
            <p:ph type="title"/>
          </p:nvPr>
        </p:nvSpPr>
        <p:spPr>
          <a:xfrm>
            <a:off x="1797666" y="1602003"/>
            <a:ext cx="8596668" cy="806245"/>
          </a:xfrm>
        </p:spPr>
        <p:txBody>
          <a:bodyPr/>
          <a:lstStyle/>
          <a:p>
            <a:r>
              <a:rPr lang="en-US" b="1" dirty="0">
                <a:solidFill>
                  <a:schemeClr val="tx1"/>
                </a:solidFill>
              </a:rPr>
              <a:t>Business Analysis Methodologies</a:t>
            </a:r>
            <a:endParaRPr lang="en-IN" b="1" dirty="0">
              <a:solidFill>
                <a:schemeClr val="tx1"/>
              </a:solidFill>
            </a:endParaRPr>
          </a:p>
        </p:txBody>
      </p:sp>
      <p:sp>
        <p:nvSpPr>
          <p:cNvPr id="3" name="Content Placeholder 2">
            <a:extLst>
              <a:ext uri="{FF2B5EF4-FFF2-40B4-BE49-F238E27FC236}">
                <a16:creationId xmlns:a16="http://schemas.microsoft.com/office/drawing/2014/main" id="{FC9B9FBC-1918-03A2-1C1C-6684AA9EE959}"/>
              </a:ext>
            </a:extLst>
          </p:cNvPr>
          <p:cNvSpPr>
            <a:spLocks noGrp="1"/>
          </p:cNvSpPr>
          <p:nvPr>
            <p:ph idx="1"/>
          </p:nvPr>
        </p:nvSpPr>
        <p:spPr>
          <a:xfrm>
            <a:off x="1263226" y="2408248"/>
            <a:ext cx="10044854" cy="4073832"/>
          </a:xfrm>
        </p:spPr>
        <p:txBody>
          <a:bodyPr>
            <a:noAutofit/>
          </a:bodyPr>
          <a:lstStyle/>
          <a:p>
            <a:pPr>
              <a:buFont typeface="Wingdings" panose="05000000000000000000" pitchFamily="2" charset="2"/>
              <a:buChar char="q"/>
            </a:pPr>
            <a:r>
              <a:rPr lang="en-US" sz="1400" b="1" dirty="0"/>
              <a:t>Definition:-</a:t>
            </a:r>
          </a:p>
          <a:p>
            <a:pPr marL="0" indent="0">
              <a:buNone/>
            </a:pPr>
            <a:r>
              <a:rPr lang="en-US" sz="1400" dirty="0"/>
              <a:t>Business analysis methodologies are structured approaches that business analysts use to understand business needs, gather requirements, and deliver effective solutions.</a:t>
            </a:r>
          </a:p>
          <a:p>
            <a:pPr>
              <a:buFont typeface="Wingdings" panose="05000000000000000000" pitchFamily="2" charset="2"/>
              <a:buChar char="Ø"/>
            </a:pPr>
            <a:r>
              <a:rPr lang="en-US" sz="1400" b="1" dirty="0"/>
              <a:t>Common Methodologies:-</a:t>
            </a:r>
          </a:p>
          <a:p>
            <a:pPr>
              <a:buFont typeface="Wingdings" panose="05000000000000000000" pitchFamily="2" charset="2"/>
              <a:buChar char="ü"/>
            </a:pPr>
            <a:r>
              <a:rPr lang="en-US" sz="1400" b="1" u="sng" dirty="0"/>
              <a:t>Waterfall Methodology:-</a:t>
            </a:r>
            <a:endParaRPr lang="en-US" sz="1400" u="sng" dirty="0"/>
          </a:p>
          <a:p>
            <a:pPr lvl="1"/>
            <a:r>
              <a:rPr lang="en-US" sz="1400" dirty="0"/>
              <a:t>A linear, step-by-step approach where each phase must be completed before the next begins.</a:t>
            </a:r>
          </a:p>
          <a:p>
            <a:pPr lvl="1"/>
            <a:r>
              <a:rPr lang="en-US" sz="1400" b="1" dirty="0"/>
              <a:t>Example:</a:t>
            </a:r>
            <a:r>
              <a:rPr lang="en-US" sz="1400" dirty="0"/>
              <a:t> Gathering requirements → Designing → Development → Testing → Deployment</a:t>
            </a:r>
          </a:p>
          <a:p>
            <a:pPr>
              <a:buFont typeface="Wingdings" panose="05000000000000000000" pitchFamily="2" charset="2"/>
              <a:buChar char="ü"/>
            </a:pPr>
            <a:r>
              <a:rPr lang="en-US" sz="1400" b="1" u="sng" dirty="0"/>
              <a:t>Agile Methodology:-</a:t>
            </a:r>
            <a:endParaRPr lang="en-US" sz="1400" u="sng" dirty="0"/>
          </a:p>
          <a:p>
            <a:pPr lvl="1"/>
            <a:r>
              <a:rPr lang="en-US" sz="1400" dirty="0"/>
              <a:t>An iterative approach focusing on collaboration, flexibility, and delivering small increments quickly.</a:t>
            </a:r>
          </a:p>
          <a:p>
            <a:pPr lvl="1">
              <a:buFont typeface="Arial" panose="020B0604020202020204" pitchFamily="34" charset="0"/>
              <a:buChar char="•"/>
            </a:pPr>
            <a:r>
              <a:rPr lang="en-US" sz="1400" b="1" dirty="0"/>
              <a:t>Example:</a:t>
            </a:r>
            <a:r>
              <a:rPr lang="en-US" sz="1400" dirty="0"/>
              <a:t> Scrum or Kanban frameworks for software development.</a:t>
            </a:r>
          </a:p>
          <a:p>
            <a:pPr algn="just">
              <a:buFont typeface="Wingdings" panose="05000000000000000000" pitchFamily="2" charset="2"/>
              <a:buChar char="§"/>
            </a:pPr>
            <a:r>
              <a:rPr lang="en-US" sz="1400" b="1" u="sng" dirty="0"/>
              <a:t>Other Methodologies:-</a:t>
            </a:r>
          </a:p>
          <a:p>
            <a:pPr marL="0" indent="0" algn="just">
              <a:buNone/>
            </a:pPr>
            <a:r>
              <a:rPr lang="en-US" sz="1400" dirty="0"/>
              <a:t>Lean Methodology, Six Sigma, Business Process Modeling (BPM)</a:t>
            </a:r>
          </a:p>
          <a:p>
            <a:pPr marL="457200" lvl="1" indent="0">
              <a:buNone/>
            </a:pPr>
            <a:endParaRPr lang="en-US" sz="1400" dirty="0"/>
          </a:p>
        </p:txBody>
      </p:sp>
    </p:spTree>
    <p:extLst>
      <p:ext uri="{BB962C8B-B14F-4D97-AF65-F5344CB8AC3E}">
        <p14:creationId xmlns:p14="http://schemas.microsoft.com/office/powerpoint/2010/main" val="4051189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267FC-0025-147C-13DD-D399A85F7582}"/>
              </a:ext>
            </a:extLst>
          </p:cNvPr>
          <p:cNvSpPr>
            <a:spLocks noGrp="1"/>
          </p:cNvSpPr>
          <p:nvPr>
            <p:ph idx="1"/>
          </p:nvPr>
        </p:nvSpPr>
        <p:spPr>
          <a:xfrm>
            <a:off x="1419013" y="2407920"/>
            <a:ext cx="9533467" cy="3643602"/>
          </a:xfrm>
        </p:spPr>
        <p:txBody>
          <a:bodyPr>
            <a:normAutofit/>
          </a:bodyPr>
          <a:lstStyle/>
          <a:p>
            <a:pPr>
              <a:buFont typeface="Wingdings" panose="05000000000000000000" pitchFamily="2" charset="2"/>
              <a:buChar char="q"/>
            </a:pPr>
            <a:r>
              <a:rPr lang="en-US" sz="1600" b="1" u="sng" dirty="0"/>
              <a:t>Definition:-</a:t>
            </a:r>
            <a:br>
              <a:rPr lang="en-US" sz="1600" dirty="0"/>
            </a:br>
            <a:r>
              <a:rPr lang="en-US" sz="1600" dirty="0"/>
              <a:t>The Waterfall Model is a linear and sequential software development methodology, where each phase must be completed fully before the next phase begins.</a:t>
            </a:r>
          </a:p>
          <a:p>
            <a:pPr>
              <a:buFont typeface="Wingdings" panose="05000000000000000000" pitchFamily="2" charset="2"/>
              <a:buChar char="Ø"/>
            </a:pPr>
            <a:r>
              <a:rPr lang="en-US" sz="1600" b="1" u="sng" dirty="0"/>
              <a:t>Phases of the Waterfall Model:-</a:t>
            </a:r>
          </a:p>
          <a:p>
            <a:pPr>
              <a:buFont typeface="Wingdings" panose="05000000000000000000" pitchFamily="2" charset="2"/>
              <a:buChar char="ü"/>
            </a:pPr>
            <a:r>
              <a:rPr lang="en-US" sz="1600" b="1" dirty="0"/>
              <a:t>Requirement Analysis:</a:t>
            </a:r>
            <a:r>
              <a:rPr lang="en-US" sz="1600" dirty="0"/>
              <a:t> Collect and document all business and system requirements.</a:t>
            </a:r>
          </a:p>
          <a:p>
            <a:pPr>
              <a:buFont typeface="Wingdings" panose="05000000000000000000" pitchFamily="2" charset="2"/>
              <a:buChar char="ü"/>
            </a:pPr>
            <a:r>
              <a:rPr lang="en-US" sz="1600" b="1" dirty="0"/>
              <a:t>System Design:</a:t>
            </a:r>
            <a:r>
              <a:rPr lang="en-US" sz="1600" dirty="0"/>
              <a:t> Create the architecture, data models, and system specifications.</a:t>
            </a:r>
          </a:p>
          <a:p>
            <a:pPr>
              <a:buFont typeface="Wingdings" panose="05000000000000000000" pitchFamily="2" charset="2"/>
              <a:buChar char="ü"/>
            </a:pPr>
            <a:r>
              <a:rPr lang="en-US" sz="1600" b="1" dirty="0"/>
              <a:t>Implementation (Coding):</a:t>
            </a:r>
            <a:r>
              <a:rPr lang="en-US" sz="1600" dirty="0"/>
              <a:t> Develop the software according to the design.</a:t>
            </a:r>
          </a:p>
          <a:p>
            <a:pPr>
              <a:buFont typeface="Wingdings" panose="05000000000000000000" pitchFamily="2" charset="2"/>
              <a:buChar char="ü"/>
            </a:pPr>
            <a:r>
              <a:rPr lang="en-US" sz="1600" b="1" dirty="0"/>
              <a:t>Testing:</a:t>
            </a:r>
            <a:r>
              <a:rPr lang="en-US" sz="1600" dirty="0"/>
              <a:t> Test the system to find and fix defects.</a:t>
            </a:r>
          </a:p>
          <a:p>
            <a:pPr>
              <a:buFont typeface="Wingdings" panose="05000000000000000000" pitchFamily="2" charset="2"/>
              <a:buChar char="ü"/>
            </a:pPr>
            <a:r>
              <a:rPr lang="en-US" sz="1600" b="1" dirty="0"/>
              <a:t>Deployment:</a:t>
            </a:r>
            <a:r>
              <a:rPr lang="en-US" sz="1600" dirty="0"/>
              <a:t> Release the system for use by the end-users.</a:t>
            </a:r>
          </a:p>
          <a:p>
            <a:pPr>
              <a:buFont typeface="Wingdings" panose="05000000000000000000" pitchFamily="2" charset="2"/>
              <a:buChar char="ü"/>
            </a:pPr>
            <a:r>
              <a:rPr lang="en-US" sz="1600" b="1" dirty="0"/>
              <a:t>Maintenance:</a:t>
            </a:r>
            <a:r>
              <a:rPr lang="en-US" sz="1600" dirty="0"/>
              <a:t> Perform ongoing support, updates, and fixes.</a:t>
            </a:r>
          </a:p>
        </p:txBody>
      </p:sp>
      <p:pic>
        <p:nvPicPr>
          <p:cNvPr id="6" name="Picture 5">
            <a:extLst>
              <a:ext uri="{FF2B5EF4-FFF2-40B4-BE49-F238E27FC236}">
                <a16:creationId xmlns:a16="http://schemas.microsoft.com/office/drawing/2014/main" id="{3ED20EBD-127B-0715-4011-F3C716969E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2080" y="4339589"/>
            <a:ext cx="3789680" cy="1865611"/>
          </a:xfrm>
          <a:prstGeom prst="rect">
            <a:avLst/>
          </a:prstGeom>
        </p:spPr>
      </p:pic>
      <p:sp>
        <p:nvSpPr>
          <p:cNvPr id="7" name="TextBox 6">
            <a:extLst>
              <a:ext uri="{FF2B5EF4-FFF2-40B4-BE49-F238E27FC236}">
                <a16:creationId xmlns:a16="http://schemas.microsoft.com/office/drawing/2014/main" id="{D2527A2D-0B19-980C-D5C3-B80EE759CDBF}"/>
              </a:ext>
            </a:extLst>
          </p:cNvPr>
          <p:cNvSpPr txBox="1"/>
          <p:nvPr/>
        </p:nvSpPr>
        <p:spPr>
          <a:xfrm>
            <a:off x="3921760" y="1638479"/>
            <a:ext cx="5842000" cy="769441"/>
          </a:xfrm>
          <a:prstGeom prst="rect">
            <a:avLst/>
          </a:prstGeom>
          <a:noFill/>
        </p:spPr>
        <p:txBody>
          <a:bodyPr wrap="square" rtlCol="0">
            <a:spAutoFit/>
          </a:bodyPr>
          <a:lstStyle/>
          <a:p>
            <a:r>
              <a:rPr lang="en-IN" sz="4400" b="1" dirty="0">
                <a:latin typeface="+mj-lt"/>
              </a:rPr>
              <a:t>Waterfall Methodology</a:t>
            </a:r>
          </a:p>
        </p:txBody>
      </p:sp>
    </p:spTree>
    <p:extLst>
      <p:ext uri="{BB962C8B-B14F-4D97-AF65-F5344CB8AC3E}">
        <p14:creationId xmlns:p14="http://schemas.microsoft.com/office/powerpoint/2010/main" val="24643623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361ECC-BD46-2BC5-51C1-B57CC5BC1CF0}"/>
              </a:ext>
            </a:extLst>
          </p:cNvPr>
          <p:cNvSpPr>
            <a:spLocks noGrp="1"/>
          </p:cNvSpPr>
          <p:nvPr>
            <p:ph type="title"/>
          </p:nvPr>
        </p:nvSpPr>
        <p:spPr>
          <a:xfrm>
            <a:off x="1295404" y="1632372"/>
            <a:ext cx="9601196" cy="1303867"/>
          </a:xfrm>
        </p:spPr>
        <p:txBody>
          <a:bodyPr>
            <a:noAutofit/>
          </a:bodyPr>
          <a:lstStyle/>
          <a:p>
            <a:r>
              <a:rPr lang="en-IN" b="1" dirty="0"/>
              <a:t>Agile methodology:</a:t>
            </a:r>
            <a:br>
              <a:rPr lang="en-IN" b="1" dirty="0"/>
            </a:br>
            <a:endParaRPr lang="en-IN" b="1" dirty="0"/>
          </a:p>
        </p:txBody>
      </p:sp>
      <p:sp>
        <p:nvSpPr>
          <p:cNvPr id="3" name="Content Placeholder 2">
            <a:extLst>
              <a:ext uri="{FF2B5EF4-FFF2-40B4-BE49-F238E27FC236}">
                <a16:creationId xmlns:a16="http://schemas.microsoft.com/office/drawing/2014/main" id="{AC1746B5-776D-78A1-2292-1BEFFF6940C0}"/>
              </a:ext>
            </a:extLst>
          </p:cNvPr>
          <p:cNvSpPr>
            <a:spLocks noGrp="1"/>
          </p:cNvSpPr>
          <p:nvPr>
            <p:ph idx="1"/>
          </p:nvPr>
        </p:nvSpPr>
        <p:spPr>
          <a:xfrm>
            <a:off x="1211580" y="2397760"/>
            <a:ext cx="9768840" cy="3840480"/>
          </a:xfrm>
        </p:spPr>
        <p:txBody>
          <a:bodyPr>
            <a:noAutofit/>
          </a:bodyPr>
          <a:lstStyle/>
          <a:p>
            <a:pPr lvl="0">
              <a:buFont typeface="Wingdings" panose="05000000000000000000" pitchFamily="2" charset="2"/>
              <a:buChar char="q"/>
            </a:pPr>
            <a:r>
              <a:rPr lang="en-IN" sz="1200" dirty="0"/>
              <a:t>Approach: Iterative and incremental, focusing on flexibility, collaboration, and responding to change.</a:t>
            </a:r>
          </a:p>
          <a:p>
            <a:pPr lvl="0"/>
            <a:r>
              <a:rPr lang="en-IN" sz="1200" dirty="0"/>
              <a:t>Key principles: Embraces feedback, breaks work into smaller pieces, and uses short, time-boxed cycles (sprints) to deliver value continuously.</a:t>
            </a:r>
          </a:p>
          <a:p>
            <a:pPr lvl="0"/>
            <a:r>
              <a:rPr lang="en-IN" sz="1200" dirty="0"/>
              <a:t>Popular frameworks: Includes Scrum, Kanban, and Lean.</a:t>
            </a:r>
          </a:p>
          <a:p>
            <a:pPr lvl="0"/>
            <a:r>
              <a:rPr lang="en-IN" sz="1200" dirty="0"/>
              <a:t>Best for: Projects where requirements may evolve or change, and where continuous feedback is valuable. </a:t>
            </a:r>
          </a:p>
          <a:p>
            <a:pPr marL="0" indent="0">
              <a:buNone/>
            </a:pPr>
            <a:r>
              <a:rPr lang="en-US" sz="1200" b="1" dirty="0">
                <a:solidFill>
                  <a:schemeClr val="tx1"/>
                </a:solidFill>
              </a:rPr>
              <a:t>Role of BA in Agile:</a:t>
            </a:r>
          </a:p>
          <a:p>
            <a:pPr>
              <a:buClr>
                <a:schemeClr val="tx1"/>
              </a:buClr>
              <a:buFont typeface="Wingdings" panose="05000000000000000000" pitchFamily="2" charset="2"/>
              <a:buChar char="§"/>
            </a:pPr>
            <a:r>
              <a:rPr lang="en-US" sz="1200" dirty="0">
                <a:solidFill>
                  <a:schemeClr val="tx1"/>
                </a:solidFill>
              </a:rPr>
              <a:t>Work closely with Product Owner and development team.</a:t>
            </a:r>
          </a:p>
          <a:p>
            <a:pPr>
              <a:buClr>
                <a:schemeClr val="tx1"/>
              </a:buClr>
              <a:buFont typeface="Wingdings" panose="05000000000000000000" pitchFamily="2" charset="2"/>
              <a:buChar char="§"/>
            </a:pPr>
            <a:r>
              <a:rPr lang="en-US" sz="1200" dirty="0">
                <a:solidFill>
                  <a:schemeClr val="tx1"/>
                </a:solidFill>
              </a:rPr>
              <a:t>Help write and refine user stories with acceptance criteria.</a:t>
            </a:r>
          </a:p>
          <a:p>
            <a:pPr>
              <a:buClr>
                <a:schemeClr val="tx1"/>
              </a:buClr>
              <a:buFont typeface="Wingdings" panose="05000000000000000000" pitchFamily="2" charset="2"/>
              <a:buChar char="§"/>
            </a:pPr>
            <a:r>
              <a:rPr lang="en-US" sz="1200" dirty="0">
                <a:solidFill>
                  <a:schemeClr val="tx1"/>
                </a:solidFill>
              </a:rPr>
              <a:t>Participate in:</a:t>
            </a:r>
          </a:p>
          <a:p>
            <a:pPr lvl="1">
              <a:buClr>
                <a:schemeClr val="tx1"/>
              </a:buClr>
              <a:buFont typeface="Wingdings" panose="05000000000000000000" pitchFamily="2" charset="2"/>
              <a:buChar char="§"/>
            </a:pPr>
            <a:r>
              <a:rPr lang="en-US" sz="1200" dirty="0">
                <a:solidFill>
                  <a:schemeClr val="tx1"/>
                </a:solidFill>
              </a:rPr>
              <a:t>Sprint planning</a:t>
            </a:r>
          </a:p>
          <a:p>
            <a:pPr lvl="1">
              <a:buClr>
                <a:schemeClr val="tx1"/>
              </a:buClr>
              <a:buFont typeface="Wingdings" panose="05000000000000000000" pitchFamily="2" charset="2"/>
              <a:buChar char="§"/>
            </a:pPr>
            <a:r>
              <a:rPr lang="en-US" sz="1200" dirty="0">
                <a:solidFill>
                  <a:schemeClr val="tx1"/>
                </a:solidFill>
              </a:rPr>
              <a:t>Daily stand-up meetings</a:t>
            </a:r>
          </a:p>
          <a:p>
            <a:pPr lvl="1">
              <a:buClr>
                <a:schemeClr val="tx1"/>
              </a:buClr>
              <a:buFont typeface="Wingdings" panose="05000000000000000000" pitchFamily="2" charset="2"/>
              <a:buChar char="§"/>
            </a:pPr>
            <a:r>
              <a:rPr lang="en-US" sz="1200" dirty="0">
                <a:solidFill>
                  <a:schemeClr val="tx1"/>
                </a:solidFill>
              </a:rPr>
              <a:t>Sprint review</a:t>
            </a:r>
          </a:p>
          <a:p>
            <a:pPr>
              <a:buClr>
                <a:schemeClr val="tx1"/>
              </a:buClr>
              <a:buFont typeface="Wingdings" panose="05000000000000000000" pitchFamily="2" charset="2"/>
              <a:buChar char="§"/>
            </a:pPr>
            <a:r>
              <a:rPr lang="en-US" sz="1200" dirty="0">
                <a:solidFill>
                  <a:schemeClr val="tx1"/>
                </a:solidFill>
              </a:rPr>
              <a:t>Continuously prioritize and clarify requirements.</a:t>
            </a:r>
          </a:p>
          <a:p>
            <a:pPr>
              <a:buClr>
                <a:schemeClr val="tx1"/>
              </a:buClr>
              <a:buFont typeface="Wingdings" panose="05000000000000000000" pitchFamily="2" charset="2"/>
              <a:buChar char="§"/>
            </a:pPr>
            <a:r>
              <a:rPr lang="en-US" sz="1200" dirty="0">
                <a:solidFill>
                  <a:schemeClr val="tx1"/>
                </a:solidFill>
              </a:rPr>
              <a:t>Focus more on communication and collaboration than heavy documentation.</a:t>
            </a:r>
          </a:p>
          <a:p>
            <a:endParaRPr lang="en-IN" sz="1200" dirty="0"/>
          </a:p>
          <a:p>
            <a:pPr lvl="0"/>
            <a:endParaRPr lang="en-IN" sz="1200" dirty="0"/>
          </a:p>
          <a:p>
            <a:endParaRPr lang="en-IN" sz="1200" dirty="0"/>
          </a:p>
        </p:txBody>
      </p:sp>
    </p:spTree>
    <p:extLst>
      <p:ext uri="{BB962C8B-B14F-4D97-AF65-F5344CB8AC3E}">
        <p14:creationId xmlns:p14="http://schemas.microsoft.com/office/powerpoint/2010/main" val="14744656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DCA88-D4B1-EACF-9903-4F80DB3DE6E3}"/>
              </a:ext>
            </a:extLst>
          </p:cNvPr>
          <p:cNvSpPr txBox="1"/>
          <p:nvPr/>
        </p:nvSpPr>
        <p:spPr>
          <a:xfrm>
            <a:off x="1473200" y="1493520"/>
            <a:ext cx="10718800" cy="3170099"/>
          </a:xfrm>
          <a:prstGeom prst="rect">
            <a:avLst/>
          </a:prstGeom>
          <a:noFill/>
        </p:spPr>
        <p:txBody>
          <a:bodyPr wrap="square" rtlCol="0">
            <a:spAutoFit/>
          </a:bodyPr>
          <a:lstStyle/>
          <a:p>
            <a:pPr marL="342900" indent="-342900">
              <a:buClr>
                <a:schemeClr val="accent1"/>
              </a:buClr>
              <a:buFont typeface="Wingdings" panose="05000000000000000000" pitchFamily="2" charset="2"/>
              <a:buChar char="Ø"/>
            </a:pPr>
            <a:r>
              <a:rPr lang="en-US" sz="2000" b="1" u="sng" dirty="0"/>
              <a:t>Advantages:-</a:t>
            </a:r>
          </a:p>
          <a:p>
            <a:pPr marL="342900" indent="-342900">
              <a:buClr>
                <a:schemeClr val="accent1"/>
              </a:buClr>
              <a:buFont typeface="Courier New" panose="02070309020205020404" pitchFamily="49" charset="0"/>
              <a:buChar char="o"/>
            </a:pPr>
            <a:r>
              <a:rPr lang="en-US" sz="2000" dirty="0"/>
              <a:t>Very flexible with changing requirements.</a:t>
            </a:r>
          </a:p>
          <a:p>
            <a:pPr marL="342900" indent="-342900">
              <a:buClr>
                <a:schemeClr val="accent1"/>
              </a:buClr>
              <a:buFont typeface="Courier New" panose="02070309020205020404" pitchFamily="49" charset="0"/>
              <a:buChar char="o"/>
            </a:pPr>
            <a:r>
              <a:rPr lang="en-US" sz="2000" dirty="0"/>
              <a:t>Regular feedback from users.</a:t>
            </a:r>
          </a:p>
          <a:p>
            <a:pPr marL="342900" indent="-342900">
              <a:buClr>
                <a:schemeClr val="accent1"/>
              </a:buClr>
              <a:buFont typeface="Courier New" panose="02070309020205020404" pitchFamily="49" charset="0"/>
              <a:buChar char="o"/>
            </a:pPr>
            <a:r>
              <a:rPr lang="en-US" sz="2000" dirty="0"/>
              <a:t>Delivers working software faster and more frequently.</a:t>
            </a:r>
          </a:p>
          <a:p>
            <a:pPr>
              <a:buClr>
                <a:schemeClr val="tx1"/>
              </a:buClr>
            </a:pPr>
            <a:endParaRPr lang="en-US" sz="2000" b="1" dirty="0"/>
          </a:p>
          <a:p>
            <a:pPr marL="342900" indent="-342900">
              <a:buClr>
                <a:schemeClr val="accent1"/>
              </a:buClr>
              <a:buFont typeface="Wingdings" panose="05000000000000000000" pitchFamily="2" charset="2"/>
              <a:buChar char="Ø"/>
            </a:pPr>
            <a:r>
              <a:rPr lang="en-US" sz="2000" b="1" u="sng" dirty="0"/>
              <a:t>Disadvantages:-</a:t>
            </a:r>
          </a:p>
          <a:p>
            <a:pPr marL="342900" indent="-342900">
              <a:buClr>
                <a:schemeClr val="accent1"/>
              </a:buClr>
              <a:buFont typeface="Courier New" panose="02070309020205020404" pitchFamily="49" charset="0"/>
              <a:buChar char="o"/>
            </a:pPr>
            <a:r>
              <a:rPr lang="en-US" sz="2000" dirty="0"/>
              <a:t>Needs high team involvement and collaboration.</a:t>
            </a:r>
          </a:p>
          <a:p>
            <a:pPr marL="342900" indent="-342900">
              <a:buClr>
                <a:schemeClr val="accent1"/>
              </a:buClr>
              <a:buFont typeface="Courier New" panose="02070309020205020404" pitchFamily="49" charset="0"/>
              <a:buChar char="o"/>
            </a:pPr>
            <a:r>
              <a:rPr lang="en-US" sz="2000" dirty="0"/>
              <a:t>Documentation may be lighter.</a:t>
            </a:r>
          </a:p>
          <a:p>
            <a:pPr marL="342900" indent="-342900">
              <a:buClr>
                <a:schemeClr val="accent1"/>
              </a:buClr>
              <a:buFont typeface="Courier New" panose="02070309020205020404" pitchFamily="49" charset="0"/>
              <a:buChar char="o"/>
            </a:pPr>
            <a:r>
              <a:rPr lang="en-US" sz="2000" dirty="0"/>
              <a:t>Difficult if stakeholders are not available regularly.</a:t>
            </a:r>
          </a:p>
          <a:p>
            <a:endParaRPr lang="en-IN" sz="2000" dirty="0"/>
          </a:p>
        </p:txBody>
      </p:sp>
    </p:spTree>
    <p:extLst>
      <p:ext uri="{BB962C8B-B14F-4D97-AF65-F5344CB8AC3E}">
        <p14:creationId xmlns:p14="http://schemas.microsoft.com/office/powerpoint/2010/main" val="19038275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36A6-4011-485D-9D06-5763AA82D0F3}"/>
              </a:ext>
            </a:extLst>
          </p:cNvPr>
          <p:cNvSpPr>
            <a:spLocks noGrp="1"/>
          </p:cNvSpPr>
          <p:nvPr>
            <p:ph type="title"/>
          </p:nvPr>
        </p:nvSpPr>
        <p:spPr>
          <a:xfrm>
            <a:off x="1050960" y="1178560"/>
            <a:ext cx="9931672" cy="1107440"/>
          </a:xfrm>
        </p:spPr>
        <p:txBody>
          <a:bodyPr>
            <a:normAutofit fontScale="90000"/>
          </a:bodyPr>
          <a:lstStyle/>
          <a:p>
            <a:r>
              <a:rPr lang="en-US" b="1" dirty="0">
                <a:solidFill>
                  <a:schemeClr val="tx1"/>
                </a:solidFill>
              </a:rPr>
              <a:t>Key Differences </a:t>
            </a:r>
            <a:r>
              <a:rPr lang="en-US" sz="4900" b="1" dirty="0">
                <a:solidFill>
                  <a:schemeClr val="tx1"/>
                </a:solidFill>
              </a:rPr>
              <a:t>Between</a:t>
            </a:r>
            <a:br>
              <a:rPr lang="en-US" sz="4900" b="1" dirty="0">
                <a:solidFill>
                  <a:schemeClr val="tx1"/>
                </a:solidFill>
              </a:rPr>
            </a:br>
            <a:r>
              <a:rPr lang="en-US" b="1" dirty="0">
                <a:solidFill>
                  <a:schemeClr val="tx1"/>
                </a:solidFill>
              </a:rPr>
              <a:t> Waterfall &amp; Agile</a:t>
            </a:r>
            <a:endParaRPr lang="en-IN" b="1" dirty="0">
              <a:solidFill>
                <a:schemeClr val="tx1"/>
              </a:solidFill>
            </a:endParaRPr>
          </a:p>
        </p:txBody>
      </p:sp>
      <p:graphicFrame>
        <p:nvGraphicFramePr>
          <p:cNvPr id="11" name="Content Placeholder 10">
            <a:extLst>
              <a:ext uri="{FF2B5EF4-FFF2-40B4-BE49-F238E27FC236}">
                <a16:creationId xmlns:a16="http://schemas.microsoft.com/office/drawing/2014/main" id="{7DEEE857-3925-5196-1BA9-0571D63CB34F}"/>
              </a:ext>
            </a:extLst>
          </p:cNvPr>
          <p:cNvGraphicFramePr>
            <a:graphicFrameLocks noGrp="1"/>
          </p:cNvGraphicFramePr>
          <p:nvPr>
            <p:ph idx="1"/>
            <p:extLst>
              <p:ext uri="{D42A27DB-BD31-4B8C-83A1-F6EECF244321}">
                <p14:modId xmlns:p14="http://schemas.microsoft.com/office/powerpoint/2010/main" val="847551555"/>
              </p:ext>
            </p:extLst>
          </p:nvPr>
        </p:nvGraphicFramePr>
        <p:xfrm>
          <a:off x="1050960" y="2580640"/>
          <a:ext cx="10216479" cy="3570088"/>
        </p:xfrm>
        <a:graphic>
          <a:graphicData uri="http://schemas.openxmlformats.org/drawingml/2006/table">
            <a:tbl>
              <a:tblPr firstRow="1" firstCol="1" bandRow="1">
                <a:tableStyleId>{5C22544A-7EE6-4342-B048-85BDC9FD1C3A}</a:tableStyleId>
              </a:tblPr>
              <a:tblGrid>
                <a:gridCol w="2230720">
                  <a:extLst>
                    <a:ext uri="{9D8B030D-6E8A-4147-A177-3AD203B41FA5}">
                      <a16:colId xmlns:a16="http://schemas.microsoft.com/office/drawing/2014/main" val="3203271808"/>
                    </a:ext>
                  </a:extLst>
                </a:gridCol>
                <a:gridCol w="4307840">
                  <a:extLst>
                    <a:ext uri="{9D8B030D-6E8A-4147-A177-3AD203B41FA5}">
                      <a16:colId xmlns:a16="http://schemas.microsoft.com/office/drawing/2014/main" val="127459139"/>
                    </a:ext>
                  </a:extLst>
                </a:gridCol>
                <a:gridCol w="3677919">
                  <a:extLst>
                    <a:ext uri="{9D8B030D-6E8A-4147-A177-3AD203B41FA5}">
                      <a16:colId xmlns:a16="http://schemas.microsoft.com/office/drawing/2014/main" val="2679576927"/>
                    </a:ext>
                  </a:extLst>
                </a:gridCol>
              </a:tblGrid>
              <a:tr h="550723">
                <a:tc>
                  <a:txBody>
                    <a:bodyPr/>
                    <a:lstStyle/>
                    <a:p>
                      <a:pPr algn="ctr">
                        <a:lnSpc>
                          <a:spcPct val="107000"/>
                        </a:lnSpc>
                        <a:spcAft>
                          <a:spcPts val="800"/>
                        </a:spcAft>
                        <a:buNone/>
                      </a:pPr>
                      <a:r>
                        <a:rPr lang="en-IN" sz="2400" kern="100" dirty="0">
                          <a:solidFill>
                            <a:sysClr val="windowText" lastClr="000000"/>
                          </a:solidFill>
                          <a:effectLst/>
                        </a:rPr>
                        <a:t>Basis</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IN" sz="2400" kern="100" dirty="0">
                          <a:solidFill>
                            <a:sysClr val="windowText" lastClr="000000"/>
                          </a:solidFill>
                          <a:effectLst/>
                        </a:rPr>
                        <a:t>Waterfall Model</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IN" sz="2400" kern="100" dirty="0">
                          <a:solidFill>
                            <a:sysClr val="windowText" lastClr="000000"/>
                          </a:solidFill>
                          <a:effectLst/>
                        </a:rPr>
                        <a:t>Agile Model</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4585181"/>
                  </a:ext>
                </a:extLst>
              </a:tr>
              <a:tr h="550723">
                <a:tc>
                  <a:txBody>
                    <a:bodyPr/>
                    <a:lstStyle/>
                    <a:p>
                      <a:pPr>
                        <a:lnSpc>
                          <a:spcPct val="107000"/>
                        </a:lnSpc>
                        <a:spcAft>
                          <a:spcPts val="800"/>
                        </a:spcAft>
                        <a:buNone/>
                      </a:pPr>
                      <a:r>
                        <a:rPr lang="en-IN" sz="2400" kern="100" dirty="0">
                          <a:solidFill>
                            <a:sysClr val="windowText" lastClr="000000"/>
                          </a:solidFill>
                          <a:effectLst/>
                        </a:rPr>
                        <a:t>Approach</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Linear and sequential</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Iterative and incremental</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6203441"/>
                  </a:ext>
                </a:extLst>
              </a:tr>
              <a:tr h="1334140">
                <a:tc>
                  <a:txBody>
                    <a:bodyPr/>
                    <a:lstStyle/>
                    <a:p>
                      <a:pPr>
                        <a:lnSpc>
                          <a:spcPct val="107000"/>
                        </a:lnSpc>
                        <a:spcAft>
                          <a:spcPts val="800"/>
                        </a:spcAft>
                        <a:buNone/>
                      </a:pPr>
                      <a:r>
                        <a:rPr lang="en-IN" sz="2400" kern="100" dirty="0">
                          <a:solidFill>
                            <a:sysClr val="windowText" lastClr="000000"/>
                          </a:solidFill>
                          <a:effectLst/>
                        </a:rPr>
                        <a:t>Project Phases</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Fixed phases: Requirements → Design → Development → Testing → Deployment</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Work done in small cycles called sprints</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6083443"/>
                  </a:ext>
                </a:extLst>
              </a:tr>
              <a:tr h="1134502">
                <a:tc>
                  <a:txBody>
                    <a:bodyPr/>
                    <a:lstStyle/>
                    <a:p>
                      <a:pPr>
                        <a:lnSpc>
                          <a:spcPct val="107000"/>
                        </a:lnSpc>
                        <a:spcAft>
                          <a:spcPts val="800"/>
                        </a:spcAft>
                        <a:buNone/>
                      </a:pPr>
                      <a:r>
                        <a:rPr lang="en-IN" sz="2400" kern="100">
                          <a:solidFill>
                            <a:sysClr val="windowText" lastClr="000000"/>
                          </a:solidFill>
                          <a:effectLst/>
                        </a:rPr>
                        <a:t>Requirements</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Defined fully at the beginning; changes are difficult later</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Requirements can change anytime; refined continuously</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96628"/>
                  </a:ext>
                </a:extLst>
              </a:tr>
            </a:tbl>
          </a:graphicData>
        </a:graphic>
      </p:graphicFrame>
    </p:spTree>
    <p:extLst>
      <p:ext uri="{BB962C8B-B14F-4D97-AF65-F5344CB8AC3E}">
        <p14:creationId xmlns:p14="http://schemas.microsoft.com/office/powerpoint/2010/main" val="20994539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A8CBF0D-66E1-618B-15F3-A463B5BB561C}"/>
              </a:ext>
            </a:extLst>
          </p:cNvPr>
          <p:cNvGraphicFramePr>
            <a:graphicFrameLocks noGrp="1"/>
          </p:cNvGraphicFramePr>
          <p:nvPr>
            <p:extLst>
              <p:ext uri="{D42A27DB-BD31-4B8C-83A1-F6EECF244321}">
                <p14:modId xmlns:p14="http://schemas.microsoft.com/office/powerpoint/2010/main" val="1069594091"/>
              </p:ext>
            </p:extLst>
          </p:nvPr>
        </p:nvGraphicFramePr>
        <p:xfrm>
          <a:off x="863601" y="843280"/>
          <a:ext cx="10464800" cy="5094788"/>
        </p:xfrm>
        <a:graphic>
          <a:graphicData uri="http://schemas.openxmlformats.org/drawingml/2006/table">
            <a:tbl>
              <a:tblPr firstRow="1" firstCol="1" bandRow="1">
                <a:tableStyleId>{5C22544A-7EE6-4342-B048-85BDC9FD1C3A}</a:tableStyleId>
              </a:tblPr>
              <a:tblGrid>
                <a:gridCol w="3350954">
                  <a:extLst>
                    <a:ext uri="{9D8B030D-6E8A-4147-A177-3AD203B41FA5}">
                      <a16:colId xmlns:a16="http://schemas.microsoft.com/office/drawing/2014/main" val="4145058615"/>
                    </a:ext>
                  </a:extLst>
                </a:gridCol>
                <a:gridCol w="3556923">
                  <a:extLst>
                    <a:ext uri="{9D8B030D-6E8A-4147-A177-3AD203B41FA5}">
                      <a16:colId xmlns:a16="http://schemas.microsoft.com/office/drawing/2014/main" val="732782138"/>
                    </a:ext>
                  </a:extLst>
                </a:gridCol>
                <a:gridCol w="3556923">
                  <a:extLst>
                    <a:ext uri="{9D8B030D-6E8A-4147-A177-3AD203B41FA5}">
                      <a16:colId xmlns:a16="http://schemas.microsoft.com/office/drawing/2014/main" val="3270815278"/>
                    </a:ext>
                  </a:extLst>
                </a:gridCol>
              </a:tblGrid>
              <a:tr h="636028">
                <a:tc>
                  <a:txBody>
                    <a:bodyPr/>
                    <a:lstStyle/>
                    <a:p>
                      <a:pPr>
                        <a:lnSpc>
                          <a:spcPct val="107000"/>
                        </a:lnSpc>
                        <a:spcAft>
                          <a:spcPts val="800"/>
                        </a:spcAft>
                        <a:buNone/>
                      </a:pPr>
                      <a:r>
                        <a:rPr lang="en-IN" sz="2000" kern="100" dirty="0">
                          <a:solidFill>
                            <a:sysClr val="windowText" lastClr="000000"/>
                          </a:solidFill>
                          <a:effectLst/>
                        </a:rPr>
                        <a:t>Flexibility</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b="0" kern="100" dirty="0">
                          <a:solidFill>
                            <a:sysClr val="windowText" lastClr="000000"/>
                          </a:solidFill>
                          <a:effectLst/>
                        </a:rPr>
                        <a:t>Low – not suitable for frequent changes</a:t>
                      </a:r>
                      <a:endParaRPr lang="en-IN" sz="2000" b="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b="0" kern="100" dirty="0">
                          <a:solidFill>
                            <a:sysClr val="windowText" lastClr="000000"/>
                          </a:solidFill>
                          <a:effectLst/>
                        </a:rPr>
                        <a:t>High – designed to handle changing needs</a:t>
                      </a:r>
                      <a:endParaRPr lang="en-IN" sz="2000" b="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1173568"/>
                  </a:ext>
                </a:extLst>
              </a:tr>
              <a:tr h="739107">
                <a:tc>
                  <a:txBody>
                    <a:bodyPr/>
                    <a:lstStyle/>
                    <a:p>
                      <a:pPr>
                        <a:lnSpc>
                          <a:spcPct val="107000"/>
                        </a:lnSpc>
                        <a:spcAft>
                          <a:spcPts val="800"/>
                        </a:spcAft>
                        <a:buNone/>
                      </a:pPr>
                      <a:r>
                        <a:rPr lang="en-IN" sz="2000" kern="100">
                          <a:solidFill>
                            <a:sysClr val="windowText" lastClr="000000"/>
                          </a:solidFill>
                          <a:effectLst/>
                        </a:rPr>
                        <a:t>Customer Involvement</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dirty="0">
                          <a:solidFill>
                            <a:sysClr val="windowText" lastClr="000000"/>
                          </a:solidFill>
                          <a:effectLst/>
                        </a:rPr>
                        <a:t>Mainly at start (requirements) and end (delivery)</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Continuous involvement in every sprint (reviews, feedback)</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8450090"/>
                  </a:ext>
                </a:extLst>
              </a:tr>
              <a:tr h="739107">
                <a:tc>
                  <a:txBody>
                    <a:bodyPr/>
                    <a:lstStyle/>
                    <a:p>
                      <a:pPr>
                        <a:lnSpc>
                          <a:spcPct val="107000"/>
                        </a:lnSpc>
                        <a:spcAft>
                          <a:spcPts val="800"/>
                        </a:spcAft>
                        <a:buNone/>
                      </a:pPr>
                      <a:r>
                        <a:rPr lang="en-IN" sz="2000" kern="100">
                          <a:solidFill>
                            <a:sysClr val="windowText" lastClr="000000"/>
                          </a:solidFill>
                          <a:effectLst/>
                        </a:rPr>
                        <a:t>Delivery</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Final product delivered at the end of the project</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Working software delivered frequently (after each sprint)</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609683"/>
                  </a:ext>
                </a:extLst>
              </a:tr>
              <a:tr h="739107">
                <a:tc>
                  <a:txBody>
                    <a:bodyPr/>
                    <a:lstStyle/>
                    <a:p>
                      <a:pPr>
                        <a:lnSpc>
                          <a:spcPct val="107000"/>
                        </a:lnSpc>
                        <a:spcAft>
                          <a:spcPts val="800"/>
                        </a:spcAft>
                        <a:buNone/>
                      </a:pPr>
                      <a:r>
                        <a:rPr lang="en-IN" sz="2000" kern="100">
                          <a:solidFill>
                            <a:sysClr val="windowText" lastClr="000000"/>
                          </a:solidFill>
                          <a:effectLst/>
                        </a:rPr>
                        <a:t>Documentation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Heavy, detailed documentation (BRD, SRS, etc.)</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“Just enough” documentation; more focus on communication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3293559"/>
                  </a:ext>
                </a:extLst>
              </a:tr>
              <a:tr h="739107">
                <a:tc>
                  <a:txBody>
                    <a:bodyPr/>
                    <a:lstStyle/>
                    <a:p>
                      <a:pPr>
                        <a:lnSpc>
                          <a:spcPct val="107000"/>
                        </a:lnSpc>
                        <a:spcAft>
                          <a:spcPts val="800"/>
                        </a:spcAft>
                        <a:buNone/>
                      </a:pPr>
                      <a:r>
                        <a:rPr lang="en-IN" sz="2000" kern="100">
                          <a:solidFill>
                            <a:sysClr val="windowText" lastClr="000000"/>
                          </a:solidFill>
                          <a:effectLst/>
                        </a:rPr>
                        <a:t>Testing</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Testing happens after development is completed</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Testing happens within each sprint (early and continuous)</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1656793"/>
                  </a:ext>
                </a:extLst>
              </a:tr>
              <a:tr h="739107">
                <a:tc>
                  <a:txBody>
                    <a:bodyPr/>
                    <a:lstStyle/>
                    <a:p>
                      <a:pPr>
                        <a:lnSpc>
                          <a:spcPct val="107000"/>
                        </a:lnSpc>
                        <a:spcAft>
                          <a:spcPts val="800"/>
                        </a:spcAft>
                        <a:buNone/>
                      </a:pPr>
                      <a:r>
                        <a:rPr lang="en-IN" sz="2000" kern="100">
                          <a:solidFill>
                            <a:sysClr val="windowText" lastClr="000000"/>
                          </a:solidFill>
                          <a:effectLst/>
                        </a:rPr>
                        <a:t>Risk Handling</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dirty="0">
                          <a:solidFill>
                            <a:sysClr val="windowText" lastClr="000000"/>
                          </a:solidFill>
                          <a:effectLst/>
                        </a:rPr>
                        <a:t>Risks discovered late (towards testing/implementation)</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Risks identified and handled early in each iteration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9736138"/>
                  </a:ext>
                </a:extLst>
              </a:tr>
              <a:tr h="739107">
                <a:tc>
                  <a:txBody>
                    <a:bodyPr/>
                    <a:lstStyle/>
                    <a:p>
                      <a:pPr>
                        <a:lnSpc>
                          <a:spcPct val="107000"/>
                        </a:lnSpc>
                        <a:spcAft>
                          <a:spcPts val="800"/>
                        </a:spcAft>
                        <a:buNone/>
                      </a:pPr>
                      <a:r>
                        <a:rPr lang="en-IN" sz="2000" kern="100" dirty="0">
                          <a:solidFill>
                            <a:sysClr val="windowText" lastClr="000000"/>
                          </a:solidFill>
                          <a:effectLst/>
                        </a:rPr>
                        <a:t>Best Suited For</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dirty="0">
                          <a:solidFill>
                            <a:sysClr val="windowText" lastClr="000000"/>
                          </a:solidFill>
                          <a:effectLst/>
                        </a:rPr>
                        <a:t>Projects with clear, stable requirements</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dirty="0">
                          <a:solidFill>
                            <a:sysClr val="windowText" lastClr="000000"/>
                          </a:solidFill>
                          <a:effectLst/>
                        </a:rPr>
                        <a:t>Projects with uncertain or changing requirements</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6064677"/>
                  </a:ext>
                </a:extLst>
              </a:tr>
            </a:tbl>
          </a:graphicData>
        </a:graphic>
      </p:graphicFrame>
    </p:spTree>
    <p:extLst>
      <p:ext uri="{BB962C8B-B14F-4D97-AF65-F5344CB8AC3E}">
        <p14:creationId xmlns:p14="http://schemas.microsoft.com/office/powerpoint/2010/main" val="14736404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B87A-C9F4-7190-CEC6-D6592FF145CD}"/>
              </a:ext>
            </a:extLst>
          </p:cNvPr>
          <p:cNvSpPr>
            <a:spLocks noGrp="1"/>
          </p:cNvSpPr>
          <p:nvPr>
            <p:ph type="title"/>
          </p:nvPr>
        </p:nvSpPr>
        <p:spPr>
          <a:xfrm>
            <a:off x="1782426" y="1710157"/>
            <a:ext cx="8596668" cy="707923"/>
          </a:xfrm>
        </p:spPr>
        <p:txBody>
          <a:bodyPr>
            <a:noAutofit/>
          </a:bodyPr>
          <a:lstStyle/>
          <a:p>
            <a:r>
              <a:rPr lang="en-IN" b="1" dirty="0">
                <a:solidFill>
                  <a:schemeClr val="tx1"/>
                </a:solidFill>
              </a:rPr>
              <a:t>When to Use Waterfall</a:t>
            </a:r>
          </a:p>
        </p:txBody>
      </p:sp>
      <p:sp>
        <p:nvSpPr>
          <p:cNvPr id="3" name="Content Placeholder 2">
            <a:extLst>
              <a:ext uri="{FF2B5EF4-FFF2-40B4-BE49-F238E27FC236}">
                <a16:creationId xmlns:a16="http://schemas.microsoft.com/office/drawing/2014/main" id="{22FFD544-90C2-A5D2-2675-470010D2F172}"/>
              </a:ext>
            </a:extLst>
          </p:cNvPr>
          <p:cNvSpPr>
            <a:spLocks noGrp="1"/>
          </p:cNvSpPr>
          <p:nvPr>
            <p:ph idx="1"/>
          </p:nvPr>
        </p:nvSpPr>
        <p:spPr>
          <a:xfrm>
            <a:off x="1188720" y="2418080"/>
            <a:ext cx="9784080" cy="3677920"/>
          </a:xfrm>
        </p:spPr>
        <p:txBody>
          <a:bodyPr>
            <a:normAutofit/>
          </a:bodyPr>
          <a:lstStyle/>
          <a:p>
            <a:pPr>
              <a:buFont typeface="Courier New" panose="02070309020205020404" pitchFamily="49" charset="0"/>
              <a:buChar char="o"/>
            </a:pPr>
            <a:r>
              <a:rPr lang="en-US" sz="1600" b="1" dirty="0">
                <a:solidFill>
                  <a:schemeClr val="tx1"/>
                </a:solidFill>
              </a:rPr>
              <a:t>Requirements are clear and stable:</a:t>
            </a:r>
            <a:r>
              <a:rPr lang="en-US" sz="1600" dirty="0">
                <a:solidFill>
                  <a:schemeClr val="tx1"/>
                </a:solidFill>
              </a:rPr>
              <a:t> The project has a well-defined scope from the start.</a:t>
            </a:r>
          </a:p>
          <a:p>
            <a:pPr>
              <a:buFont typeface="Courier New" panose="02070309020205020404" pitchFamily="49" charset="0"/>
              <a:buChar char="o"/>
            </a:pPr>
            <a:r>
              <a:rPr lang="en-US" sz="1600" b="1" dirty="0">
                <a:solidFill>
                  <a:schemeClr val="tx1"/>
                </a:solidFill>
              </a:rPr>
              <a:t>The project is straightforward and uncomplicated:</a:t>
            </a:r>
            <a:r>
              <a:rPr lang="en-US" sz="1600" dirty="0">
                <a:solidFill>
                  <a:schemeClr val="tx1"/>
                </a:solidFill>
              </a:rPr>
              <a:t> A linear approach works well for simple projects with no unknowns.</a:t>
            </a:r>
          </a:p>
          <a:p>
            <a:pPr>
              <a:buFont typeface="Courier New" panose="02070309020205020404" pitchFamily="49" charset="0"/>
              <a:buChar char="o"/>
            </a:pPr>
            <a:r>
              <a:rPr lang="en-US" sz="1600" b="1" dirty="0">
                <a:solidFill>
                  <a:schemeClr val="tx1"/>
                </a:solidFill>
              </a:rPr>
              <a:t>Strict documentation and regulatory compliance are required:</a:t>
            </a:r>
            <a:r>
              <a:rPr lang="en-US" sz="1600" dirty="0">
                <a:solidFill>
                  <a:schemeClr val="tx1"/>
                </a:solidFill>
              </a:rPr>
              <a:t> Waterfall's structured phases support thorough documentation needs.</a:t>
            </a:r>
          </a:p>
          <a:p>
            <a:pPr>
              <a:buFont typeface="Courier New" panose="02070309020205020404" pitchFamily="49" charset="0"/>
              <a:buChar char="o"/>
            </a:pPr>
            <a:r>
              <a:rPr lang="en-US" sz="1600" b="1" dirty="0">
                <a:solidFill>
                  <a:schemeClr val="tx1"/>
                </a:solidFill>
              </a:rPr>
              <a:t>Customer involvement is limited:</a:t>
            </a:r>
            <a:r>
              <a:rPr lang="en-US" sz="1600" dirty="0">
                <a:solidFill>
                  <a:schemeClr val="tx1"/>
                </a:solidFill>
              </a:rPr>
              <a:t> It's best when client input is primarily at the beginning and end of the project.</a:t>
            </a:r>
          </a:p>
          <a:p>
            <a:pPr>
              <a:buFont typeface="Courier New" panose="02070309020205020404" pitchFamily="49" charset="0"/>
              <a:buChar char="o"/>
            </a:pPr>
            <a:r>
              <a:rPr lang="en-US" sz="1600" b="1" dirty="0">
                <a:solidFill>
                  <a:schemeClr val="tx1"/>
                </a:solidFill>
              </a:rPr>
              <a:t>A fixed schedule and budget are the main drivers:</a:t>
            </a:r>
            <a:r>
              <a:rPr lang="en-US" sz="1600" dirty="0">
                <a:solidFill>
                  <a:schemeClr val="tx1"/>
                </a:solidFill>
              </a:rPr>
              <a:t> Its structure allows for a clear, upfront plan for costs and timelines. </a:t>
            </a:r>
          </a:p>
        </p:txBody>
      </p:sp>
    </p:spTree>
    <p:extLst>
      <p:ext uri="{BB962C8B-B14F-4D97-AF65-F5344CB8AC3E}">
        <p14:creationId xmlns:p14="http://schemas.microsoft.com/office/powerpoint/2010/main" val="8739547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8F55-428D-2DCC-3722-A30061CEE5A1}"/>
              </a:ext>
            </a:extLst>
          </p:cNvPr>
          <p:cNvSpPr>
            <a:spLocks noGrp="1"/>
          </p:cNvSpPr>
          <p:nvPr>
            <p:ph type="title"/>
          </p:nvPr>
        </p:nvSpPr>
        <p:spPr>
          <a:xfrm>
            <a:off x="1797666" y="1635759"/>
            <a:ext cx="8596668" cy="737419"/>
          </a:xfrm>
        </p:spPr>
        <p:txBody>
          <a:bodyPr>
            <a:noAutofit/>
          </a:bodyPr>
          <a:lstStyle/>
          <a:p>
            <a:r>
              <a:rPr lang="en-IN" b="1" dirty="0">
                <a:solidFill>
                  <a:schemeClr val="tx1"/>
                </a:solidFill>
              </a:rPr>
              <a:t>When to Use Agile</a:t>
            </a:r>
          </a:p>
        </p:txBody>
      </p:sp>
      <p:sp>
        <p:nvSpPr>
          <p:cNvPr id="3" name="Content Placeholder 2">
            <a:extLst>
              <a:ext uri="{FF2B5EF4-FFF2-40B4-BE49-F238E27FC236}">
                <a16:creationId xmlns:a16="http://schemas.microsoft.com/office/drawing/2014/main" id="{DF711197-5A43-C361-21C1-BF37AE15B761}"/>
              </a:ext>
            </a:extLst>
          </p:cNvPr>
          <p:cNvSpPr>
            <a:spLocks noGrp="1"/>
          </p:cNvSpPr>
          <p:nvPr>
            <p:ph idx="1"/>
          </p:nvPr>
        </p:nvSpPr>
        <p:spPr>
          <a:xfrm>
            <a:off x="1297094" y="2557699"/>
            <a:ext cx="9777306" cy="2664542"/>
          </a:xfrm>
        </p:spPr>
        <p:txBody>
          <a:bodyPr>
            <a:normAutofit/>
          </a:bodyPr>
          <a:lstStyle/>
          <a:p>
            <a:pPr>
              <a:buFont typeface="Courier New" panose="02070309020205020404" pitchFamily="49" charset="0"/>
              <a:buChar char="o"/>
            </a:pPr>
            <a:r>
              <a:rPr lang="en-US" sz="1600" b="1" dirty="0">
                <a:solidFill>
                  <a:schemeClr val="tx1"/>
                </a:solidFill>
              </a:rPr>
              <a:t>Requirements are likely to change:</a:t>
            </a:r>
            <a:r>
              <a:rPr lang="en-US" sz="1600" dirty="0">
                <a:solidFill>
                  <a:schemeClr val="tx1"/>
                </a:solidFill>
              </a:rPr>
              <a:t> Agile's flexible, iterative approach is ideal for projects with evolving needs.</a:t>
            </a:r>
          </a:p>
          <a:p>
            <a:pPr>
              <a:buFont typeface="Courier New" panose="02070309020205020404" pitchFamily="49" charset="0"/>
              <a:buChar char="o"/>
            </a:pPr>
            <a:r>
              <a:rPr lang="en-US" sz="1600" b="1" dirty="0">
                <a:solidFill>
                  <a:schemeClr val="tx1"/>
                </a:solidFill>
              </a:rPr>
              <a:t>Fast delivery is a priority:</a:t>
            </a:r>
            <a:r>
              <a:rPr lang="en-US" sz="1600" dirty="0">
                <a:solidFill>
                  <a:schemeClr val="tx1"/>
                </a:solidFill>
              </a:rPr>
              <a:t> It allows for incremental releases of functional parts of the product.</a:t>
            </a:r>
          </a:p>
          <a:p>
            <a:pPr>
              <a:buFont typeface="Courier New" panose="02070309020205020404" pitchFamily="49" charset="0"/>
              <a:buChar char="o"/>
            </a:pPr>
            <a:r>
              <a:rPr lang="en-US" sz="1600" b="1" dirty="0">
                <a:solidFill>
                  <a:schemeClr val="tx1"/>
                </a:solidFill>
              </a:rPr>
              <a:t>Customer feedback is crucial:</a:t>
            </a:r>
            <a:r>
              <a:rPr lang="en-US" sz="1600" dirty="0">
                <a:solidFill>
                  <a:schemeClr val="tx1"/>
                </a:solidFill>
              </a:rPr>
              <a:t> The methodology builds in continuous collaboration and feedback loops.</a:t>
            </a:r>
          </a:p>
          <a:p>
            <a:pPr>
              <a:buFont typeface="Courier New" panose="02070309020205020404" pitchFamily="49" charset="0"/>
              <a:buChar char="o"/>
            </a:pPr>
            <a:r>
              <a:rPr lang="en-US" sz="1600" b="1" dirty="0">
                <a:solidFill>
                  <a:schemeClr val="tx1"/>
                </a:solidFill>
              </a:rPr>
              <a:t>The project is complex or uncertain:</a:t>
            </a:r>
            <a:r>
              <a:rPr lang="en-US" sz="1600" dirty="0">
                <a:solidFill>
                  <a:schemeClr val="tx1"/>
                </a:solidFill>
              </a:rPr>
              <a:t> It accommodates innovation and emerging technologies by allowing for rapid iterations.</a:t>
            </a:r>
          </a:p>
          <a:p>
            <a:pPr>
              <a:buFont typeface="Courier New" panose="02070309020205020404" pitchFamily="49" charset="0"/>
              <a:buChar char="o"/>
            </a:pPr>
            <a:r>
              <a:rPr lang="en-US" sz="1600" b="1" dirty="0">
                <a:solidFill>
                  <a:schemeClr val="tx1"/>
                </a:solidFill>
              </a:rPr>
              <a:t>Cross-functional teams work collaboratively:</a:t>
            </a:r>
            <a:r>
              <a:rPr lang="en-US" sz="1600" dirty="0">
                <a:solidFill>
                  <a:schemeClr val="tx1"/>
                </a:solidFill>
              </a:rPr>
              <a:t> Agile thrives when developers, designers, and testers work together in cycles. </a:t>
            </a:r>
          </a:p>
          <a:p>
            <a:pPr>
              <a:buFont typeface="Courier New" panose="02070309020205020404" pitchFamily="49" charset="0"/>
              <a:buChar char="o"/>
            </a:pPr>
            <a:endParaRPr lang="en-IN" sz="1600" dirty="0"/>
          </a:p>
        </p:txBody>
      </p:sp>
    </p:spTree>
    <p:extLst>
      <p:ext uri="{BB962C8B-B14F-4D97-AF65-F5344CB8AC3E}">
        <p14:creationId xmlns:p14="http://schemas.microsoft.com/office/powerpoint/2010/main" val="29525365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C96E-CBAB-0651-6F45-F6C0E71AD3F7}"/>
              </a:ext>
            </a:extLst>
          </p:cNvPr>
          <p:cNvSpPr>
            <a:spLocks noGrp="1"/>
          </p:cNvSpPr>
          <p:nvPr>
            <p:ph type="title"/>
          </p:nvPr>
        </p:nvSpPr>
        <p:spPr>
          <a:xfrm>
            <a:off x="1498326" y="1808480"/>
            <a:ext cx="8958280" cy="609600"/>
          </a:xfrm>
        </p:spPr>
        <p:txBody>
          <a:bodyPr>
            <a:noAutofit/>
          </a:bodyPr>
          <a:lstStyle/>
          <a:p>
            <a:r>
              <a:rPr lang="en-US" b="1" dirty="0">
                <a:solidFill>
                  <a:schemeClr val="tx1"/>
                </a:solidFill>
              </a:rPr>
              <a:t>Stakeholder management</a:t>
            </a:r>
            <a:endParaRPr lang="en-IN" b="1" dirty="0">
              <a:solidFill>
                <a:schemeClr val="tx1"/>
              </a:solidFill>
            </a:endParaRPr>
          </a:p>
        </p:txBody>
      </p:sp>
      <p:sp>
        <p:nvSpPr>
          <p:cNvPr id="3" name="Content Placeholder 2">
            <a:extLst>
              <a:ext uri="{FF2B5EF4-FFF2-40B4-BE49-F238E27FC236}">
                <a16:creationId xmlns:a16="http://schemas.microsoft.com/office/drawing/2014/main" id="{CA8FB259-257A-FBA4-9827-46FBE5A16DF9}"/>
              </a:ext>
            </a:extLst>
          </p:cNvPr>
          <p:cNvSpPr>
            <a:spLocks noGrp="1"/>
          </p:cNvSpPr>
          <p:nvPr>
            <p:ph idx="1"/>
          </p:nvPr>
        </p:nvSpPr>
        <p:spPr>
          <a:xfrm>
            <a:off x="1012613" y="2418081"/>
            <a:ext cx="9929707" cy="3698240"/>
          </a:xfrm>
        </p:spPr>
        <p:txBody>
          <a:bodyPr>
            <a:normAutofit/>
          </a:bodyPr>
          <a:lstStyle/>
          <a:p>
            <a:pPr>
              <a:buFont typeface="Wingdings" panose="05000000000000000000" pitchFamily="2" charset="2"/>
              <a:buChar char="q"/>
            </a:pPr>
            <a:r>
              <a:rPr lang="en-US" sz="1600" b="1" u="sng" dirty="0"/>
              <a:t>Definition:-</a:t>
            </a:r>
            <a:br>
              <a:rPr lang="en-US" sz="1600" dirty="0"/>
            </a:br>
            <a:r>
              <a:rPr lang="en-US" sz="1600" dirty="0"/>
              <a:t>Stakeholder management is the process of identifying, analyzing, and engaging individuals or groups who have an interest in a project or business activity to ensure their needs and expectations are understood and addressed.</a:t>
            </a:r>
          </a:p>
          <a:p>
            <a:pPr>
              <a:buFont typeface="Wingdings" panose="05000000000000000000" pitchFamily="2" charset="2"/>
              <a:buChar char="Ø"/>
            </a:pPr>
            <a:r>
              <a:rPr lang="en-US" sz="1600" b="1" u="sng" dirty="0"/>
              <a:t>Key Steps in Stakeholder Management:-</a:t>
            </a:r>
          </a:p>
          <a:p>
            <a:pPr>
              <a:buFont typeface="Courier New" panose="02070309020205020404" pitchFamily="49" charset="0"/>
              <a:buChar char="o"/>
            </a:pPr>
            <a:r>
              <a:rPr lang="en-US" sz="1600" b="1" dirty="0"/>
              <a:t>Identify Stakeholders:</a:t>
            </a:r>
            <a:r>
              <a:rPr lang="en-US" sz="1600" dirty="0"/>
              <a:t> Determine all individuals or groups affected by or interested in the project.</a:t>
            </a:r>
          </a:p>
          <a:p>
            <a:pPr>
              <a:buFont typeface="Courier New" panose="02070309020205020404" pitchFamily="49" charset="0"/>
              <a:buChar char="o"/>
            </a:pPr>
            <a:r>
              <a:rPr lang="en-US" sz="1600" b="1" dirty="0"/>
              <a:t>Analyze Stakeholders:</a:t>
            </a:r>
            <a:r>
              <a:rPr lang="en-US" sz="1600" dirty="0"/>
              <a:t> Assess their influence, interest, and impact on the project.</a:t>
            </a:r>
          </a:p>
          <a:p>
            <a:pPr>
              <a:buFont typeface="Courier New" panose="02070309020205020404" pitchFamily="49" charset="0"/>
              <a:buChar char="o"/>
            </a:pPr>
            <a:r>
              <a:rPr lang="en-US" sz="1600" b="1" dirty="0"/>
              <a:t>Engage Stakeholders:</a:t>
            </a:r>
            <a:r>
              <a:rPr lang="en-US" sz="1600" dirty="0"/>
              <a:t> Communicate effectively, involve them in decision-making, and manage expectations.</a:t>
            </a:r>
          </a:p>
          <a:p>
            <a:pPr>
              <a:buFont typeface="Courier New" panose="02070309020205020404" pitchFamily="49" charset="0"/>
              <a:buChar char="o"/>
            </a:pPr>
            <a:r>
              <a:rPr lang="en-US" sz="1600" b="1" dirty="0"/>
              <a:t>Monitor and Review:</a:t>
            </a:r>
            <a:r>
              <a:rPr lang="en-US" sz="1600" dirty="0"/>
              <a:t> Continuously track stakeholder feedback and adjust engagement strategies.</a:t>
            </a:r>
          </a:p>
          <a:p>
            <a:pPr>
              <a:buFont typeface="Wingdings" panose="05000000000000000000" pitchFamily="2" charset="2"/>
              <a:buChar char="Ø"/>
            </a:pPr>
            <a:r>
              <a:rPr lang="en-US" sz="1600" b="1" u="sng" dirty="0"/>
              <a:t>Example:-</a:t>
            </a:r>
          </a:p>
          <a:p>
            <a:pPr>
              <a:buFont typeface="Courier New" panose="02070309020205020404" pitchFamily="49" charset="0"/>
              <a:buChar char="o"/>
            </a:pPr>
            <a:r>
              <a:rPr lang="en-US" sz="1600" dirty="0"/>
              <a:t>In a software project, stakeholders include end-users, managers, IT staff, and investors; regular meetings and updates ensure everyone’s requirements and concerns are considered.</a:t>
            </a:r>
          </a:p>
        </p:txBody>
      </p:sp>
    </p:spTree>
    <p:extLst>
      <p:ext uri="{BB962C8B-B14F-4D97-AF65-F5344CB8AC3E}">
        <p14:creationId xmlns:p14="http://schemas.microsoft.com/office/powerpoint/2010/main" val="24629193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F1B9B-3DAB-0397-F8A1-18C27DE6BC7E}"/>
              </a:ext>
            </a:extLst>
          </p:cNvPr>
          <p:cNvSpPr>
            <a:spLocks noGrp="1"/>
          </p:cNvSpPr>
          <p:nvPr>
            <p:ph type="title"/>
          </p:nvPr>
        </p:nvSpPr>
        <p:spPr>
          <a:xfrm>
            <a:off x="1673014" y="1636415"/>
            <a:ext cx="8596668" cy="678426"/>
          </a:xfrm>
        </p:spPr>
        <p:txBody>
          <a:bodyPr>
            <a:noAutofit/>
          </a:bodyPr>
          <a:lstStyle/>
          <a:p>
            <a:r>
              <a:rPr lang="en-US" b="1" dirty="0">
                <a:solidFill>
                  <a:schemeClr val="tx1"/>
                </a:solidFill>
              </a:rPr>
              <a:t>The Benefits of </a:t>
            </a:r>
            <a:br>
              <a:rPr lang="en-US" b="1" dirty="0">
                <a:solidFill>
                  <a:schemeClr val="tx1"/>
                </a:solidFill>
              </a:rPr>
            </a:br>
            <a:r>
              <a:rPr lang="en-US" b="1" dirty="0">
                <a:solidFill>
                  <a:schemeClr val="tx1"/>
                </a:solidFill>
              </a:rPr>
              <a:t>Stakeholder Management</a:t>
            </a:r>
            <a:br>
              <a:rPr lang="en-US" b="1" dirty="0"/>
            </a:br>
            <a:endParaRPr lang="en-IN" dirty="0"/>
          </a:p>
        </p:txBody>
      </p:sp>
      <p:sp>
        <p:nvSpPr>
          <p:cNvPr id="3" name="Content Placeholder 2">
            <a:extLst>
              <a:ext uri="{FF2B5EF4-FFF2-40B4-BE49-F238E27FC236}">
                <a16:creationId xmlns:a16="http://schemas.microsoft.com/office/drawing/2014/main" id="{7A9E72E8-73C1-4CB0-85E8-7DAD73E27C00}"/>
              </a:ext>
            </a:extLst>
          </p:cNvPr>
          <p:cNvSpPr>
            <a:spLocks noGrp="1"/>
          </p:cNvSpPr>
          <p:nvPr>
            <p:ph idx="1"/>
          </p:nvPr>
        </p:nvSpPr>
        <p:spPr>
          <a:xfrm>
            <a:off x="1205653" y="2457081"/>
            <a:ext cx="10214187" cy="3791319"/>
          </a:xfrm>
        </p:spPr>
        <p:txBody>
          <a:bodyPr>
            <a:normAutofit lnSpcReduction="10000"/>
          </a:bodyPr>
          <a:lstStyle/>
          <a:p>
            <a:pPr marL="0" indent="0">
              <a:buNone/>
            </a:pPr>
            <a:r>
              <a:rPr lang="en-US" sz="1600" dirty="0">
                <a:solidFill>
                  <a:schemeClr val="tx1"/>
                </a:solidFill>
              </a:rPr>
              <a:t>Effective stakeholder management leads to improve project success by ensuring clearer communication, managing expectations, and fostering stronger relationships.</a:t>
            </a:r>
          </a:p>
          <a:p>
            <a:pPr>
              <a:buFont typeface="Wingdings" panose="05000000000000000000" pitchFamily="2" charset="2"/>
              <a:buChar char="Ø"/>
            </a:pPr>
            <a:r>
              <a:rPr lang="en-IN" sz="1600" b="1" u="sng" dirty="0">
                <a:solidFill>
                  <a:schemeClr val="tx1"/>
                </a:solidFill>
              </a:rPr>
              <a:t>Project and operational benefits:-</a:t>
            </a:r>
            <a:endParaRPr lang="en-IN" sz="1600" u="sng" dirty="0">
              <a:solidFill>
                <a:schemeClr val="tx1"/>
              </a:solidFill>
            </a:endParaRPr>
          </a:p>
          <a:p>
            <a:pPr lvl="0">
              <a:buFont typeface="Courier New" panose="02070309020205020404" pitchFamily="49" charset="0"/>
              <a:buChar char="o"/>
            </a:pPr>
            <a:r>
              <a:rPr lang="en-IN" sz="1600" b="1" dirty="0">
                <a:solidFill>
                  <a:schemeClr val="tx1"/>
                </a:solidFill>
              </a:rPr>
              <a:t>Increases project success:</a:t>
            </a:r>
            <a:r>
              <a:rPr lang="en-IN" sz="1600" dirty="0">
                <a:solidFill>
                  <a:schemeClr val="tx1"/>
                </a:solidFill>
              </a:rPr>
              <a:t> Involving stakeholders early and often helps to ensure project requirements are fully understood and accepted, increasing the likelihood of a successful outcome.</a:t>
            </a:r>
          </a:p>
          <a:p>
            <a:pPr lvl="0">
              <a:buFont typeface="Courier New" panose="02070309020205020404" pitchFamily="49" charset="0"/>
              <a:buChar char="o"/>
            </a:pPr>
            <a:r>
              <a:rPr lang="en-IN" sz="1600" b="1" dirty="0">
                <a:solidFill>
                  <a:schemeClr val="tx1"/>
                </a:solidFill>
              </a:rPr>
              <a:t>Manages and mitigates risk:</a:t>
            </a:r>
            <a:r>
              <a:rPr lang="en-IN" sz="1600" dirty="0">
                <a:solidFill>
                  <a:schemeClr val="tx1"/>
                </a:solidFill>
              </a:rPr>
              <a:t> Identifying stakeholders and their concerns early allows for the development of risk management strategies and helps prevent delays and disruptions.</a:t>
            </a:r>
          </a:p>
          <a:p>
            <a:pPr lvl="0">
              <a:buFont typeface="Courier New" panose="02070309020205020404" pitchFamily="49" charset="0"/>
              <a:buChar char="o"/>
            </a:pPr>
            <a:r>
              <a:rPr lang="en-IN" sz="1600" b="1" dirty="0">
                <a:solidFill>
                  <a:schemeClr val="tx1"/>
                </a:solidFill>
              </a:rPr>
              <a:t>Improves decision-making:</a:t>
            </a:r>
            <a:r>
              <a:rPr lang="en-IN" sz="1600" dirty="0">
                <a:solidFill>
                  <a:schemeClr val="tx1"/>
                </a:solidFill>
              </a:rPr>
              <a:t> A clear understanding of stakeholders, their needs, and their resources enables more effective stewardship of time and financial resources.</a:t>
            </a:r>
          </a:p>
          <a:p>
            <a:pPr lvl="0">
              <a:buFont typeface="Courier New" panose="02070309020205020404" pitchFamily="49" charset="0"/>
              <a:buChar char="o"/>
            </a:pPr>
            <a:r>
              <a:rPr lang="en-IN" sz="1600" b="1" dirty="0">
                <a:solidFill>
                  <a:schemeClr val="tx1"/>
                </a:solidFill>
              </a:rPr>
              <a:t>Boosts engagement and motivation:</a:t>
            </a:r>
            <a:r>
              <a:rPr lang="en-IN" sz="1600" dirty="0">
                <a:solidFill>
                  <a:schemeClr val="tx1"/>
                </a:solidFill>
              </a:rPr>
              <a:t> Clarifying roles and expectations encourages more active and effective participation from stakeholders.</a:t>
            </a:r>
          </a:p>
          <a:p>
            <a:pPr lvl="0">
              <a:buFont typeface="Courier New" panose="02070309020205020404" pitchFamily="49" charset="0"/>
              <a:buChar char="o"/>
            </a:pPr>
            <a:r>
              <a:rPr lang="en-IN" sz="1600" b="1" dirty="0">
                <a:solidFill>
                  <a:schemeClr val="tx1"/>
                </a:solidFill>
              </a:rPr>
              <a:t>Fosters collaboration:</a:t>
            </a:r>
            <a:r>
              <a:rPr lang="en-IN" sz="1600" dirty="0">
                <a:solidFill>
                  <a:schemeClr val="tx1"/>
                </a:solidFill>
              </a:rPr>
              <a:t> Communication and collaboration are improved when an organization understands stakeholder preferences and roles, leading to greater efficiency. </a:t>
            </a:r>
          </a:p>
          <a:p>
            <a:endParaRPr lang="en-IN" sz="1600" dirty="0"/>
          </a:p>
        </p:txBody>
      </p:sp>
    </p:spTree>
    <p:extLst>
      <p:ext uri="{BB962C8B-B14F-4D97-AF65-F5344CB8AC3E}">
        <p14:creationId xmlns:p14="http://schemas.microsoft.com/office/powerpoint/2010/main" val="40517625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6839F-AADA-E633-10BF-30C2E091BA28}"/>
              </a:ext>
            </a:extLst>
          </p:cNvPr>
          <p:cNvSpPr>
            <a:spLocks noGrp="1"/>
          </p:cNvSpPr>
          <p:nvPr>
            <p:ph type="title"/>
          </p:nvPr>
        </p:nvSpPr>
        <p:spPr>
          <a:xfrm>
            <a:off x="1203962" y="1524000"/>
            <a:ext cx="9601196" cy="863599"/>
          </a:xfrm>
        </p:spPr>
        <p:txBody>
          <a:bodyPr/>
          <a:lstStyle/>
          <a:p>
            <a:r>
              <a:rPr lang="en-IN" b="1" dirty="0"/>
              <a:t>Benefits</a:t>
            </a:r>
          </a:p>
        </p:txBody>
      </p:sp>
      <p:sp>
        <p:nvSpPr>
          <p:cNvPr id="3" name="Content Placeholder 2">
            <a:extLst>
              <a:ext uri="{FF2B5EF4-FFF2-40B4-BE49-F238E27FC236}">
                <a16:creationId xmlns:a16="http://schemas.microsoft.com/office/drawing/2014/main" id="{4B0CEB1D-77AF-57AD-373B-601468F9BF69}"/>
              </a:ext>
            </a:extLst>
          </p:cNvPr>
          <p:cNvSpPr>
            <a:spLocks noGrp="1"/>
          </p:cNvSpPr>
          <p:nvPr>
            <p:ph idx="1"/>
          </p:nvPr>
        </p:nvSpPr>
        <p:spPr/>
        <p:txBody>
          <a:bodyPr>
            <a:normAutofit fontScale="85000" lnSpcReduction="20000"/>
          </a:bodyPr>
          <a:lstStyle/>
          <a:p>
            <a:pPr>
              <a:buFont typeface="Wingdings" panose="05000000000000000000" pitchFamily="2" charset="2"/>
              <a:buChar char="Ø"/>
            </a:pPr>
            <a:r>
              <a:rPr lang="en-IN" sz="1600" b="1" u="sng" dirty="0">
                <a:solidFill>
                  <a:schemeClr val="tx1"/>
                </a:solidFill>
              </a:rPr>
              <a:t>Relationship and trust benefits:-</a:t>
            </a:r>
          </a:p>
          <a:p>
            <a:pPr lvl="0">
              <a:buFont typeface="Courier New" panose="02070309020205020404" pitchFamily="49" charset="0"/>
              <a:buChar char="o"/>
            </a:pPr>
            <a:r>
              <a:rPr lang="en-IN" sz="1600" b="1" dirty="0">
                <a:solidFill>
                  <a:schemeClr val="tx1"/>
                </a:solidFill>
              </a:rPr>
              <a:t>Builds trust and confidence:</a:t>
            </a:r>
            <a:r>
              <a:rPr lang="en-IN" sz="1600" dirty="0">
                <a:solidFill>
                  <a:schemeClr val="tx1"/>
                </a:solidFill>
              </a:rPr>
              <a:t> Transparent and clear communication demonstrates a commitment to stakeholders' needs and builds trust.</a:t>
            </a:r>
          </a:p>
          <a:p>
            <a:pPr lvl="0">
              <a:buFont typeface="Courier New" panose="02070309020205020404" pitchFamily="49" charset="0"/>
              <a:buChar char="o"/>
            </a:pPr>
            <a:r>
              <a:rPr lang="en-IN" sz="1600" b="1" dirty="0">
                <a:solidFill>
                  <a:schemeClr val="tx1"/>
                </a:solidFill>
              </a:rPr>
              <a:t>Strengthens relationships:</a:t>
            </a:r>
            <a:r>
              <a:rPr lang="en-IN" sz="1600" dirty="0">
                <a:solidFill>
                  <a:schemeClr val="tx1"/>
                </a:solidFill>
              </a:rPr>
              <a:t> Proactive engagement helps to build and maintain strong relationships with all parties involved.</a:t>
            </a:r>
          </a:p>
          <a:p>
            <a:pPr lvl="0">
              <a:buFont typeface="Courier New" panose="02070309020205020404" pitchFamily="49" charset="0"/>
              <a:buChar char="o"/>
            </a:pPr>
            <a:r>
              <a:rPr lang="en-IN" sz="1600" b="1" dirty="0">
                <a:solidFill>
                  <a:schemeClr val="tx1"/>
                </a:solidFill>
              </a:rPr>
              <a:t>Manages expectations:</a:t>
            </a:r>
            <a:r>
              <a:rPr lang="en-IN" sz="1600" dirty="0">
                <a:solidFill>
                  <a:schemeClr val="tx1"/>
                </a:solidFill>
              </a:rPr>
              <a:t> A structured approach ensures that stakeholder expectations are managed realistically, which increases satisfaction. </a:t>
            </a:r>
          </a:p>
          <a:p>
            <a:pPr>
              <a:buFont typeface="Wingdings" panose="05000000000000000000" pitchFamily="2" charset="2"/>
              <a:buChar char="Ø"/>
            </a:pPr>
            <a:r>
              <a:rPr lang="en-IN" sz="1600" b="1" u="sng" dirty="0">
                <a:solidFill>
                  <a:schemeClr val="tx1"/>
                </a:solidFill>
              </a:rPr>
              <a:t>Strategic and competitive benefits:-</a:t>
            </a:r>
            <a:endParaRPr lang="en-IN" sz="1600" u="sng" dirty="0">
              <a:solidFill>
                <a:schemeClr val="tx1"/>
              </a:solidFill>
            </a:endParaRPr>
          </a:p>
          <a:p>
            <a:pPr>
              <a:buFont typeface="Courier New" panose="02070309020205020404" pitchFamily="49" charset="0"/>
              <a:buChar char="o"/>
            </a:pPr>
            <a:r>
              <a:rPr lang="en-IN" sz="1600" b="1" dirty="0">
                <a:solidFill>
                  <a:schemeClr val="tx1"/>
                </a:solidFill>
              </a:rPr>
              <a:t>Provides a competitive advantage: </a:t>
            </a:r>
            <a:r>
              <a:rPr lang="en-IN" sz="1600" dirty="0">
                <a:solidFill>
                  <a:schemeClr val="tx1"/>
                </a:solidFill>
              </a:rPr>
              <a:t>Understanding stakeholder interests can uncover opportunities for innovation and provide a competitive edge.</a:t>
            </a:r>
          </a:p>
          <a:p>
            <a:pPr>
              <a:buFont typeface="Courier New" panose="02070309020205020404" pitchFamily="49" charset="0"/>
              <a:buChar char="o"/>
            </a:pPr>
            <a:r>
              <a:rPr lang="en-IN" sz="1600" b="1" dirty="0">
                <a:solidFill>
                  <a:schemeClr val="tx1"/>
                </a:solidFill>
              </a:rPr>
              <a:t>Enhances reputation: </a:t>
            </a:r>
            <a:r>
              <a:rPr lang="en-IN" sz="1600" dirty="0">
                <a:solidFill>
                  <a:schemeClr val="tx1"/>
                </a:solidFill>
              </a:rPr>
              <a:t>Proactively managing stakeholder relationships can improve a company's reputation and develop a social license to operate.</a:t>
            </a:r>
          </a:p>
          <a:p>
            <a:pPr>
              <a:buFont typeface="Courier New" panose="02070309020205020404" pitchFamily="49" charset="0"/>
              <a:buChar char="o"/>
            </a:pPr>
            <a:r>
              <a:rPr lang="en-IN" sz="1600" b="1" dirty="0">
                <a:solidFill>
                  <a:schemeClr val="tx1"/>
                </a:solidFill>
              </a:rPr>
              <a:t>Offers "business intelligence": </a:t>
            </a:r>
            <a:r>
              <a:rPr lang="en-IN" sz="1600" dirty="0">
                <a:solidFill>
                  <a:schemeClr val="tx1"/>
                </a:solidFill>
              </a:rPr>
              <a:t>Insights from stakeholders about their needs can lead to new product or service ideas and identify areas for cost reduction or value maximization</a:t>
            </a:r>
            <a:r>
              <a:rPr lang="en-IN" sz="1600" b="1" dirty="0">
                <a:solidFill>
                  <a:schemeClr val="tx1"/>
                </a:solidFill>
              </a:rPr>
              <a:t>. </a:t>
            </a:r>
          </a:p>
          <a:p>
            <a:endParaRPr lang="en-IN" sz="1600" dirty="0"/>
          </a:p>
          <a:p>
            <a:endParaRPr lang="en-IN" sz="1600" dirty="0"/>
          </a:p>
        </p:txBody>
      </p:sp>
    </p:spTree>
    <p:extLst>
      <p:ext uri="{BB962C8B-B14F-4D97-AF65-F5344CB8AC3E}">
        <p14:creationId xmlns:p14="http://schemas.microsoft.com/office/powerpoint/2010/main" val="9366825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94F2-74FD-56D0-E2FD-D6B16756A8F9}"/>
              </a:ext>
            </a:extLst>
          </p:cNvPr>
          <p:cNvSpPr>
            <a:spLocks noGrp="1"/>
          </p:cNvSpPr>
          <p:nvPr>
            <p:ph type="title"/>
          </p:nvPr>
        </p:nvSpPr>
        <p:spPr>
          <a:xfrm>
            <a:off x="1797666" y="1696721"/>
            <a:ext cx="8596668" cy="757084"/>
          </a:xfrm>
        </p:spPr>
        <p:txBody>
          <a:bodyPr>
            <a:noAutofit/>
          </a:bodyPr>
          <a:lstStyle/>
          <a:p>
            <a:r>
              <a:rPr lang="en-IN" b="1" dirty="0">
                <a:solidFill>
                  <a:schemeClr val="tx1"/>
                </a:solidFill>
              </a:rPr>
              <a:t>Key aspects of </a:t>
            </a:r>
            <a:br>
              <a:rPr lang="en-IN" b="1" dirty="0">
                <a:solidFill>
                  <a:schemeClr val="tx1"/>
                </a:solidFill>
              </a:rPr>
            </a:br>
            <a:r>
              <a:rPr lang="en-IN" b="1" dirty="0">
                <a:solidFill>
                  <a:schemeClr val="tx1"/>
                </a:solidFill>
              </a:rPr>
              <a:t>Stakeholder Management</a:t>
            </a:r>
            <a:br>
              <a:rPr lang="en-IN" b="1" dirty="0">
                <a:solidFill>
                  <a:schemeClr val="tx1"/>
                </a:solidFill>
              </a:rPr>
            </a:br>
            <a:endParaRPr lang="en-IN" b="1" dirty="0">
              <a:solidFill>
                <a:schemeClr val="tx1"/>
              </a:solidFill>
            </a:endParaRPr>
          </a:p>
        </p:txBody>
      </p:sp>
      <p:sp>
        <p:nvSpPr>
          <p:cNvPr id="3" name="Content Placeholder 2">
            <a:extLst>
              <a:ext uri="{FF2B5EF4-FFF2-40B4-BE49-F238E27FC236}">
                <a16:creationId xmlns:a16="http://schemas.microsoft.com/office/drawing/2014/main" id="{DEFD3C1C-5D72-7B10-9BB8-3AC4508C76B6}"/>
              </a:ext>
            </a:extLst>
          </p:cNvPr>
          <p:cNvSpPr>
            <a:spLocks noGrp="1"/>
          </p:cNvSpPr>
          <p:nvPr>
            <p:ph idx="1"/>
          </p:nvPr>
        </p:nvSpPr>
        <p:spPr>
          <a:xfrm>
            <a:off x="1022773" y="2453805"/>
            <a:ext cx="10403621" cy="4674678"/>
          </a:xfrm>
        </p:spPr>
        <p:txBody>
          <a:bodyPr>
            <a:normAutofit/>
          </a:bodyPr>
          <a:lstStyle/>
          <a:p>
            <a:pPr lvl="0">
              <a:buFont typeface="Courier New" panose="02070309020205020404" pitchFamily="49" charset="0"/>
              <a:buChar char="o"/>
            </a:pPr>
            <a:r>
              <a:rPr lang="en-IN" sz="1600" b="1" dirty="0">
                <a:solidFill>
                  <a:schemeClr val="tx1"/>
                </a:solidFill>
              </a:rPr>
              <a:t>Identification</a:t>
            </a:r>
            <a:r>
              <a:rPr lang="en-IN" sz="1600" dirty="0">
                <a:solidFill>
                  <a:schemeClr val="tx1"/>
                </a:solidFill>
              </a:rPr>
              <a:t>: Recognizing all individuals, groups, and organizations that have a vested interest in a project, such as employees, customers, investors, regulators, and local communities.</a:t>
            </a:r>
          </a:p>
          <a:p>
            <a:pPr lvl="0">
              <a:buFont typeface="Courier New" panose="02070309020205020404" pitchFamily="49" charset="0"/>
              <a:buChar char="o"/>
            </a:pPr>
            <a:r>
              <a:rPr lang="en-IN" sz="1600" b="1" dirty="0">
                <a:solidFill>
                  <a:schemeClr val="tx1"/>
                </a:solidFill>
              </a:rPr>
              <a:t>Analysis</a:t>
            </a:r>
            <a:r>
              <a:rPr lang="en-IN" sz="1600" dirty="0">
                <a:solidFill>
                  <a:schemeClr val="tx1"/>
                </a:solidFill>
              </a:rPr>
              <a:t>: Understanding each stakeholder's needs, interests, influence, and potential impact on the project.</a:t>
            </a:r>
          </a:p>
          <a:p>
            <a:pPr lvl="0">
              <a:buFont typeface="Courier New" panose="02070309020205020404" pitchFamily="49" charset="0"/>
              <a:buChar char="o"/>
            </a:pPr>
            <a:r>
              <a:rPr lang="en-IN" sz="1600" b="1" dirty="0">
                <a:solidFill>
                  <a:schemeClr val="tx1"/>
                </a:solidFill>
              </a:rPr>
              <a:t>Prioritization</a:t>
            </a:r>
            <a:r>
              <a:rPr lang="en-IN" sz="1600" dirty="0">
                <a:solidFill>
                  <a:schemeClr val="tx1"/>
                </a:solidFill>
              </a:rPr>
              <a:t>: Ranking stakeholders based on their importance and influence to focus on those with the most significant impact.</a:t>
            </a:r>
          </a:p>
          <a:p>
            <a:pPr lvl="0">
              <a:buFont typeface="Courier New" panose="02070309020205020404" pitchFamily="49" charset="0"/>
              <a:buChar char="o"/>
            </a:pPr>
            <a:r>
              <a:rPr lang="en-IN" sz="1600" b="1" dirty="0">
                <a:solidFill>
                  <a:schemeClr val="tx1"/>
                </a:solidFill>
              </a:rPr>
              <a:t>Engagement</a:t>
            </a:r>
            <a:r>
              <a:rPr lang="en-IN" sz="1600" dirty="0">
                <a:solidFill>
                  <a:schemeClr val="tx1"/>
                </a:solidFill>
              </a:rPr>
              <a:t>: Developing and implementing strategies to interact and communicate effectively with stakeholders, which includes managing their expectations and building trust.</a:t>
            </a:r>
          </a:p>
          <a:p>
            <a:pPr lvl="0">
              <a:buFont typeface="Courier New" panose="02070309020205020404" pitchFamily="49" charset="0"/>
              <a:buChar char="o"/>
            </a:pPr>
            <a:r>
              <a:rPr lang="en-IN" sz="1600" b="1" dirty="0">
                <a:solidFill>
                  <a:schemeClr val="tx1"/>
                </a:solidFill>
              </a:rPr>
              <a:t>Communication</a:t>
            </a:r>
            <a:r>
              <a:rPr lang="en-IN" sz="1600" dirty="0">
                <a:solidFill>
                  <a:schemeClr val="tx1"/>
                </a:solidFill>
              </a:rPr>
              <a:t>: Establishing clear and organized channels for communication to keep stakeholders informed and address their concerns proactively. </a:t>
            </a:r>
          </a:p>
          <a:p>
            <a:endParaRPr lang="en-IN" sz="1600" dirty="0"/>
          </a:p>
        </p:txBody>
      </p:sp>
    </p:spTree>
    <p:extLst>
      <p:ext uri="{BB962C8B-B14F-4D97-AF65-F5344CB8AC3E}">
        <p14:creationId xmlns:p14="http://schemas.microsoft.com/office/powerpoint/2010/main" val="41823067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D9F0-53FB-0915-CCD0-87D226E4FC82}"/>
              </a:ext>
            </a:extLst>
          </p:cNvPr>
          <p:cNvSpPr>
            <a:spLocks noGrp="1"/>
          </p:cNvSpPr>
          <p:nvPr>
            <p:ph type="title"/>
          </p:nvPr>
        </p:nvSpPr>
        <p:spPr>
          <a:xfrm>
            <a:off x="1662854" y="1770135"/>
            <a:ext cx="8596668" cy="766916"/>
          </a:xfrm>
        </p:spPr>
        <p:txBody>
          <a:bodyPr>
            <a:normAutofit fontScale="90000"/>
          </a:bodyPr>
          <a:lstStyle/>
          <a:p>
            <a:r>
              <a:rPr lang="en-US" b="1" dirty="0">
                <a:solidFill>
                  <a:schemeClr val="tx1"/>
                </a:solidFill>
              </a:rPr>
              <a:t>Scenario Analysis</a:t>
            </a:r>
            <a:br>
              <a:rPr lang="en-IN" b="1" dirty="0"/>
            </a:br>
            <a:endParaRPr lang="en-IN" dirty="0"/>
          </a:p>
        </p:txBody>
      </p:sp>
      <p:sp>
        <p:nvSpPr>
          <p:cNvPr id="3" name="Content Placeholder 2">
            <a:extLst>
              <a:ext uri="{FF2B5EF4-FFF2-40B4-BE49-F238E27FC236}">
                <a16:creationId xmlns:a16="http://schemas.microsoft.com/office/drawing/2014/main" id="{4A702B25-78B5-F734-F021-5167CE2F2B3B}"/>
              </a:ext>
            </a:extLst>
          </p:cNvPr>
          <p:cNvSpPr>
            <a:spLocks noGrp="1"/>
          </p:cNvSpPr>
          <p:nvPr>
            <p:ph idx="1"/>
          </p:nvPr>
        </p:nvSpPr>
        <p:spPr>
          <a:xfrm>
            <a:off x="1012614" y="2537051"/>
            <a:ext cx="10600266" cy="5142270"/>
          </a:xfrm>
        </p:spPr>
        <p:txBody>
          <a:bodyPr>
            <a:normAutofit/>
          </a:bodyPr>
          <a:lstStyle/>
          <a:p>
            <a:pPr marL="0" indent="0">
              <a:buNone/>
            </a:pPr>
            <a:r>
              <a:rPr lang="en-US" sz="1600" b="1" dirty="0">
                <a:solidFill>
                  <a:schemeClr val="tx1"/>
                </a:solidFill>
              </a:rPr>
              <a:t>Scenario analysis</a:t>
            </a:r>
            <a:r>
              <a:rPr lang="en-US" sz="1600" dirty="0">
                <a:solidFill>
                  <a:schemeClr val="tx1"/>
                </a:solidFill>
              </a:rPr>
              <a:t> in business is the process of creating and evaluating different possible future situations (scenarios) — such as best case, worst case, and most likely case — to understand their impact on the organization and make better decisions.</a:t>
            </a:r>
          </a:p>
          <a:p>
            <a:pPr marL="0" indent="0">
              <a:buNone/>
            </a:pPr>
            <a:r>
              <a:rPr lang="en-IN" sz="1600" b="1" dirty="0">
                <a:solidFill>
                  <a:schemeClr val="tx1"/>
                </a:solidFill>
              </a:rPr>
              <a:t>Purpose of Scenario Analysis:</a:t>
            </a:r>
          </a:p>
          <a:p>
            <a:r>
              <a:rPr lang="en-IN" sz="1600" dirty="0">
                <a:solidFill>
                  <a:schemeClr val="tx1"/>
                </a:solidFill>
              </a:rPr>
              <a:t>To </a:t>
            </a:r>
            <a:r>
              <a:rPr lang="en-IN" sz="1600" b="1" dirty="0">
                <a:solidFill>
                  <a:schemeClr val="tx1"/>
                </a:solidFill>
              </a:rPr>
              <a:t>anticipate risks and opportunities</a:t>
            </a:r>
            <a:endParaRPr lang="en-IN" sz="1600" dirty="0">
              <a:solidFill>
                <a:schemeClr val="tx1"/>
              </a:solidFill>
            </a:endParaRPr>
          </a:p>
          <a:p>
            <a:r>
              <a:rPr lang="en-IN" sz="1600" dirty="0">
                <a:solidFill>
                  <a:schemeClr val="tx1"/>
                </a:solidFill>
              </a:rPr>
              <a:t>To see how changes in key factors (price, demand, cost, interest rates, etc.) will </a:t>
            </a:r>
            <a:r>
              <a:rPr lang="en-IN" sz="1600" b="1" dirty="0">
                <a:solidFill>
                  <a:schemeClr val="tx1"/>
                </a:solidFill>
              </a:rPr>
              <a:t>affect profit, cash flow, growth, etc.</a:t>
            </a:r>
            <a:endParaRPr lang="en-IN" sz="1600" dirty="0">
              <a:solidFill>
                <a:schemeClr val="tx1"/>
              </a:solidFill>
            </a:endParaRPr>
          </a:p>
          <a:p>
            <a:r>
              <a:rPr lang="en-IN" sz="1600" dirty="0">
                <a:solidFill>
                  <a:schemeClr val="tx1"/>
                </a:solidFill>
              </a:rPr>
              <a:t>To support </a:t>
            </a:r>
            <a:r>
              <a:rPr lang="en-IN" sz="1600" b="1" dirty="0">
                <a:solidFill>
                  <a:schemeClr val="tx1"/>
                </a:solidFill>
              </a:rPr>
              <a:t>strategic planning</a:t>
            </a:r>
            <a:r>
              <a:rPr lang="en-IN" sz="1600" dirty="0">
                <a:solidFill>
                  <a:schemeClr val="tx1"/>
                </a:solidFill>
              </a:rPr>
              <a:t> and </a:t>
            </a:r>
            <a:r>
              <a:rPr lang="en-IN" sz="1600" b="1" dirty="0">
                <a:solidFill>
                  <a:schemeClr val="tx1"/>
                </a:solidFill>
              </a:rPr>
              <a:t>decision-making</a:t>
            </a:r>
            <a:endParaRPr lang="en-IN" sz="1600" dirty="0">
              <a:solidFill>
                <a:schemeClr val="tx1"/>
              </a:solidFill>
            </a:endParaRPr>
          </a:p>
          <a:p>
            <a:r>
              <a:rPr lang="en-IN" sz="1600" dirty="0">
                <a:solidFill>
                  <a:schemeClr val="tx1"/>
                </a:solidFill>
              </a:rPr>
              <a:t>To avoid being shocked by sudden changes in the market or environment</a:t>
            </a:r>
          </a:p>
          <a:p>
            <a:pPr marL="0" indent="0">
              <a:buNone/>
            </a:pPr>
            <a:endParaRPr lang="en-IN" sz="1600" dirty="0"/>
          </a:p>
        </p:txBody>
      </p:sp>
    </p:spTree>
    <p:extLst>
      <p:ext uri="{BB962C8B-B14F-4D97-AF65-F5344CB8AC3E}">
        <p14:creationId xmlns:p14="http://schemas.microsoft.com/office/powerpoint/2010/main" val="11602677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2D5A8D-62B1-7031-20B6-8C644C2B3B47}"/>
              </a:ext>
            </a:extLst>
          </p:cNvPr>
          <p:cNvSpPr txBox="1"/>
          <p:nvPr/>
        </p:nvSpPr>
        <p:spPr>
          <a:xfrm>
            <a:off x="955040" y="1371600"/>
            <a:ext cx="10434320" cy="5016758"/>
          </a:xfrm>
          <a:prstGeom prst="rect">
            <a:avLst/>
          </a:prstGeom>
          <a:noFill/>
        </p:spPr>
        <p:txBody>
          <a:bodyPr wrap="square" rtlCol="0">
            <a:spAutoFit/>
          </a:bodyPr>
          <a:lstStyle/>
          <a:p>
            <a:r>
              <a:rPr lang="en-IN" sz="2000" b="1" dirty="0"/>
              <a:t>Examples:</a:t>
            </a:r>
          </a:p>
          <a:p>
            <a:r>
              <a:rPr lang="en-US" sz="2000" b="1" dirty="0"/>
              <a:t>1. Sales Revenue Scenario</a:t>
            </a:r>
          </a:p>
          <a:p>
            <a:r>
              <a:rPr lang="en-US" sz="2000" b="1" dirty="0"/>
              <a:t>Business Question:</a:t>
            </a:r>
            <a:br>
              <a:rPr lang="en-US" sz="2000" b="1" dirty="0"/>
            </a:br>
            <a:r>
              <a:rPr lang="en-US" sz="2000" dirty="0"/>
              <a:t>“What happens to our profit if sales go up or down?”</a:t>
            </a:r>
          </a:p>
          <a:p>
            <a:r>
              <a:rPr lang="en-US" sz="2000" b="1" dirty="0"/>
              <a:t>Scenarios:</a:t>
            </a:r>
          </a:p>
          <a:p>
            <a:pPr>
              <a:buClr>
                <a:schemeClr val="tx1"/>
              </a:buClr>
              <a:buFont typeface="Wingdings" panose="05000000000000000000" pitchFamily="2" charset="2"/>
              <a:buChar char="§"/>
            </a:pPr>
            <a:r>
              <a:rPr lang="en-US" sz="2000" dirty="0"/>
              <a:t>Best-case: Sales increase by 30%</a:t>
            </a:r>
          </a:p>
          <a:p>
            <a:pPr>
              <a:buClr>
                <a:schemeClr val="tx1"/>
              </a:buClr>
              <a:buFont typeface="Wingdings" panose="05000000000000000000" pitchFamily="2" charset="2"/>
              <a:buChar char="§"/>
            </a:pPr>
            <a:r>
              <a:rPr lang="en-US" sz="2000" dirty="0"/>
              <a:t>Most-likely: Sales increase by 10%</a:t>
            </a:r>
          </a:p>
          <a:p>
            <a:pPr>
              <a:buClr>
                <a:schemeClr val="tx1"/>
              </a:buClr>
              <a:buFont typeface="Wingdings" panose="05000000000000000000" pitchFamily="2" charset="2"/>
              <a:buChar char="§"/>
            </a:pPr>
            <a:r>
              <a:rPr lang="en-US" sz="2000" dirty="0"/>
              <a:t>Worst-case: Sales decrease by 15%</a:t>
            </a:r>
          </a:p>
          <a:p>
            <a:r>
              <a:rPr lang="en-US" sz="2000" b="1" dirty="0"/>
              <a:t>Analysis:</a:t>
            </a:r>
            <a:br>
              <a:rPr lang="en-US" sz="2000" dirty="0"/>
            </a:br>
            <a:r>
              <a:rPr lang="en-US" sz="2000" dirty="0"/>
              <a:t>The company calculates revenue and profit under each scenario and decides:</a:t>
            </a:r>
          </a:p>
          <a:p>
            <a:pPr>
              <a:buClr>
                <a:schemeClr val="tx1"/>
              </a:buClr>
              <a:buFont typeface="Wingdings" panose="05000000000000000000" pitchFamily="2" charset="2"/>
              <a:buChar char="§"/>
            </a:pPr>
            <a:r>
              <a:rPr lang="en-US" sz="2000" dirty="0"/>
              <a:t>How much stock to buy</a:t>
            </a:r>
          </a:p>
          <a:p>
            <a:pPr>
              <a:buClr>
                <a:schemeClr val="tx1"/>
              </a:buClr>
              <a:buFont typeface="Wingdings" panose="05000000000000000000" pitchFamily="2" charset="2"/>
              <a:buChar char="§"/>
            </a:pPr>
            <a:r>
              <a:rPr lang="en-US" sz="2000" dirty="0"/>
              <a:t>Whether to hire more staff</a:t>
            </a:r>
          </a:p>
          <a:p>
            <a:pPr>
              <a:buClr>
                <a:schemeClr val="tx1"/>
              </a:buClr>
              <a:buFont typeface="Wingdings" panose="05000000000000000000" pitchFamily="2" charset="2"/>
              <a:buChar char="§"/>
            </a:pPr>
            <a:r>
              <a:rPr lang="en-US" sz="2000" dirty="0"/>
              <a:t>Whether to offer discounts</a:t>
            </a:r>
          </a:p>
          <a:p>
            <a:r>
              <a:rPr lang="en-US" sz="2000" b="1" dirty="0"/>
              <a:t>Helps in sales planning and budgeting.</a:t>
            </a:r>
          </a:p>
          <a:p>
            <a:endParaRPr lang="en-IN" sz="2000" dirty="0"/>
          </a:p>
          <a:p>
            <a:endParaRPr lang="en-IN" sz="2000" dirty="0"/>
          </a:p>
        </p:txBody>
      </p:sp>
    </p:spTree>
    <p:extLst>
      <p:ext uri="{BB962C8B-B14F-4D97-AF65-F5344CB8AC3E}">
        <p14:creationId xmlns:p14="http://schemas.microsoft.com/office/powerpoint/2010/main" val="26499045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457FFB-5A13-B90F-36D1-32A60BAD157C}"/>
              </a:ext>
            </a:extLst>
          </p:cNvPr>
          <p:cNvSpPr txBox="1"/>
          <p:nvPr/>
        </p:nvSpPr>
        <p:spPr>
          <a:xfrm>
            <a:off x="904240" y="944880"/>
            <a:ext cx="10485120" cy="4524315"/>
          </a:xfrm>
          <a:prstGeom prst="rect">
            <a:avLst/>
          </a:prstGeom>
          <a:noFill/>
        </p:spPr>
        <p:txBody>
          <a:bodyPr wrap="square" rtlCol="0">
            <a:spAutoFit/>
          </a:bodyPr>
          <a:lstStyle/>
          <a:p>
            <a:r>
              <a:rPr lang="en-US" b="1" dirty="0"/>
              <a:t>2. New Product Launch Scenario</a:t>
            </a:r>
          </a:p>
          <a:p>
            <a:r>
              <a:rPr lang="en-US" b="1" dirty="0"/>
              <a:t>Business Question:</a:t>
            </a:r>
            <a:br>
              <a:rPr lang="en-US" dirty="0"/>
            </a:br>
            <a:r>
              <a:rPr lang="en-US" dirty="0"/>
              <a:t>“Should we launch a new product next year?”</a:t>
            </a:r>
          </a:p>
          <a:p>
            <a:r>
              <a:rPr lang="en-US" b="1" dirty="0"/>
              <a:t>Scenarios:</a:t>
            </a:r>
            <a:endParaRPr lang="en-US" dirty="0"/>
          </a:p>
          <a:p>
            <a:pPr>
              <a:buClr>
                <a:schemeClr val="tx1"/>
              </a:buClr>
              <a:buFont typeface="Wingdings" panose="05000000000000000000" pitchFamily="2" charset="2"/>
              <a:buChar char="§"/>
            </a:pPr>
            <a:r>
              <a:rPr lang="en-US" b="1" dirty="0"/>
              <a:t>Best-case:</a:t>
            </a:r>
            <a:r>
              <a:rPr lang="en-US" dirty="0"/>
              <a:t> High customer demand, low competition → high profit</a:t>
            </a:r>
          </a:p>
          <a:p>
            <a:pPr>
              <a:buClr>
                <a:schemeClr val="tx1"/>
              </a:buClr>
              <a:buFont typeface="Wingdings" panose="05000000000000000000" pitchFamily="2" charset="2"/>
              <a:buChar char="§"/>
            </a:pPr>
            <a:r>
              <a:rPr lang="en-US" b="1" dirty="0"/>
              <a:t>Most-likely:</a:t>
            </a:r>
            <a:r>
              <a:rPr lang="en-US" dirty="0"/>
              <a:t> Moderate demand → average profit</a:t>
            </a:r>
          </a:p>
          <a:p>
            <a:pPr>
              <a:buClr>
                <a:schemeClr val="tx1"/>
              </a:buClr>
              <a:buFont typeface="Wingdings" panose="05000000000000000000" pitchFamily="2" charset="2"/>
              <a:buChar char="§"/>
            </a:pPr>
            <a:r>
              <a:rPr lang="en-US" b="1" dirty="0"/>
              <a:t>Worst-case:</a:t>
            </a:r>
            <a:r>
              <a:rPr lang="en-US" dirty="0"/>
              <a:t> Low demand, high marketing cost → loss</a:t>
            </a:r>
          </a:p>
          <a:p>
            <a:r>
              <a:rPr lang="en-US" b="1" dirty="0"/>
              <a:t>Analysis:</a:t>
            </a:r>
            <a:br>
              <a:rPr lang="en-US" dirty="0"/>
            </a:br>
            <a:r>
              <a:rPr lang="en-US" dirty="0"/>
              <a:t>The business estimates:</a:t>
            </a:r>
          </a:p>
          <a:p>
            <a:pPr>
              <a:buClr>
                <a:schemeClr val="tx1"/>
              </a:buClr>
              <a:buFont typeface="Wingdings" panose="05000000000000000000" pitchFamily="2" charset="2"/>
              <a:buChar char="§"/>
            </a:pPr>
            <a:r>
              <a:rPr lang="en-US" b="1" dirty="0"/>
              <a:t>Expected sales</a:t>
            </a:r>
          </a:p>
          <a:p>
            <a:pPr>
              <a:buClr>
                <a:schemeClr val="tx1"/>
              </a:buClr>
              <a:buFont typeface="Wingdings" panose="05000000000000000000" pitchFamily="2" charset="2"/>
              <a:buChar char="§"/>
            </a:pPr>
            <a:r>
              <a:rPr lang="en-US" b="1" dirty="0"/>
              <a:t>Marketing cost</a:t>
            </a:r>
          </a:p>
          <a:p>
            <a:pPr>
              <a:buClr>
                <a:schemeClr val="tx1"/>
              </a:buClr>
              <a:buFont typeface="Wingdings" panose="05000000000000000000" pitchFamily="2" charset="2"/>
              <a:buChar char="§"/>
            </a:pPr>
            <a:r>
              <a:rPr lang="en-US" b="1" dirty="0"/>
              <a:t>Production cost</a:t>
            </a:r>
          </a:p>
          <a:p>
            <a:r>
              <a:rPr lang="en-US" dirty="0"/>
              <a:t>Then decides whether to </a:t>
            </a:r>
            <a:r>
              <a:rPr lang="en-US" b="1" dirty="0"/>
              <a:t>proceed, delay, or cancel</a:t>
            </a:r>
            <a:r>
              <a:rPr lang="en-US" dirty="0"/>
              <a:t> the product launch.</a:t>
            </a:r>
          </a:p>
          <a:p>
            <a:r>
              <a:rPr lang="en-US" dirty="0"/>
              <a:t>Helps in </a:t>
            </a:r>
            <a:r>
              <a:rPr lang="en-US" b="1" dirty="0"/>
              <a:t>strategic decision-making</a:t>
            </a:r>
            <a:r>
              <a:rPr lang="en-US" dirty="0"/>
              <a:t>.</a:t>
            </a:r>
          </a:p>
          <a:p>
            <a:endParaRPr lang="en-IN" dirty="0"/>
          </a:p>
          <a:p>
            <a:endParaRPr lang="en-IN" dirty="0"/>
          </a:p>
        </p:txBody>
      </p:sp>
    </p:spTree>
    <p:extLst>
      <p:ext uri="{BB962C8B-B14F-4D97-AF65-F5344CB8AC3E}">
        <p14:creationId xmlns:p14="http://schemas.microsoft.com/office/powerpoint/2010/main" val="21956452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57CCF-98E6-6CCF-EE68-EA9004F7F091}"/>
              </a:ext>
            </a:extLst>
          </p:cNvPr>
          <p:cNvSpPr>
            <a:spLocks noGrp="1"/>
          </p:cNvSpPr>
          <p:nvPr>
            <p:ph type="title"/>
          </p:nvPr>
        </p:nvSpPr>
        <p:spPr>
          <a:xfrm>
            <a:off x="1295400" y="1419012"/>
            <a:ext cx="9601196" cy="1303867"/>
          </a:xfrm>
        </p:spPr>
        <p:txBody>
          <a:bodyPr>
            <a:noAutofit/>
          </a:bodyPr>
          <a:lstStyle/>
          <a:p>
            <a:r>
              <a:rPr lang="en-US" b="1" dirty="0">
                <a:solidFill>
                  <a:schemeClr val="tx1"/>
                </a:solidFill>
              </a:rPr>
              <a:t>Key aspects of </a:t>
            </a:r>
            <a:br>
              <a:rPr lang="en-US" b="1" dirty="0">
                <a:solidFill>
                  <a:schemeClr val="tx1"/>
                </a:solidFill>
              </a:rPr>
            </a:br>
            <a:r>
              <a:rPr lang="en-US" b="1" dirty="0">
                <a:solidFill>
                  <a:schemeClr val="tx1"/>
                </a:solidFill>
              </a:rPr>
              <a:t>Scenario Analysis</a:t>
            </a:r>
            <a:br>
              <a:rPr lang="en-US" b="1" dirty="0">
                <a:solidFill>
                  <a:schemeClr val="tx1"/>
                </a:solidFill>
              </a:rPr>
            </a:br>
            <a:endParaRPr lang="en-IN" dirty="0"/>
          </a:p>
        </p:txBody>
      </p:sp>
      <p:sp>
        <p:nvSpPr>
          <p:cNvPr id="3" name="Content Placeholder 2">
            <a:extLst>
              <a:ext uri="{FF2B5EF4-FFF2-40B4-BE49-F238E27FC236}">
                <a16:creationId xmlns:a16="http://schemas.microsoft.com/office/drawing/2014/main" id="{659D2CA3-8A64-901C-1366-7FD4A54BB176}"/>
              </a:ext>
            </a:extLst>
          </p:cNvPr>
          <p:cNvSpPr>
            <a:spLocks noGrp="1"/>
          </p:cNvSpPr>
          <p:nvPr>
            <p:ph idx="1"/>
          </p:nvPr>
        </p:nvSpPr>
        <p:spPr>
          <a:xfrm>
            <a:off x="1295401" y="2556932"/>
            <a:ext cx="9601196" cy="3318936"/>
          </a:xfrm>
        </p:spPr>
        <p:txBody>
          <a:bodyPr>
            <a:normAutofit fontScale="70000" lnSpcReduction="20000"/>
          </a:bodyPr>
          <a:lstStyle/>
          <a:p>
            <a:pPr>
              <a:buFont typeface="Courier New" panose="02070309020205020404" pitchFamily="49" charset="0"/>
              <a:buChar char="o"/>
            </a:pPr>
            <a:r>
              <a:rPr lang="en-US" b="1" dirty="0"/>
              <a:t>Evaluates multiple futures</a:t>
            </a:r>
            <a:r>
              <a:rPr lang="en-US" dirty="0"/>
              <a:t>: Instead of relying on a single forecast, scenario analysis explores a range of potential outcomes by changing key assumptions about variables like interest rates, market demand, or operating costs.</a:t>
            </a:r>
          </a:p>
          <a:p>
            <a:pPr>
              <a:buFont typeface="Courier New" panose="02070309020205020404" pitchFamily="49" charset="0"/>
              <a:buChar char="o"/>
            </a:pPr>
            <a:r>
              <a:rPr lang="en-US" b="1" dirty="0"/>
              <a:t>Identifies risks and opportunities</a:t>
            </a:r>
            <a:r>
              <a:rPr lang="en-US" dirty="0"/>
              <a:t>: It helps businesses anticipate both negative events (like a sudden increase in raw material costs) and positive ones (like a surge in market demand).</a:t>
            </a:r>
          </a:p>
          <a:p>
            <a:pPr>
              <a:buFont typeface="Courier New" panose="02070309020205020404" pitchFamily="49" charset="0"/>
              <a:buChar char="o"/>
            </a:pPr>
            <a:r>
              <a:rPr lang="en-US" b="1" dirty="0"/>
              <a:t>Supports decision-making</a:t>
            </a:r>
            <a:r>
              <a:rPr lang="en-US" dirty="0"/>
              <a:t>: By providing a clearer picture of potential outcomes, it helps leaders make more robust decisions about investments, operations, and strategy.</a:t>
            </a:r>
          </a:p>
          <a:p>
            <a:pPr>
              <a:buFont typeface="Courier New" panose="02070309020205020404" pitchFamily="49" charset="0"/>
              <a:buChar char="o"/>
            </a:pPr>
            <a:r>
              <a:rPr lang="en-US" b="1" dirty="0"/>
              <a:t>Develops contingency plans</a:t>
            </a:r>
            <a:r>
              <a:rPr lang="en-US" dirty="0"/>
              <a:t>: The analysis allows companies to create actionable plans for different scenarios, so they are better prepared to react to unexpected events.</a:t>
            </a:r>
          </a:p>
          <a:p>
            <a:pPr>
              <a:buFont typeface="Courier New" panose="02070309020205020404" pitchFamily="49" charset="0"/>
              <a:buChar char="o"/>
            </a:pPr>
            <a:r>
              <a:rPr lang="en-US" b="1" dirty="0"/>
              <a:t>Focuses on comprehensive change</a:t>
            </a:r>
            <a:r>
              <a:rPr lang="en-US" dirty="0"/>
              <a:t>: Unlike sensitivity analysis, which often changes one variable at a time, scenario analysis changes multiple variables simultaneously to create more comprehensive future scenarios. </a:t>
            </a:r>
          </a:p>
          <a:p>
            <a:pPr>
              <a:buFont typeface="Courier New" panose="02070309020205020404" pitchFamily="49" charset="0"/>
              <a:buChar char="o"/>
            </a:pPr>
            <a:endParaRPr lang="en-US" dirty="0"/>
          </a:p>
          <a:p>
            <a:endParaRPr lang="en-IN" dirty="0"/>
          </a:p>
        </p:txBody>
      </p:sp>
    </p:spTree>
    <p:extLst>
      <p:ext uri="{BB962C8B-B14F-4D97-AF65-F5344CB8AC3E}">
        <p14:creationId xmlns:p14="http://schemas.microsoft.com/office/powerpoint/2010/main" val="7680001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DD1585-00CA-CB0E-F41B-9C578E82A68F}"/>
              </a:ext>
            </a:extLst>
          </p:cNvPr>
          <p:cNvSpPr>
            <a:spLocks noGrp="1"/>
          </p:cNvSpPr>
          <p:nvPr>
            <p:ph type="title"/>
          </p:nvPr>
        </p:nvSpPr>
        <p:spPr>
          <a:xfrm>
            <a:off x="1295400" y="1788160"/>
            <a:ext cx="9601200" cy="1107439"/>
          </a:xfrm>
        </p:spPr>
        <p:txBody>
          <a:bodyPr>
            <a:noAutofit/>
          </a:bodyPr>
          <a:lstStyle/>
          <a:p>
            <a:r>
              <a:rPr lang="en-IN" b="1" dirty="0">
                <a:solidFill>
                  <a:schemeClr val="tx1"/>
                </a:solidFill>
              </a:rPr>
              <a:t>How </a:t>
            </a:r>
            <a:r>
              <a:rPr lang="en-US" b="1" dirty="0">
                <a:solidFill>
                  <a:schemeClr val="tx1"/>
                </a:solidFill>
              </a:rPr>
              <a:t>Scenario Analysis</a:t>
            </a:r>
            <a:r>
              <a:rPr lang="en-IN" b="1" dirty="0">
                <a:solidFill>
                  <a:schemeClr val="tx1"/>
                </a:solidFill>
              </a:rPr>
              <a:t> is used</a:t>
            </a:r>
            <a:br>
              <a:rPr lang="en-IN" b="1" dirty="0">
                <a:solidFill>
                  <a:schemeClr val="tx1"/>
                </a:solidFill>
              </a:rPr>
            </a:br>
            <a:endParaRPr lang="en-IN" dirty="0"/>
          </a:p>
        </p:txBody>
      </p:sp>
      <p:sp>
        <p:nvSpPr>
          <p:cNvPr id="3" name="Content Placeholder 2">
            <a:extLst>
              <a:ext uri="{FF2B5EF4-FFF2-40B4-BE49-F238E27FC236}">
                <a16:creationId xmlns:a16="http://schemas.microsoft.com/office/drawing/2014/main" id="{6E081A02-FC1B-4057-4391-18A6247A471B}"/>
              </a:ext>
            </a:extLst>
          </p:cNvPr>
          <p:cNvSpPr>
            <a:spLocks noGrp="1"/>
          </p:cNvSpPr>
          <p:nvPr>
            <p:ph idx="1"/>
          </p:nvPr>
        </p:nvSpPr>
        <p:spPr>
          <a:xfrm>
            <a:off x="1295401" y="2556932"/>
            <a:ext cx="9601196" cy="3318936"/>
          </a:xfrm>
        </p:spPr>
        <p:txBody>
          <a:bodyPr>
            <a:normAutofit/>
          </a:bodyPr>
          <a:lstStyle/>
          <a:p>
            <a:pPr>
              <a:buFont typeface="Courier New" panose="02070309020205020404" pitchFamily="49" charset="0"/>
              <a:buChar char="o"/>
            </a:pPr>
            <a:r>
              <a:rPr lang="en-US" sz="1600" b="1" dirty="0"/>
              <a:t>Financial planning: </a:t>
            </a:r>
            <a:r>
              <a:rPr lang="en-US" sz="1600" dirty="0"/>
              <a:t>It can be used to forecast the potential impact on cash flow and business value.</a:t>
            </a:r>
          </a:p>
          <a:p>
            <a:pPr>
              <a:buFont typeface="Courier New" panose="02070309020205020404" pitchFamily="49" charset="0"/>
              <a:buChar char="o"/>
            </a:pPr>
            <a:r>
              <a:rPr lang="en-US" sz="1600" b="1" dirty="0"/>
              <a:t>Risk management: </a:t>
            </a:r>
            <a:r>
              <a:rPr lang="en-US" sz="1600" dirty="0"/>
              <a:t>It helps identify and mitigate potential risks associated with various external factors.</a:t>
            </a:r>
          </a:p>
          <a:p>
            <a:pPr>
              <a:buFont typeface="Courier New" panose="02070309020205020404" pitchFamily="49" charset="0"/>
              <a:buChar char="o"/>
            </a:pPr>
            <a:r>
              <a:rPr lang="en-US" sz="1600" b="1" dirty="0"/>
              <a:t>Strategic initiatives: </a:t>
            </a:r>
            <a:r>
              <a:rPr lang="en-US" sz="1600" dirty="0"/>
              <a:t>It provides a framework for developing long-term strategies and evaluating potential courses of action.</a:t>
            </a:r>
          </a:p>
          <a:p>
            <a:pPr>
              <a:buFont typeface="Courier New" panose="02070309020205020404" pitchFamily="49" charset="0"/>
              <a:buChar char="o"/>
            </a:pPr>
            <a:r>
              <a:rPr lang="en-US" sz="1600" b="1" dirty="0"/>
              <a:t>Investment decisions: </a:t>
            </a:r>
            <a:r>
              <a:rPr lang="en-US" sz="1600" dirty="0"/>
              <a:t>It can be used to evaluate the potential returns and risks of major investments. </a:t>
            </a:r>
          </a:p>
          <a:p>
            <a:pPr>
              <a:buFont typeface="Courier New" panose="02070309020205020404" pitchFamily="49" charset="0"/>
              <a:buChar char="o"/>
            </a:pPr>
            <a:endParaRPr lang="en-IN" sz="1600" dirty="0"/>
          </a:p>
        </p:txBody>
      </p:sp>
    </p:spTree>
    <p:extLst>
      <p:ext uri="{BB962C8B-B14F-4D97-AF65-F5344CB8AC3E}">
        <p14:creationId xmlns:p14="http://schemas.microsoft.com/office/powerpoint/2010/main" val="21701452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26A852-CA3A-2A4A-725D-DA21286ADC67}"/>
              </a:ext>
            </a:extLst>
          </p:cNvPr>
          <p:cNvSpPr>
            <a:spLocks noGrp="1"/>
          </p:cNvSpPr>
          <p:nvPr>
            <p:ph type="title"/>
          </p:nvPr>
        </p:nvSpPr>
        <p:spPr>
          <a:xfrm>
            <a:off x="1295404" y="1693332"/>
            <a:ext cx="9601196" cy="1303867"/>
          </a:xfrm>
        </p:spPr>
        <p:txBody>
          <a:bodyPr>
            <a:noAutofit/>
          </a:bodyPr>
          <a:lstStyle/>
          <a:p>
            <a:r>
              <a:rPr lang="en-IN" b="1" dirty="0">
                <a:solidFill>
                  <a:schemeClr val="tx1"/>
                </a:solidFill>
              </a:rPr>
              <a:t> Data Governance</a:t>
            </a:r>
            <a:br>
              <a:rPr lang="en-IN" b="1" dirty="0">
                <a:solidFill>
                  <a:schemeClr val="tx1"/>
                </a:solidFill>
              </a:rPr>
            </a:br>
            <a:endParaRPr lang="en-IN" dirty="0"/>
          </a:p>
        </p:txBody>
      </p:sp>
      <p:sp>
        <p:nvSpPr>
          <p:cNvPr id="3" name="Content Placeholder 2">
            <a:extLst>
              <a:ext uri="{FF2B5EF4-FFF2-40B4-BE49-F238E27FC236}">
                <a16:creationId xmlns:a16="http://schemas.microsoft.com/office/drawing/2014/main" id="{071CABD1-90EC-A757-6427-01B168ED3B6A}"/>
              </a:ext>
            </a:extLst>
          </p:cNvPr>
          <p:cNvSpPr>
            <a:spLocks noGrp="1"/>
          </p:cNvSpPr>
          <p:nvPr>
            <p:ph idx="1"/>
          </p:nvPr>
        </p:nvSpPr>
        <p:spPr>
          <a:xfrm>
            <a:off x="1295401" y="2556932"/>
            <a:ext cx="9601196" cy="3318936"/>
          </a:xfrm>
        </p:spPr>
        <p:txBody>
          <a:bodyPr>
            <a:normAutofit/>
          </a:bodyPr>
          <a:lstStyle/>
          <a:p>
            <a:pPr>
              <a:buFont typeface="Wingdings" panose="05000000000000000000" pitchFamily="2" charset="2"/>
              <a:buChar char="q"/>
            </a:pPr>
            <a:r>
              <a:rPr lang="en-IN" sz="1600" b="1" u="sng" dirty="0"/>
              <a:t>Definition:-</a:t>
            </a:r>
          </a:p>
          <a:p>
            <a:pPr marL="0" indent="0">
              <a:buNone/>
            </a:pPr>
            <a:r>
              <a:rPr lang="en-US" sz="1600" dirty="0"/>
              <a:t>Data governance is the set of policies, rules, roles, and processes that an organization uses to ensure its data is correct, secure, consistent, and used responsibly.</a:t>
            </a:r>
          </a:p>
          <a:p>
            <a:pPr>
              <a:buFont typeface="Wingdings" panose="05000000000000000000" pitchFamily="2" charset="2"/>
              <a:buChar char="Ø"/>
            </a:pPr>
            <a:r>
              <a:rPr lang="en-US" sz="1600" b="1" u="sng" dirty="0"/>
              <a:t>Main Goals of Data Governance:-</a:t>
            </a:r>
          </a:p>
          <a:p>
            <a:pPr>
              <a:buFont typeface="Courier New" panose="02070309020205020404" pitchFamily="49" charset="0"/>
              <a:buChar char="o"/>
            </a:pPr>
            <a:r>
              <a:rPr lang="en-IN" sz="1600" dirty="0"/>
              <a:t>Ensure data is accurate and consistent</a:t>
            </a:r>
          </a:p>
          <a:p>
            <a:pPr>
              <a:buFont typeface="Courier New" panose="02070309020205020404" pitchFamily="49" charset="0"/>
              <a:buChar char="o"/>
            </a:pPr>
            <a:r>
              <a:rPr lang="en-IN" sz="1600" dirty="0"/>
              <a:t>Protect data from unauthorized access or misuse</a:t>
            </a:r>
          </a:p>
          <a:p>
            <a:pPr>
              <a:buFont typeface="Courier New" panose="02070309020205020404" pitchFamily="49" charset="0"/>
              <a:buChar char="o"/>
            </a:pPr>
            <a:r>
              <a:rPr lang="en-IN" sz="1600" dirty="0"/>
              <a:t>Define who owns the data and who can do what (view, edit, delete)</a:t>
            </a:r>
          </a:p>
          <a:p>
            <a:pPr>
              <a:buFont typeface="Courier New" panose="02070309020205020404" pitchFamily="49" charset="0"/>
              <a:buChar char="o"/>
            </a:pPr>
            <a:r>
              <a:rPr lang="en-IN" sz="1600" dirty="0"/>
              <a:t>Comply with laws and regulations (like privacy rules)</a:t>
            </a:r>
          </a:p>
          <a:p>
            <a:pPr>
              <a:buFont typeface="Courier New" panose="02070309020205020404" pitchFamily="49" charset="0"/>
              <a:buChar char="o"/>
            </a:pPr>
            <a:r>
              <a:rPr lang="en-IN" sz="1600" dirty="0"/>
              <a:t>Make data trustworthy for reporting and decision-making</a:t>
            </a:r>
          </a:p>
          <a:p>
            <a:endParaRPr lang="en-IN" sz="1600" dirty="0"/>
          </a:p>
        </p:txBody>
      </p:sp>
    </p:spTree>
    <p:extLst>
      <p:ext uri="{BB962C8B-B14F-4D97-AF65-F5344CB8AC3E}">
        <p14:creationId xmlns:p14="http://schemas.microsoft.com/office/powerpoint/2010/main" val="29007531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EED-6DB8-4854-33CD-B14B30452B42}"/>
              </a:ext>
            </a:extLst>
          </p:cNvPr>
          <p:cNvSpPr>
            <a:spLocks noGrp="1"/>
          </p:cNvSpPr>
          <p:nvPr>
            <p:ph type="title"/>
          </p:nvPr>
        </p:nvSpPr>
        <p:spPr>
          <a:xfrm>
            <a:off x="1797666" y="1717040"/>
            <a:ext cx="8596668" cy="639097"/>
          </a:xfrm>
        </p:spPr>
        <p:txBody>
          <a:bodyPr>
            <a:noAutofit/>
          </a:bodyPr>
          <a:lstStyle/>
          <a:p>
            <a:r>
              <a:rPr lang="en-IN" b="1" dirty="0">
                <a:solidFill>
                  <a:schemeClr val="tx1"/>
                </a:solidFill>
              </a:rPr>
              <a:t>Key Elements</a:t>
            </a:r>
          </a:p>
        </p:txBody>
      </p:sp>
      <p:sp>
        <p:nvSpPr>
          <p:cNvPr id="3" name="Content Placeholder 2">
            <a:extLst>
              <a:ext uri="{FF2B5EF4-FFF2-40B4-BE49-F238E27FC236}">
                <a16:creationId xmlns:a16="http://schemas.microsoft.com/office/drawing/2014/main" id="{95B775D2-C762-AFAC-30A6-C8BB892A3597}"/>
              </a:ext>
            </a:extLst>
          </p:cNvPr>
          <p:cNvSpPr>
            <a:spLocks noGrp="1"/>
          </p:cNvSpPr>
          <p:nvPr>
            <p:ph idx="1"/>
          </p:nvPr>
        </p:nvSpPr>
        <p:spPr>
          <a:xfrm>
            <a:off x="1341120" y="2560320"/>
            <a:ext cx="9867654" cy="3688079"/>
          </a:xfrm>
        </p:spPr>
        <p:txBody>
          <a:bodyPr>
            <a:normAutofit/>
          </a:bodyPr>
          <a:lstStyle/>
          <a:p>
            <a:pPr lvl="0">
              <a:buFont typeface="Courier New" panose="02070309020205020404" pitchFamily="49" charset="0"/>
              <a:buChar char="o"/>
            </a:pPr>
            <a:r>
              <a:rPr lang="en-IN" sz="1600" b="1" dirty="0">
                <a:solidFill>
                  <a:schemeClr val="tx1"/>
                </a:solidFill>
              </a:rPr>
              <a:t>Defines rules and responsibilities:</a:t>
            </a:r>
            <a:r>
              <a:rPr lang="en-IN" sz="1600" dirty="0">
                <a:solidFill>
                  <a:schemeClr val="tx1"/>
                </a:solidFill>
              </a:rPr>
              <a:t> It establishes who can do what with data, providing a common playbook for handling data responsibly.</a:t>
            </a:r>
          </a:p>
          <a:p>
            <a:pPr lvl="0">
              <a:buFont typeface="Courier New" panose="02070309020205020404" pitchFamily="49" charset="0"/>
              <a:buChar char="o"/>
            </a:pPr>
            <a:r>
              <a:rPr lang="en-IN" sz="1600" b="1" dirty="0">
                <a:solidFill>
                  <a:schemeClr val="tx1"/>
                </a:solidFill>
              </a:rPr>
              <a:t>Ensures data quality and integrity:</a:t>
            </a:r>
            <a:r>
              <a:rPr lang="en-IN" sz="1600" dirty="0">
                <a:solidFill>
                  <a:schemeClr val="tx1"/>
                </a:solidFill>
              </a:rPr>
              <a:t> It helps prevent errors, inconsistencies, and duplication by setting standards for data throughout its lifecycle, from creation to disposal.</a:t>
            </a:r>
          </a:p>
          <a:p>
            <a:pPr lvl="0">
              <a:buFont typeface="Courier New" panose="02070309020205020404" pitchFamily="49" charset="0"/>
              <a:buChar char="o"/>
            </a:pPr>
            <a:r>
              <a:rPr lang="en-IN" sz="1600" b="1" dirty="0">
                <a:solidFill>
                  <a:schemeClr val="tx1"/>
                </a:solidFill>
              </a:rPr>
              <a:t>Improves security and privacy:</a:t>
            </a:r>
            <a:r>
              <a:rPr lang="en-IN" sz="1600" dirty="0">
                <a:solidFill>
                  <a:schemeClr val="tx1"/>
                </a:solidFill>
              </a:rPr>
              <a:t> It includes policies to protect sensitive data, control access, and maintain compliance with regulations like GDPR and HIPAA.</a:t>
            </a:r>
          </a:p>
          <a:p>
            <a:pPr lvl="0">
              <a:buFont typeface="Courier New" panose="02070309020205020404" pitchFamily="49" charset="0"/>
              <a:buChar char="o"/>
            </a:pPr>
            <a:r>
              <a:rPr lang="en-IN" sz="1600" b="1" dirty="0">
                <a:solidFill>
                  <a:schemeClr val="tx1"/>
                </a:solidFill>
              </a:rPr>
              <a:t>Enhances usability and accessibility:</a:t>
            </a:r>
            <a:r>
              <a:rPr lang="en-IN" sz="1600" dirty="0">
                <a:solidFill>
                  <a:schemeClr val="tx1"/>
                </a:solidFill>
              </a:rPr>
              <a:t> By ensuring data is trustworthy, governance makes it easier for people to find and use the data they need for business intelligence and other initiatives.</a:t>
            </a:r>
          </a:p>
          <a:p>
            <a:pPr lvl="0">
              <a:buFont typeface="Courier New" panose="02070309020205020404" pitchFamily="49" charset="0"/>
              <a:buChar char="o"/>
            </a:pPr>
            <a:r>
              <a:rPr lang="en-IN" sz="1600" b="1" dirty="0">
                <a:solidFill>
                  <a:schemeClr val="tx1"/>
                </a:solidFill>
              </a:rPr>
              <a:t>Supports better decision-making:</a:t>
            </a:r>
            <a:r>
              <a:rPr lang="en-IN" sz="1600" dirty="0">
                <a:solidFill>
                  <a:schemeClr val="tx1"/>
                </a:solidFill>
              </a:rPr>
              <a:t> With a consistent, high-quality data foundation, organizations can make more confident and informed decisions. </a:t>
            </a:r>
          </a:p>
          <a:p>
            <a:pPr>
              <a:buFont typeface="Courier New" panose="02070309020205020404" pitchFamily="49" charset="0"/>
              <a:buChar char="o"/>
            </a:pPr>
            <a:endParaRPr lang="en-IN" sz="1600" dirty="0"/>
          </a:p>
        </p:txBody>
      </p:sp>
    </p:spTree>
    <p:extLst>
      <p:ext uri="{BB962C8B-B14F-4D97-AF65-F5344CB8AC3E}">
        <p14:creationId xmlns:p14="http://schemas.microsoft.com/office/powerpoint/2010/main" val="8837504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E4C3-CE73-5FF5-6742-6B49928C9AEC}"/>
              </a:ext>
            </a:extLst>
          </p:cNvPr>
          <p:cNvSpPr>
            <a:spLocks noGrp="1"/>
          </p:cNvSpPr>
          <p:nvPr>
            <p:ph type="title"/>
          </p:nvPr>
        </p:nvSpPr>
        <p:spPr>
          <a:xfrm>
            <a:off x="1434964" y="1371600"/>
            <a:ext cx="9322072" cy="1239520"/>
          </a:xfrm>
        </p:spPr>
        <p:txBody>
          <a:bodyPr>
            <a:noAutofit/>
          </a:bodyPr>
          <a:lstStyle/>
          <a:p>
            <a:r>
              <a:rPr lang="en-US" b="1" dirty="0">
                <a:solidFill>
                  <a:schemeClr val="tx1"/>
                </a:solidFill>
              </a:rPr>
              <a:t>Benefits of Data Governance</a:t>
            </a:r>
            <a:endParaRPr lang="en-IN" b="1" dirty="0">
              <a:solidFill>
                <a:schemeClr val="tx1"/>
              </a:solidFill>
            </a:endParaRPr>
          </a:p>
        </p:txBody>
      </p:sp>
      <p:sp>
        <p:nvSpPr>
          <p:cNvPr id="3" name="Content Placeholder 2">
            <a:extLst>
              <a:ext uri="{FF2B5EF4-FFF2-40B4-BE49-F238E27FC236}">
                <a16:creationId xmlns:a16="http://schemas.microsoft.com/office/drawing/2014/main" id="{2134C595-74E2-4430-28B3-96A3CF7DAF0F}"/>
              </a:ext>
            </a:extLst>
          </p:cNvPr>
          <p:cNvSpPr>
            <a:spLocks noGrp="1"/>
          </p:cNvSpPr>
          <p:nvPr>
            <p:ph idx="1"/>
          </p:nvPr>
        </p:nvSpPr>
        <p:spPr>
          <a:xfrm>
            <a:off x="1320800" y="2367279"/>
            <a:ext cx="9940084" cy="3677921"/>
          </a:xfrm>
        </p:spPr>
        <p:txBody>
          <a:bodyPr>
            <a:noAutofit/>
          </a:bodyPr>
          <a:lstStyle/>
          <a:p>
            <a:pPr>
              <a:buFont typeface="Wingdings" panose="05000000000000000000" pitchFamily="2" charset="2"/>
              <a:buChar char="Ø"/>
            </a:pPr>
            <a:r>
              <a:rPr lang="en-US" sz="1300" b="1" u="sng" dirty="0">
                <a:solidFill>
                  <a:schemeClr val="tx1"/>
                </a:solidFill>
              </a:rPr>
              <a:t>Improved Data Quality:</a:t>
            </a:r>
          </a:p>
          <a:p>
            <a:pPr>
              <a:buFont typeface="Courier New" panose="02070309020205020404" pitchFamily="49" charset="0"/>
              <a:buChar char="o"/>
            </a:pPr>
            <a:r>
              <a:rPr lang="en-US" sz="1300" dirty="0">
                <a:solidFill>
                  <a:schemeClr val="tx1"/>
                </a:solidFill>
              </a:rPr>
              <a:t>Ensures data is accurate, complete, and consistent.</a:t>
            </a:r>
          </a:p>
          <a:p>
            <a:pPr>
              <a:buFont typeface="Courier New" panose="02070309020205020404" pitchFamily="49" charset="0"/>
              <a:buChar char="o"/>
            </a:pPr>
            <a:r>
              <a:rPr lang="en-US" sz="1300" dirty="0">
                <a:solidFill>
                  <a:schemeClr val="tx1"/>
                </a:solidFill>
              </a:rPr>
              <a:t>Reduces errors, duplicates, and outdated information.</a:t>
            </a:r>
          </a:p>
          <a:p>
            <a:pPr>
              <a:buFont typeface="Courier New" panose="02070309020205020404" pitchFamily="49" charset="0"/>
              <a:buChar char="o"/>
            </a:pPr>
            <a:r>
              <a:rPr lang="en-US" sz="1300" dirty="0">
                <a:solidFill>
                  <a:schemeClr val="tx1"/>
                </a:solidFill>
              </a:rPr>
              <a:t>Leads to more reliable reports and analysis.</a:t>
            </a:r>
          </a:p>
          <a:p>
            <a:pPr>
              <a:buFont typeface="Wingdings" panose="05000000000000000000" pitchFamily="2" charset="2"/>
              <a:buChar char="Ø"/>
            </a:pPr>
            <a:r>
              <a:rPr lang="en-US" sz="1300" b="1" u="sng" dirty="0">
                <a:solidFill>
                  <a:schemeClr val="tx1"/>
                </a:solidFill>
              </a:rPr>
              <a:t>Better Decision-Making:</a:t>
            </a:r>
          </a:p>
          <a:p>
            <a:pPr>
              <a:buFont typeface="Courier New" panose="02070309020205020404" pitchFamily="49" charset="0"/>
              <a:buChar char="o"/>
            </a:pPr>
            <a:r>
              <a:rPr lang="en-US" sz="1300" dirty="0">
                <a:solidFill>
                  <a:schemeClr val="tx1"/>
                </a:solidFill>
              </a:rPr>
              <a:t>When data is clean and well-managed, managers can trust the data.</a:t>
            </a:r>
          </a:p>
          <a:p>
            <a:pPr>
              <a:buFont typeface="Courier New" panose="02070309020205020404" pitchFamily="49" charset="0"/>
              <a:buChar char="o"/>
            </a:pPr>
            <a:r>
              <a:rPr lang="en-US" sz="1300" dirty="0">
                <a:solidFill>
                  <a:schemeClr val="tx1"/>
                </a:solidFill>
              </a:rPr>
              <a:t>Decisions based on such data are more accurate and effective.</a:t>
            </a:r>
          </a:p>
          <a:p>
            <a:pPr>
              <a:buFont typeface="Courier New" panose="02070309020205020404" pitchFamily="49" charset="0"/>
              <a:buChar char="o"/>
            </a:pPr>
            <a:r>
              <a:rPr lang="en-US" sz="1300" dirty="0">
                <a:solidFill>
                  <a:schemeClr val="tx1"/>
                </a:solidFill>
              </a:rPr>
              <a:t>Supports data-driven decision-making.</a:t>
            </a:r>
          </a:p>
          <a:p>
            <a:pPr>
              <a:buFont typeface="Wingdings" panose="05000000000000000000" pitchFamily="2" charset="2"/>
              <a:buChar char="Ø"/>
            </a:pPr>
            <a:r>
              <a:rPr lang="en-US" sz="1300" b="1" u="sng" dirty="0">
                <a:solidFill>
                  <a:schemeClr val="tx1"/>
                </a:solidFill>
              </a:rPr>
              <a:t>Enhanced Data Security &amp; Privacy:</a:t>
            </a:r>
          </a:p>
          <a:p>
            <a:pPr>
              <a:buFont typeface="Courier New" panose="02070309020205020404" pitchFamily="49" charset="0"/>
              <a:buChar char="o"/>
            </a:pPr>
            <a:r>
              <a:rPr lang="en-US" sz="1300" dirty="0">
                <a:solidFill>
                  <a:schemeClr val="tx1"/>
                </a:solidFill>
              </a:rPr>
              <a:t>Defines who can access, edit, or delete data.</a:t>
            </a:r>
          </a:p>
          <a:p>
            <a:pPr>
              <a:buFont typeface="Courier New" panose="02070309020205020404" pitchFamily="49" charset="0"/>
              <a:buChar char="o"/>
            </a:pPr>
            <a:r>
              <a:rPr lang="en-US" sz="1300" dirty="0">
                <a:solidFill>
                  <a:schemeClr val="tx1"/>
                </a:solidFill>
              </a:rPr>
              <a:t>Protects sensitive data (like customer or employee information).</a:t>
            </a:r>
          </a:p>
          <a:p>
            <a:pPr>
              <a:buFont typeface="Courier New" panose="02070309020205020404" pitchFamily="49" charset="0"/>
              <a:buChar char="o"/>
            </a:pPr>
            <a:r>
              <a:rPr lang="en-US" sz="1300" dirty="0">
                <a:solidFill>
                  <a:schemeClr val="tx1"/>
                </a:solidFill>
              </a:rPr>
              <a:t>Helps prevent data leaks, misuse, and unauthorized access.</a:t>
            </a:r>
          </a:p>
          <a:p>
            <a:endParaRPr lang="en-IN" sz="1300" dirty="0"/>
          </a:p>
        </p:txBody>
      </p:sp>
    </p:spTree>
    <p:extLst>
      <p:ext uri="{BB962C8B-B14F-4D97-AF65-F5344CB8AC3E}">
        <p14:creationId xmlns:p14="http://schemas.microsoft.com/office/powerpoint/2010/main" val="8421541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E17D2B-E055-E732-463F-20AFD245069E}"/>
              </a:ext>
            </a:extLst>
          </p:cNvPr>
          <p:cNvSpPr>
            <a:spLocks noGrp="1"/>
          </p:cNvSpPr>
          <p:nvPr>
            <p:ph type="title"/>
          </p:nvPr>
        </p:nvSpPr>
        <p:spPr>
          <a:xfrm>
            <a:off x="1295400" y="1398692"/>
            <a:ext cx="9601196" cy="1303867"/>
          </a:xfrm>
        </p:spPr>
        <p:txBody>
          <a:bodyPr/>
          <a:lstStyle/>
          <a:p>
            <a:r>
              <a:rPr lang="en-US" b="1" dirty="0">
                <a:solidFill>
                  <a:schemeClr val="tx1"/>
                </a:solidFill>
              </a:rPr>
              <a:t>Roles and Responsibilities</a:t>
            </a:r>
            <a:endParaRPr lang="en-IN" dirty="0"/>
          </a:p>
        </p:txBody>
      </p:sp>
      <p:sp>
        <p:nvSpPr>
          <p:cNvPr id="3" name="Content Placeholder 2">
            <a:extLst>
              <a:ext uri="{FF2B5EF4-FFF2-40B4-BE49-F238E27FC236}">
                <a16:creationId xmlns:a16="http://schemas.microsoft.com/office/drawing/2014/main" id="{EA29D332-819E-627D-FBA7-CC024485B737}"/>
              </a:ext>
            </a:extLst>
          </p:cNvPr>
          <p:cNvSpPr>
            <a:spLocks noGrp="1"/>
          </p:cNvSpPr>
          <p:nvPr>
            <p:ph idx="1"/>
          </p:nvPr>
        </p:nvSpPr>
        <p:spPr>
          <a:xfrm>
            <a:off x="1295401" y="2556932"/>
            <a:ext cx="9601196" cy="3318936"/>
          </a:xfrm>
        </p:spPr>
        <p:txBody>
          <a:bodyPr>
            <a:normAutofit fontScale="62500" lnSpcReduction="20000"/>
          </a:bodyPr>
          <a:lstStyle/>
          <a:p>
            <a:endParaRPr lang="en-US" dirty="0"/>
          </a:p>
          <a:p>
            <a:pPr>
              <a:buFont typeface="Wingdings" panose="05000000000000000000" pitchFamily="2" charset="2"/>
              <a:buChar char="Ø"/>
            </a:pPr>
            <a:r>
              <a:rPr lang="en-US" b="1" dirty="0"/>
              <a:t>Clear Roles and Responsibilities:-</a:t>
            </a:r>
          </a:p>
          <a:p>
            <a:pPr>
              <a:buFont typeface="Courier New" panose="02070309020205020404" pitchFamily="49" charset="0"/>
              <a:buChar char="o"/>
            </a:pPr>
            <a:r>
              <a:rPr lang="en-US" dirty="0"/>
              <a:t>Defines data owners, data stewards, and users.</a:t>
            </a:r>
          </a:p>
          <a:p>
            <a:pPr>
              <a:buFont typeface="Courier New" panose="02070309020205020404" pitchFamily="49" charset="0"/>
              <a:buChar char="o"/>
            </a:pPr>
            <a:r>
              <a:rPr lang="en-US" dirty="0"/>
              <a:t>Everyone knows who is responsible for which data.</a:t>
            </a:r>
          </a:p>
          <a:p>
            <a:pPr>
              <a:buFont typeface="Courier New" panose="02070309020205020404" pitchFamily="49" charset="0"/>
              <a:buChar char="o"/>
            </a:pPr>
            <a:r>
              <a:rPr lang="en-US" dirty="0"/>
              <a:t>Reduces confusion and improves accountability.</a:t>
            </a:r>
          </a:p>
          <a:p>
            <a:pPr marL="0" indent="0">
              <a:buNone/>
            </a:pPr>
            <a:endParaRPr lang="en-US" dirty="0"/>
          </a:p>
          <a:p>
            <a:pPr>
              <a:buFont typeface="Wingdings" panose="05000000000000000000" pitchFamily="2" charset="2"/>
              <a:buChar char="Ø"/>
            </a:pPr>
            <a:r>
              <a:rPr lang="en-US" b="1" dirty="0"/>
              <a:t>Consistent Data Across Systems:-</a:t>
            </a:r>
          </a:p>
          <a:p>
            <a:pPr>
              <a:buFont typeface="Courier New" panose="02070309020205020404" pitchFamily="49" charset="0"/>
              <a:buChar char="o"/>
            </a:pPr>
            <a:r>
              <a:rPr lang="en-US" dirty="0"/>
              <a:t>Ensures that data is standardized across different departments and systems.</a:t>
            </a:r>
          </a:p>
          <a:p>
            <a:pPr>
              <a:buFont typeface="Courier New" panose="02070309020205020404" pitchFamily="49" charset="0"/>
              <a:buChar char="o"/>
            </a:pPr>
            <a:r>
              <a:rPr lang="en-US" dirty="0"/>
              <a:t>For example, customer data is the same in CRM, ERP, and reports.</a:t>
            </a:r>
          </a:p>
          <a:p>
            <a:pPr>
              <a:buFont typeface="Courier New" panose="02070309020205020404" pitchFamily="49" charset="0"/>
              <a:buChar char="o"/>
            </a:pPr>
            <a:r>
              <a:rPr lang="en-US" dirty="0"/>
              <a:t>Avoids conflicting numbers and confusion.</a:t>
            </a:r>
          </a:p>
          <a:p>
            <a:endParaRPr lang="en-IN" dirty="0"/>
          </a:p>
        </p:txBody>
      </p:sp>
    </p:spTree>
    <p:extLst>
      <p:ext uri="{BB962C8B-B14F-4D97-AF65-F5344CB8AC3E}">
        <p14:creationId xmlns:p14="http://schemas.microsoft.com/office/powerpoint/2010/main" val="18254060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A21D47-EA96-21AD-D727-87BD3A17C0DA}"/>
              </a:ext>
            </a:extLst>
          </p:cNvPr>
          <p:cNvSpPr txBox="1"/>
          <p:nvPr/>
        </p:nvSpPr>
        <p:spPr>
          <a:xfrm>
            <a:off x="1127760" y="975360"/>
            <a:ext cx="10149840" cy="4893647"/>
          </a:xfrm>
          <a:prstGeom prst="rect">
            <a:avLst/>
          </a:prstGeom>
          <a:noFill/>
        </p:spPr>
        <p:txBody>
          <a:bodyPr wrap="square" rtlCol="0">
            <a:spAutoFit/>
          </a:bodyPr>
          <a:lstStyle/>
          <a:p>
            <a:pPr marL="342900" indent="-342900">
              <a:buClr>
                <a:schemeClr val="accent1"/>
              </a:buClr>
              <a:buFont typeface="Wingdings" panose="05000000000000000000" pitchFamily="2" charset="2"/>
              <a:buChar char="Ø"/>
            </a:pPr>
            <a:r>
              <a:rPr lang="en-US" sz="2400" b="1" u="sng" dirty="0"/>
              <a:t>Reduced Costs and Higher Efficiency:-</a:t>
            </a:r>
          </a:p>
          <a:p>
            <a:pPr marL="342900" indent="-342900">
              <a:buClr>
                <a:schemeClr val="accent1"/>
              </a:buClr>
              <a:buFont typeface="Courier New" panose="02070309020205020404" pitchFamily="49" charset="0"/>
              <a:buChar char="o"/>
            </a:pPr>
            <a:r>
              <a:rPr lang="en-US" sz="2400" dirty="0"/>
              <a:t>Less time spent on fixing data errors.</a:t>
            </a:r>
          </a:p>
          <a:p>
            <a:pPr marL="342900" indent="-342900">
              <a:buClr>
                <a:schemeClr val="accent1"/>
              </a:buClr>
              <a:buFont typeface="Courier New" panose="02070309020205020404" pitchFamily="49" charset="0"/>
              <a:buChar char="o"/>
            </a:pPr>
            <a:r>
              <a:rPr lang="en-US" sz="2400" dirty="0"/>
              <a:t>Fewer duplicate systems or unnecessary data storage.</a:t>
            </a:r>
          </a:p>
          <a:p>
            <a:pPr marL="342900" indent="-342900">
              <a:buClr>
                <a:schemeClr val="accent1"/>
              </a:buClr>
              <a:buFont typeface="Courier New" panose="02070309020205020404" pitchFamily="49" charset="0"/>
              <a:buChar char="o"/>
            </a:pPr>
            <a:r>
              <a:rPr lang="en-US" sz="2400" dirty="0"/>
              <a:t>Improves operational efficiency and reduces storage and processing costs.</a:t>
            </a:r>
            <a:br>
              <a:rPr lang="en-US" sz="2400" dirty="0"/>
            </a:br>
            <a:endParaRPr lang="en-US" sz="2400" dirty="0"/>
          </a:p>
          <a:p>
            <a:pPr marL="342900" indent="-342900">
              <a:buClr>
                <a:schemeClr val="accent1"/>
              </a:buClr>
              <a:buFont typeface="Wingdings" panose="05000000000000000000" pitchFamily="2" charset="2"/>
              <a:buChar char="Ø"/>
            </a:pPr>
            <a:r>
              <a:rPr lang="en-US" sz="2400" b="1" u="sng" dirty="0"/>
              <a:t>Better Support for Analytics and BI</a:t>
            </a:r>
          </a:p>
          <a:p>
            <a:pPr marL="342900" indent="-342900">
              <a:buClr>
                <a:schemeClr val="accent1"/>
              </a:buClr>
              <a:buFont typeface="Courier New" panose="02070309020205020404" pitchFamily="49" charset="0"/>
              <a:buChar char="o"/>
            </a:pPr>
            <a:r>
              <a:rPr lang="en-US" sz="2400" u="sng" dirty="0"/>
              <a:t>Good data governance ensures high-quality input data for:-</a:t>
            </a:r>
          </a:p>
          <a:p>
            <a:pPr marL="742950" lvl="2" indent="-342900">
              <a:buClr>
                <a:schemeClr val="accent1"/>
              </a:buClr>
              <a:buFont typeface="Wingdings" panose="05000000000000000000" pitchFamily="2" charset="2"/>
              <a:buChar char="ü"/>
            </a:pPr>
            <a:r>
              <a:rPr lang="en-US" sz="2400" dirty="0"/>
              <a:t>Business Intelligence (BI)</a:t>
            </a:r>
          </a:p>
          <a:p>
            <a:pPr marL="742950" lvl="2" indent="-342900">
              <a:buClr>
                <a:schemeClr val="accent1"/>
              </a:buClr>
              <a:buFont typeface="Wingdings" panose="05000000000000000000" pitchFamily="2" charset="2"/>
              <a:buChar char="ü"/>
            </a:pPr>
            <a:r>
              <a:rPr lang="en-US" sz="2400" dirty="0"/>
              <a:t>Dashboards</a:t>
            </a:r>
          </a:p>
          <a:p>
            <a:pPr marL="742950" lvl="2" indent="-342900">
              <a:buClr>
                <a:schemeClr val="accent1"/>
              </a:buClr>
              <a:buFont typeface="Wingdings" panose="05000000000000000000" pitchFamily="2" charset="2"/>
              <a:buChar char="ü"/>
            </a:pPr>
            <a:r>
              <a:rPr lang="en-US" sz="2400" dirty="0"/>
              <a:t>Data analytics and AI</a:t>
            </a:r>
          </a:p>
          <a:p>
            <a:pPr marL="342900" indent="-342900">
              <a:buClr>
                <a:schemeClr val="accent1"/>
              </a:buClr>
              <a:buFont typeface="Courier New" panose="02070309020205020404" pitchFamily="49" charset="0"/>
              <a:buChar char="o"/>
            </a:pPr>
            <a:r>
              <a:rPr lang="en-US" sz="2400" dirty="0"/>
              <a:t>Results are more meaningful and trustworthy.</a:t>
            </a:r>
          </a:p>
          <a:p>
            <a:endParaRPr lang="en-IN" sz="2400" dirty="0"/>
          </a:p>
          <a:p>
            <a:endParaRPr lang="en-IN" sz="2400" dirty="0"/>
          </a:p>
        </p:txBody>
      </p:sp>
    </p:spTree>
    <p:extLst>
      <p:ext uri="{BB962C8B-B14F-4D97-AF65-F5344CB8AC3E}">
        <p14:creationId xmlns:p14="http://schemas.microsoft.com/office/powerpoint/2010/main" val="19692524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8A9D-7B19-092D-2B85-011D4A9F848D}"/>
              </a:ext>
            </a:extLst>
          </p:cNvPr>
          <p:cNvSpPr>
            <a:spLocks noGrp="1"/>
          </p:cNvSpPr>
          <p:nvPr>
            <p:ph type="title"/>
          </p:nvPr>
        </p:nvSpPr>
        <p:spPr>
          <a:xfrm>
            <a:off x="1561254" y="1544320"/>
            <a:ext cx="8596668" cy="737419"/>
          </a:xfrm>
        </p:spPr>
        <p:txBody>
          <a:bodyPr>
            <a:noAutofit/>
          </a:bodyPr>
          <a:lstStyle/>
          <a:p>
            <a:r>
              <a:rPr lang="en-US" b="1" dirty="0">
                <a:solidFill>
                  <a:schemeClr val="tx1"/>
                </a:solidFill>
              </a:rPr>
              <a:t>What is the Ethical Use of Data</a:t>
            </a:r>
            <a:endParaRPr lang="en-IN" b="1" dirty="0">
              <a:solidFill>
                <a:schemeClr val="tx1"/>
              </a:solidFill>
            </a:endParaRPr>
          </a:p>
        </p:txBody>
      </p:sp>
      <p:sp>
        <p:nvSpPr>
          <p:cNvPr id="3" name="Content Placeholder 2">
            <a:extLst>
              <a:ext uri="{FF2B5EF4-FFF2-40B4-BE49-F238E27FC236}">
                <a16:creationId xmlns:a16="http://schemas.microsoft.com/office/drawing/2014/main" id="{40D18B01-1A5C-73EB-FC5E-B14964C24345}"/>
              </a:ext>
            </a:extLst>
          </p:cNvPr>
          <p:cNvSpPr>
            <a:spLocks noGrp="1"/>
          </p:cNvSpPr>
          <p:nvPr>
            <p:ph idx="1"/>
          </p:nvPr>
        </p:nvSpPr>
        <p:spPr>
          <a:xfrm>
            <a:off x="1137920" y="2359743"/>
            <a:ext cx="10342880" cy="4596020"/>
          </a:xfrm>
        </p:spPr>
        <p:txBody>
          <a:bodyPr>
            <a:normAutofit/>
          </a:bodyPr>
          <a:lstStyle/>
          <a:p>
            <a:pPr>
              <a:buFont typeface="Wingdings" panose="05000000000000000000" pitchFamily="2" charset="2"/>
              <a:buChar char="q"/>
            </a:pPr>
            <a:r>
              <a:rPr lang="en-IN" sz="1600" b="1" u="sng" dirty="0">
                <a:solidFill>
                  <a:schemeClr val="tx1"/>
                </a:solidFill>
              </a:rPr>
              <a:t>Definition:-</a:t>
            </a:r>
          </a:p>
          <a:p>
            <a:pPr marL="0" indent="0">
              <a:buNone/>
            </a:pPr>
            <a:r>
              <a:rPr lang="en-IN" sz="1600" dirty="0">
                <a:solidFill>
                  <a:schemeClr val="tx1"/>
                </a:solidFill>
              </a:rPr>
              <a:t>The ethical use of data involves following principles like consent and transparency, fairness and non-discrimination, data minimization, and accountability when collecting, using, and managing data. This means getting clear permission from individuals, being open about how their data is used, ensuring data doesn't perpetuate bias, collecting only what is necessary, and taking responsibility for any data-related issues that arise.  </a:t>
            </a:r>
          </a:p>
          <a:p>
            <a:pPr>
              <a:buFont typeface="Wingdings" panose="05000000000000000000" pitchFamily="2" charset="2"/>
              <a:buChar char="Ø"/>
            </a:pPr>
            <a:r>
              <a:rPr lang="en-US" sz="1600" b="1" u="sng" dirty="0">
                <a:solidFill>
                  <a:schemeClr val="tx1"/>
                </a:solidFill>
              </a:rPr>
              <a:t>Key principles of ethical data use:-</a:t>
            </a:r>
          </a:p>
          <a:p>
            <a:pPr lvl="0">
              <a:buFont typeface="Courier New" panose="02070309020205020404" pitchFamily="49" charset="0"/>
              <a:buChar char="o"/>
            </a:pPr>
            <a:r>
              <a:rPr lang="en-IN" sz="1600" b="1" dirty="0">
                <a:solidFill>
                  <a:schemeClr val="tx1"/>
                </a:solidFill>
              </a:rPr>
              <a:t>Consent and Transparency:- </a:t>
            </a:r>
            <a:r>
              <a:rPr lang="en-IN" sz="1600" dirty="0">
                <a:solidFill>
                  <a:schemeClr val="tx1"/>
                </a:solidFill>
              </a:rPr>
              <a:t>Obtain informed consent before collecting data and be transparent about what data you are collecting, why, and how it will be used. Individuals should understand their rights and the implications of sharing their information. </a:t>
            </a:r>
          </a:p>
          <a:p>
            <a:pPr>
              <a:buFont typeface="Courier New" panose="02070309020205020404" pitchFamily="49" charset="0"/>
              <a:buChar char="o"/>
            </a:pPr>
            <a:r>
              <a:rPr lang="en-IN" sz="1600" b="1" dirty="0">
                <a:solidFill>
                  <a:schemeClr val="tx1"/>
                </a:solidFill>
              </a:rPr>
              <a:t>Fairness and Non-Discrimination:- </a:t>
            </a:r>
            <a:r>
              <a:rPr lang="en-IN" sz="1600" dirty="0">
                <a:solidFill>
                  <a:schemeClr val="tx1"/>
                </a:solidFill>
              </a:rPr>
              <a:t>Avoid using data in ways that perpetuate bias or discrimination. This requires actively identifying and mitigating biases in data collection and analysis to ensure fair outcomes. </a:t>
            </a:r>
          </a:p>
          <a:p>
            <a:pPr marL="0" indent="0">
              <a:buNone/>
            </a:pPr>
            <a:endParaRPr lang="en-IN" sz="1600" dirty="0">
              <a:solidFill>
                <a:schemeClr val="tx1"/>
              </a:solidFill>
            </a:endParaRPr>
          </a:p>
          <a:p>
            <a:endParaRPr lang="en-IN" sz="1600" dirty="0"/>
          </a:p>
        </p:txBody>
      </p:sp>
    </p:spTree>
    <p:extLst>
      <p:ext uri="{BB962C8B-B14F-4D97-AF65-F5344CB8AC3E}">
        <p14:creationId xmlns:p14="http://schemas.microsoft.com/office/powerpoint/2010/main" val="17115117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E6445A-910E-CFB8-8ED6-BF5BBDA348EF}"/>
              </a:ext>
            </a:extLst>
          </p:cNvPr>
          <p:cNvSpPr txBox="1"/>
          <p:nvPr/>
        </p:nvSpPr>
        <p:spPr>
          <a:xfrm>
            <a:off x="965200" y="1005840"/>
            <a:ext cx="10424160" cy="4247317"/>
          </a:xfrm>
          <a:prstGeom prst="rect">
            <a:avLst/>
          </a:prstGeom>
          <a:noFill/>
        </p:spPr>
        <p:txBody>
          <a:bodyPr wrap="square" rtlCol="0">
            <a:spAutoFit/>
          </a:bodyPr>
          <a:lstStyle/>
          <a:p>
            <a:pPr marL="285750" indent="-285750">
              <a:buClr>
                <a:schemeClr val="accent1"/>
              </a:buClr>
              <a:buFont typeface="Courier New" panose="02070309020205020404" pitchFamily="49" charset="0"/>
              <a:buChar char="o"/>
            </a:pPr>
            <a:r>
              <a:rPr lang="en-IN" b="1" dirty="0"/>
              <a:t>Data Minimization:- </a:t>
            </a:r>
            <a:r>
              <a:rPr lang="en-IN" dirty="0"/>
              <a:t>Collect only the data that is necessary for a specific purpose. Avoid collecting excessive data, which not only respects individual privacy but also reduces the risk associated with handling large volumes of sensitive information. </a:t>
            </a:r>
          </a:p>
          <a:p>
            <a:pPr>
              <a:buClr>
                <a:schemeClr val="accent1"/>
              </a:buClr>
            </a:pPr>
            <a:endParaRPr lang="en-IN" b="1" dirty="0"/>
          </a:p>
          <a:p>
            <a:pPr marL="285750" lvl="0" indent="-285750">
              <a:buClr>
                <a:schemeClr val="accent1"/>
              </a:buClr>
              <a:buFont typeface="Courier New" panose="02070309020205020404" pitchFamily="49" charset="0"/>
              <a:buChar char="o"/>
            </a:pPr>
            <a:r>
              <a:rPr lang="en-IN" b="1" dirty="0"/>
              <a:t>Accountability:- </a:t>
            </a:r>
            <a:r>
              <a:rPr lang="en-IN" dirty="0"/>
              <a:t>Take responsibility for how data is handled throughout its lifecycle, including its collection, use, and disposal. This means establishing governance and having clear lines of responsibility, especially when something goes wrong, such as a data breach.</a:t>
            </a:r>
          </a:p>
          <a:p>
            <a:pPr lvl="0">
              <a:buClr>
                <a:schemeClr val="accent1"/>
              </a:buClr>
            </a:pPr>
            <a:r>
              <a:rPr lang="en-IN" dirty="0"/>
              <a:t> </a:t>
            </a:r>
          </a:p>
          <a:p>
            <a:pPr marL="285750" lvl="0" indent="-285750">
              <a:buClr>
                <a:schemeClr val="accent1"/>
              </a:buClr>
              <a:buFont typeface="Courier New" panose="02070309020205020404" pitchFamily="49" charset="0"/>
              <a:buChar char="o"/>
            </a:pPr>
            <a:r>
              <a:rPr lang="en-IN" b="1" dirty="0"/>
              <a:t>Privacy and Security:-</a:t>
            </a:r>
            <a:r>
              <a:rPr lang="en-IN" dirty="0"/>
              <a:t>  Protect personal data from unauthorized access and ensure it is stored and transmitted securely. </a:t>
            </a:r>
          </a:p>
          <a:p>
            <a:pPr lvl="0">
              <a:buClr>
                <a:schemeClr val="accent1"/>
              </a:buClr>
            </a:pPr>
            <a:endParaRPr lang="en-IN" dirty="0"/>
          </a:p>
          <a:p>
            <a:pPr marL="285750" lvl="0" indent="-285750">
              <a:buClr>
                <a:schemeClr val="accent1"/>
              </a:buClr>
              <a:buFont typeface="Courier New" panose="02070309020205020404" pitchFamily="49" charset="0"/>
              <a:buChar char="o"/>
            </a:pPr>
            <a:r>
              <a:rPr lang="en-IN" b="1" dirty="0"/>
              <a:t>Integrity and Quality:-</a:t>
            </a:r>
            <a:r>
              <a:rPr lang="en-IN" dirty="0"/>
              <a:t>  Ensure the accuracy and reliability of the data used to make decisions, as data quality is crucial for trustworthy outcomes. </a:t>
            </a:r>
          </a:p>
          <a:p>
            <a:pPr marL="285750" indent="-285750">
              <a:buClr>
                <a:schemeClr val="accent1"/>
              </a:buClr>
              <a:buFont typeface="Courier New" panose="02070309020205020404" pitchFamily="49" charset="0"/>
              <a:buChar char="o"/>
            </a:pPr>
            <a:endParaRPr lang="en-IN" dirty="0"/>
          </a:p>
          <a:p>
            <a:pPr marL="285750" indent="-285750">
              <a:buClr>
                <a:schemeClr val="accent1"/>
              </a:buClr>
              <a:buFont typeface="Courier New" panose="02070309020205020404" pitchFamily="49" charset="0"/>
              <a:buChar char="o"/>
            </a:pPr>
            <a:endParaRPr lang="en-IN" dirty="0"/>
          </a:p>
        </p:txBody>
      </p:sp>
    </p:spTree>
    <p:extLst>
      <p:ext uri="{BB962C8B-B14F-4D97-AF65-F5344CB8AC3E}">
        <p14:creationId xmlns:p14="http://schemas.microsoft.com/office/powerpoint/2010/main" val="835437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5FB5-0B20-C96D-125B-49C2679098E0}"/>
              </a:ext>
            </a:extLst>
          </p:cNvPr>
          <p:cNvSpPr>
            <a:spLocks noGrp="1"/>
          </p:cNvSpPr>
          <p:nvPr>
            <p:ph type="title"/>
          </p:nvPr>
        </p:nvSpPr>
        <p:spPr>
          <a:xfrm>
            <a:off x="658215" y="1798320"/>
            <a:ext cx="10875569" cy="658761"/>
          </a:xfrm>
        </p:spPr>
        <p:txBody>
          <a:bodyPr>
            <a:noAutofit/>
          </a:bodyPr>
          <a:lstStyle/>
          <a:p>
            <a:r>
              <a:rPr lang="en-US" b="1" dirty="0">
                <a:solidFill>
                  <a:schemeClr val="tx1"/>
                </a:solidFill>
              </a:rPr>
              <a:t>CCPA vs GDPR compliance </a:t>
            </a:r>
            <a:br>
              <a:rPr lang="en-US" b="1" dirty="0">
                <a:solidFill>
                  <a:schemeClr val="tx1"/>
                </a:solidFill>
              </a:rPr>
            </a:br>
            <a:r>
              <a:rPr lang="en-US" b="1" dirty="0">
                <a:solidFill>
                  <a:schemeClr val="tx1"/>
                </a:solidFill>
              </a:rPr>
              <a:t>Similarities &amp; Differences</a:t>
            </a:r>
            <a:br>
              <a:rPr lang="en-US" dirty="0"/>
            </a:br>
            <a:endParaRPr lang="en-IN" dirty="0"/>
          </a:p>
        </p:txBody>
      </p:sp>
      <p:sp>
        <p:nvSpPr>
          <p:cNvPr id="3" name="Content Placeholder 2">
            <a:extLst>
              <a:ext uri="{FF2B5EF4-FFF2-40B4-BE49-F238E27FC236}">
                <a16:creationId xmlns:a16="http://schemas.microsoft.com/office/drawing/2014/main" id="{D79DAACB-CD8D-5601-56E5-AFA7EC4FEA68}"/>
              </a:ext>
            </a:extLst>
          </p:cNvPr>
          <p:cNvSpPr>
            <a:spLocks noGrp="1"/>
          </p:cNvSpPr>
          <p:nvPr>
            <p:ph idx="1"/>
          </p:nvPr>
        </p:nvSpPr>
        <p:spPr>
          <a:xfrm>
            <a:off x="1236133" y="2544916"/>
            <a:ext cx="9645227" cy="4965289"/>
          </a:xfrm>
        </p:spPr>
        <p:txBody>
          <a:bodyPr>
            <a:normAutofit/>
          </a:bodyPr>
          <a:lstStyle/>
          <a:p>
            <a:pPr marL="0" indent="0">
              <a:buNone/>
            </a:pPr>
            <a:r>
              <a:rPr lang="en-US" sz="1600" dirty="0">
                <a:solidFill>
                  <a:schemeClr val="tx1"/>
                </a:solidFill>
              </a:rPr>
              <a:t>Both the General Data Protection Regulation (GDPR) and the California Consumer Privacy Act (CCPA) aim to give individuals greater control and transparency over their personal data, but they differ significantly in scope, core principles, and enforcement.</a:t>
            </a:r>
          </a:p>
          <a:p>
            <a:pPr marL="0" indent="0">
              <a:buNone/>
            </a:pPr>
            <a:r>
              <a:rPr lang="en-US" sz="1600" dirty="0">
                <a:solidFill>
                  <a:schemeClr val="tx1"/>
                </a:solidFill>
              </a:rPr>
              <a:t>Both aim to protect individuals’ personal data and give them control over how businesses use it.</a:t>
            </a:r>
          </a:p>
          <a:p>
            <a:pPr>
              <a:buFont typeface="Wingdings" panose="05000000000000000000" pitchFamily="2" charset="2"/>
              <a:buChar char="Ø"/>
            </a:pPr>
            <a:r>
              <a:rPr lang="en-US" sz="1600" b="1" u="sng" dirty="0">
                <a:solidFill>
                  <a:schemeClr val="tx1"/>
                </a:solidFill>
              </a:rPr>
              <a:t>GDPR focus:</a:t>
            </a:r>
            <a:endParaRPr lang="en-US" sz="1600" u="sng" dirty="0">
              <a:solidFill>
                <a:schemeClr val="tx1"/>
              </a:solidFill>
            </a:endParaRPr>
          </a:p>
          <a:p>
            <a:pPr marL="457200" lvl="1" indent="0">
              <a:buNone/>
            </a:pPr>
            <a:r>
              <a:rPr lang="en-US" sz="1600" dirty="0">
                <a:solidFill>
                  <a:schemeClr val="tx1"/>
                </a:solidFill>
              </a:rPr>
              <a:t>Broad data protection &amp; privacy framework</a:t>
            </a:r>
          </a:p>
          <a:p>
            <a:pPr marL="457200" lvl="1" indent="0">
              <a:buNone/>
            </a:pPr>
            <a:r>
              <a:rPr lang="en-US" sz="1600" dirty="0">
                <a:solidFill>
                  <a:schemeClr val="tx1"/>
                </a:solidFill>
              </a:rPr>
              <a:t>Strong on lawful basis, consent, and data minimization</a:t>
            </a:r>
          </a:p>
          <a:p>
            <a:pPr>
              <a:buFont typeface="Wingdings" panose="05000000000000000000" pitchFamily="2" charset="2"/>
              <a:buChar char="Ø"/>
            </a:pPr>
            <a:r>
              <a:rPr lang="en-US" sz="1600" b="1" u="sng" dirty="0">
                <a:solidFill>
                  <a:schemeClr val="tx1"/>
                </a:solidFill>
              </a:rPr>
              <a:t>CCPA focus:</a:t>
            </a:r>
            <a:endParaRPr lang="en-US" sz="1600" u="sng" dirty="0">
              <a:solidFill>
                <a:schemeClr val="tx1"/>
              </a:solidFill>
            </a:endParaRPr>
          </a:p>
          <a:p>
            <a:pPr marL="457200" lvl="1" indent="0">
              <a:buNone/>
            </a:pPr>
            <a:r>
              <a:rPr lang="en-US" sz="1600" dirty="0">
                <a:solidFill>
                  <a:schemeClr val="tx1"/>
                </a:solidFill>
              </a:rPr>
              <a:t>More about consumer rights and data transparency</a:t>
            </a:r>
          </a:p>
          <a:p>
            <a:pPr marL="457200" lvl="1" indent="0">
              <a:buNone/>
            </a:pPr>
            <a:r>
              <a:rPr lang="en-US" sz="1600" dirty="0">
                <a:solidFill>
                  <a:schemeClr val="tx1"/>
                </a:solidFill>
              </a:rPr>
              <a:t>Strong on “Do Not Sell or Share My Personal Information”</a:t>
            </a:r>
          </a:p>
          <a:p>
            <a:endParaRPr lang="en-IN" sz="1600" dirty="0"/>
          </a:p>
        </p:txBody>
      </p:sp>
    </p:spTree>
    <p:extLst>
      <p:ext uri="{BB962C8B-B14F-4D97-AF65-F5344CB8AC3E}">
        <p14:creationId xmlns:p14="http://schemas.microsoft.com/office/powerpoint/2010/main" val="6801541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A8C761-4385-DAE4-AE9C-F9C6BC3B4983}"/>
              </a:ext>
            </a:extLst>
          </p:cNvPr>
          <p:cNvSpPr>
            <a:spLocks noGrp="1"/>
          </p:cNvSpPr>
          <p:nvPr>
            <p:ph type="title"/>
          </p:nvPr>
        </p:nvSpPr>
        <p:spPr>
          <a:xfrm>
            <a:off x="1295398" y="2130744"/>
            <a:ext cx="9601196" cy="426719"/>
          </a:xfrm>
        </p:spPr>
        <p:txBody>
          <a:bodyPr>
            <a:noAutofit/>
          </a:bodyPr>
          <a:lstStyle/>
          <a:p>
            <a:r>
              <a:rPr lang="en-IN" b="1" dirty="0"/>
              <a:t>Key Similarities: </a:t>
            </a:r>
            <a:br>
              <a:rPr lang="en-IN" b="1" dirty="0"/>
            </a:br>
            <a:endParaRPr lang="en-IN" b="1" dirty="0"/>
          </a:p>
        </p:txBody>
      </p:sp>
      <p:sp>
        <p:nvSpPr>
          <p:cNvPr id="3" name="Content Placeholder 2">
            <a:extLst>
              <a:ext uri="{FF2B5EF4-FFF2-40B4-BE49-F238E27FC236}">
                <a16:creationId xmlns:a16="http://schemas.microsoft.com/office/drawing/2014/main" id="{9E44795A-7A28-262F-393D-07E40977FC21}"/>
              </a:ext>
            </a:extLst>
          </p:cNvPr>
          <p:cNvSpPr>
            <a:spLocks noGrp="1"/>
          </p:cNvSpPr>
          <p:nvPr>
            <p:ph idx="1"/>
          </p:nvPr>
        </p:nvSpPr>
        <p:spPr>
          <a:xfrm>
            <a:off x="1295401" y="2556932"/>
            <a:ext cx="9601196" cy="3318936"/>
          </a:xfrm>
        </p:spPr>
        <p:txBody>
          <a:bodyPr>
            <a:normAutofit fontScale="70000" lnSpcReduction="20000"/>
          </a:bodyPr>
          <a:lstStyle/>
          <a:p>
            <a:pPr>
              <a:buFont typeface="Courier New" panose="02070309020205020404" pitchFamily="49" charset="0"/>
              <a:buChar char="o"/>
            </a:pPr>
            <a:r>
              <a:rPr lang="en-US" sz="2300" b="1" dirty="0"/>
              <a:t>Goal: </a:t>
            </a:r>
            <a:r>
              <a:rPr lang="en-US" sz="2300" dirty="0"/>
              <a:t>Both regulations share the primary objective of protecting individual data privacy rights and enhancing transparency in data handling practices.</a:t>
            </a:r>
          </a:p>
          <a:p>
            <a:pPr>
              <a:buFont typeface="Courier New" panose="02070309020205020404" pitchFamily="49" charset="0"/>
              <a:buChar char="o"/>
            </a:pPr>
            <a:r>
              <a:rPr lang="en-US" sz="2300" b="1" dirty="0"/>
              <a:t>Global Reach: </a:t>
            </a:r>
            <a:r>
              <a:rPr lang="en-US" sz="2300" dirty="0"/>
              <a:t>Both laws can apply to organizations worldwide, provided they process the personal data of EU residents (GDPR) or California residents (CCPA), regardless of the business's physical location.</a:t>
            </a:r>
          </a:p>
          <a:p>
            <a:pPr>
              <a:buFont typeface="Courier New" panose="02070309020205020404" pitchFamily="49" charset="0"/>
              <a:buChar char="o"/>
            </a:pPr>
            <a:r>
              <a:rPr lang="en-US" sz="2300" b="1" dirty="0"/>
              <a:t>Consumer Rights: </a:t>
            </a:r>
            <a:r>
              <a:rPr lang="en-US" sz="2300" dirty="0"/>
              <a:t>Both grant individuals similar core rights concerning their data, including the right to know what data is collected, the right to access that data, and the right to request its deletion (right to erasure).</a:t>
            </a:r>
          </a:p>
          <a:p>
            <a:pPr>
              <a:buFont typeface="Courier New" panose="02070309020205020404" pitchFamily="49" charset="0"/>
              <a:buChar char="o"/>
            </a:pPr>
            <a:r>
              <a:rPr lang="en-US" sz="2300" b="1" dirty="0"/>
              <a:t>Security Measures: </a:t>
            </a:r>
            <a:r>
              <a:rPr lang="en-US" sz="2300" dirty="0"/>
              <a:t>Both require organizations to implement reasonable security measures to protect personal data and mandate breach notifications to affected individuals.</a:t>
            </a:r>
          </a:p>
          <a:p>
            <a:pPr>
              <a:buFont typeface="Courier New" panose="02070309020205020404" pitchFamily="49" charset="0"/>
              <a:buChar char="o"/>
            </a:pPr>
            <a:r>
              <a:rPr lang="en-US" sz="2300" b="1" dirty="0"/>
              <a:t>Penalties: </a:t>
            </a:r>
            <a:r>
              <a:rPr lang="en-US" sz="2300" dirty="0"/>
              <a:t>Both laws impose significant fines for non-compliance, aiming to deter violations and ensure accountability. </a:t>
            </a:r>
          </a:p>
          <a:p>
            <a:endParaRPr lang="en-IN" dirty="0"/>
          </a:p>
        </p:txBody>
      </p:sp>
    </p:spTree>
    <p:extLst>
      <p:ext uri="{BB962C8B-B14F-4D97-AF65-F5344CB8AC3E}">
        <p14:creationId xmlns:p14="http://schemas.microsoft.com/office/powerpoint/2010/main" val="13331923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91DB-4F63-2D7C-C5D4-243CACCF79EB}"/>
              </a:ext>
            </a:extLst>
          </p:cNvPr>
          <p:cNvSpPr>
            <a:spLocks noGrp="1"/>
          </p:cNvSpPr>
          <p:nvPr>
            <p:ph type="title"/>
          </p:nvPr>
        </p:nvSpPr>
        <p:spPr>
          <a:xfrm>
            <a:off x="1203962" y="1811864"/>
            <a:ext cx="9601196" cy="745068"/>
          </a:xfrm>
        </p:spPr>
        <p:txBody>
          <a:bodyPr>
            <a:noAutofit/>
          </a:bodyPr>
          <a:lstStyle/>
          <a:p>
            <a:r>
              <a:rPr lang="en-IN" b="1" dirty="0">
                <a:solidFill>
                  <a:schemeClr val="tx1"/>
                </a:solidFill>
              </a:rPr>
              <a:t>Key Differences </a:t>
            </a:r>
            <a:br>
              <a:rPr lang="en-IN" b="1" dirty="0">
                <a:solidFill>
                  <a:schemeClr val="tx1"/>
                </a:solidFill>
              </a:rPr>
            </a:br>
            <a:endParaRPr lang="en-IN" dirty="0"/>
          </a:p>
        </p:txBody>
      </p:sp>
      <p:sp>
        <p:nvSpPr>
          <p:cNvPr id="3" name="Content Placeholder 2">
            <a:extLst>
              <a:ext uri="{FF2B5EF4-FFF2-40B4-BE49-F238E27FC236}">
                <a16:creationId xmlns:a16="http://schemas.microsoft.com/office/drawing/2014/main" id="{C1DF6B2F-845C-8C86-209B-529D11C2E57E}"/>
              </a:ext>
            </a:extLst>
          </p:cNvPr>
          <p:cNvSpPr>
            <a:spLocks noGrp="1"/>
          </p:cNvSpPr>
          <p:nvPr>
            <p:ph idx="1"/>
          </p:nvPr>
        </p:nvSpPr>
        <p:spPr/>
        <p:txBody>
          <a:bodyPr/>
          <a:lstStyle/>
          <a:p>
            <a:endParaRPr lang="en-IN" dirty="0"/>
          </a:p>
        </p:txBody>
      </p:sp>
      <p:graphicFrame>
        <p:nvGraphicFramePr>
          <p:cNvPr id="4" name="Table 3">
            <a:extLst>
              <a:ext uri="{FF2B5EF4-FFF2-40B4-BE49-F238E27FC236}">
                <a16:creationId xmlns:a16="http://schemas.microsoft.com/office/drawing/2014/main" id="{EE1CD464-860E-2BBD-C6BE-F30A43707B0E}"/>
              </a:ext>
            </a:extLst>
          </p:cNvPr>
          <p:cNvGraphicFramePr>
            <a:graphicFrameLocks noGrp="1"/>
          </p:cNvGraphicFramePr>
          <p:nvPr>
            <p:extLst>
              <p:ext uri="{D42A27DB-BD31-4B8C-83A1-F6EECF244321}">
                <p14:modId xmlns:p14="http://schemas.microsoft.com/office/powerpoint/2010/main" val="1367336064"/>
              </p:ext>
            </p:extLst>
          </p:nvPr>
        </p:nvGraphicFramePr>
        <p:xfrm>
          <a:off x="1203962" y="2336800"/>
          <a:ext cx="9784077" cy="3749039"/>
        </p:xfrm>
        <a:graphic>
          <a:graphicData uri="http://schemas.openxmlformats.org/drawingml/2006/table">
            <a:tbl>
              <a:tblPr firstRow="1" firstCol="1" bandRow="1">
                <a:tableStyleId>{5C22544A-7EE6-4342-B048-85BDC9FD1C3A}</a:tableStyleId>
              </a:tblPr>
              <a:tblGrid>
                <a:gridCol w="1300542">
                  <a:extLst>
                    <a:ext uri="{9D8B030D-6E8A-4147-A177-3AD203B41FA5}">
                      <a16:colId xmlns:a16="http://schemas.microsoft.com/office/drawing/2014/main" val="625115618"/>
                    </a:ext>
                  </a:extLst>
                </a:gridCol>
                <a:gridCol w="4541894">
                  <a:extLst>
                    <a:ext uri="{9D8B030D-6E8A-4147-A177-3AD203B41FA5}">
                      <a16:colId xmlns:a16="http://schemas.microsoft.com/office/drawing/2014/main" val="819077228"/>
                    </a:ext>
                  </a:extLst>
                </a:gridCol>
                <a:gridCol w="3941641">
                  <a:extLst>
                    <a:ext uri="{9D8B030D-6E8A-4147-A177-3AD203B41FA5}">
                      <a16:colId xmlns:a16="http://schemas.microsoft.com/office/drawing/2014/main" val="107233121"/>
                    </a:ext>
                  </a:extLst>
                </a:gridCol>
              </a:tblGrid>
              <a:tr h="468351">
                <a:tc>
                  <a:txBody>
                    <a:bodyPr/>
                    <a:lstStyle/>
                    <a:p>
                      <a:pPr>
                        <a:lnSpc>
                          <a:spcPct val="107000"/>
                        </a:lnSpc>
                        <a:spcAft>
                          <a:spcPts val="800"/>
                        </a:spcAft>
                        <a:buNone/>
                      </a:pPr>
                      <a:r>
                        <a:rPr lang="en-IN" sz="1600" kern="100" dirty="0">
                          <a:solidFill>
                            <a:sysClr val="windowText" lastClr="000000"/>
                          </a:solidFill>
                          <a:effectLst/>
                        </a:rPr>
                        <a:t>Feature </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b="1" kern="100" dirty="0">
                          <a:solidFill>
                            <a:sysClr val="windowText" lastClr="000000"/>
                          </a:solidFill>
                          <a:effectLst/>
                        </a:rPr>
                        <a:t>GDPR (General Data Protection Regulation)</a:t>
                      </a:r>
                      <a:endParaRPr lang="en-IN" sz="1600" b="1"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b="1" kern="100" dirty="0">
                          <a:solidFill>
                            <a:sysClr val="windowText" lastClr="000000"/>
                          </a:solidFill>
                          <a:effectLst/>
                        </a:rPr>
                        <a:t>CCPA (California Consumer Privacy Act)</a:t>
                      </a:r>
                      <a:endParaRPr lang="en-IN" sz="1600" b="1"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9742503"/>
                  </a:ext>
                </a:extLst>
              </a:tr>
              <a:tr h="808916">
                <a:tc>
                  <a:txBody>
                    <a:bodyPr/>
                    <a:lstStyle/>
                    <a:p>
                      <a:pPr>
                        <a:lnSpc>
                          <a:spcPct val="107000"/>
                        </a:lnSpc>
                        <a:spcAft>
                          <a:spcPts val="800"/>
                        </a:spcAft>
                        <a:buNone/>
                      </a:pPr>
                      <a:r>
                        <a:rPr lang="en-IN" sz="1600" kern="100" dirty="0">
                          <a:solidFill>
                            <a:sysClr val="windowText" lastClr="000000"/>
                          </a:solidFill>
                          <a:effectLst/>
                        </a:rPr>
                        <a:t>Jurisdiction</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The entire European Union and European Economic Area (EEA).</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The state of California, U.S..</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3092264"/>
                  </a:ext>
                </a:extLst>
              </a:tr>
              <a:tr h="1093562">
                <a:tc>
                  <a:txBody>
                    <a:bodyPr/>
                    <a:lstStyle/>
                    <a:p>
                      <a:pPr>
                        <a:lnSpc>
                          <a:spcPct val="107000"/>
                        </a:lnSpc>
                        <a:spcAft>
                          <a:spcPts val="800"/>
                        </a:spcAft>
                        <a:buNone/>
                      </a:pPr>
                      <a:r>
                        <a:rPr lang="en-IN" sz="1600" kern="100">
                          <a:solidFill>
                            <a:sysClr val="windowText" lastClr="000000"/>
                          </a:solidFill>
                          <a:effectLst/>
                        </a:rPr>
                        <a:t>Who is Protected</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Any individual ("data subject") located within the EU at the time of data processing, regardless of citizenship or residency.</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Only permanent California residents ("consumers").</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2361691"/>
                  </a:ext>
                </a:extLst>
              </a:tr>
              <a:tr h="1378210">
                <a:tc>
                  <a:txBody>
                    <a:bodyPr/>
                    <a:lstStyle/>
                    <a:p>
                      <a:pPr>
                        <a:lnSpc>
                          <a:spcPct val="107000"/>
                        </a:lnSpc>
                        <a:spcAft>
                          <a:spcPts val="800"/>
                        </a:spcAft>
                        <a:buNone/>
                      </a:pPr>
                      <a:r>
                        <a:rPr lang="en-IN" sz="1600" kern="100" dirty="0">
                          <a:solidFill>
                            <a:sysClr val="windowText" lastClr="000000"/>
                          </a:solidFill>
                          <a:effectLst/>
                        </a:rPr>
                        <a:t>Scope of Application</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Applies to virtually all organizations that process data of EU individuals, with no specific revenue or data volume thresholds.</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Applies only to for-profit businesses meeting specific thresholds (e.g., annual revenue over $25 million, or handling data of 100,000+ consumers/households).</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2911500"/>
                  </a:ext>
                </a:extLst>
              </a:tr>
            </a:tbl>
          </a:graphicData>
        </a:graphic>
      </p:graphicFrame>
    </p:spTree>
    <p:extLst>
      <p:ext uri="{BB962C8B-B14F-4D97-AF65-F5344CB8AC3E}">
        <p14:creationId xmlns:p14="http://schemas.microsoft.com/office/powerpoint/2010/main" val="6497634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E6D9903-4BAC-7B3E-B951-710EA125BEB7}"/>
              </a:ext>
            </a:extLst>
          </p:cNvPr>
          <p:cNvGraphicFramePr>
            <a:graphicFrameLocks noGrp="1"/>
          </p:cNvGraphicFramePr>
          <p:nvPr>
            <p:ph idx="1"/>
            <p:extLst>
              <p:ext uri="{D42A27DB-BD31-4B8C-83A1-F6EECF244321}">
                <p14:modId xmlns:p14="http://schemas.microsoft.com/office/powerpoint/2010/main" val="3297815047"/>
              </p:ext>
            </p:extLst>
          </p:nvPr>
        </p:nvGraphicFramePr>
        <p:xfrm>
          <a:off x="594360" y="604520"/>
          <a:ext cx="11003279" cy="5648959"/>
        </p:xfrm>
        <a:graphic>
          <a:graphicData uri="http://schemas.openxmlformats.org/drawingml/2006/table">
            <a:tbl>
              <a:tblPr firstRow="1" firstCol="1" bandRow="1">
                <a:tableStyleId>{5C22544A-7EE6-4342-B048-85BDC9FD1C3A}</a:tableStyleId>
              </a:tblPr>
              <a:tblGrid>
                <a:gridCol w="2555240">
                  <a:extLst>
                    <a:ext uri="{9D8B030D-6E8A-4147-A177-3AD203B41FA5}">
                      <a16:colId xmlns:a16="http://schemas.microsoft.com/office/drawing/2014/main" val="2301844875"/>
                    </a:ext>
                  </a:extLst>
                </a:gridCol>
                <a:gridCol w="4572000">
                  <a:extLst>
                    <a:ext uri="{9D8B030D-6E8A-4147-A177-3AD203B41FA5}">
                      <a16:colId xmlns:a16="http://schemas.microsoft.com/office/drawing/2014/main" val="4225541562"/>
                    </a:ext>
                  </a:extLst>
                </a:gridCol>
                <a:gridCol w="3876039">
                  <a:extLst>
                    <a:ext uri="{9D8B030D-6E8A-4147-A177-3AD203B41FA5}">
                      <a16:colId xmlns:a16="http://schemas.microsoft.com/office/drawing/2014/main" val="2094524686"/>
                    </a:ext>
                  </a:extLst>
                </a:gridCol>
              </a:tblGrid>
              <a:tr h="1483215">
                <a:tc>
                  <a:txBody>
                    <a:bodyPr/>
                    <a:lstStyle/>
                    <a:p>
                      <a:pPr>
                        <a:lnSpc>
                          <a:spcPct val="107000"/>
                        </a:lnSpc>
                        <a:spcAft>
                          <a:spcPts val="800"/>
                        </a:spcAft>
                        <a:buNone/>
                      </a:pPr>
                      <a:r>
                        <a:rPr lang="en-IN" sz="1600" kern="100" dirty="0">
                          <a:solidFill>
                            <a:sysClr val="windowText" lastClr="000000"/>
                          </a:solidFill>
                          <a:effectLst/>
                        </a:rPr>
                        <a:t>Legal Basis for Processing</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Requires a legal basis (e.g., explicit opt-in consent, contract necessity, or legitimate interest) before processing data.</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Allows data processing by default but requires businesses to provide a clear option for consumers to opt-out of the sale or sharing of their data.</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6980169"/>
                  </a:ext>
                </a:extLst>
              </a:tr>
              <a:tr h="1199314">
                <a:tc>
                  <a:txBody>
                    <a:bodyPr/>
                    <a:lstStyle/>
                    <a:p>
                      <a:pPr>
                        <a:lnSpc>
                          <a:spcPct val="107000"/>
                        </a:lnSpc>
                        <a:spcAft>
                          <a:spcPts val="800"/>
                        </a:spcAft>
                        <a:buNone/>
                      </a:pPr>
                      <a:r>
                        <a:rPr lang="en-IN" sz="1600" kern="100">
                          <a:solidFill>
                            <a:sysClr val="windowText" lastClr="000000"/>
                          </a:solidFill>
                          <a:effectLst/>
                        </a:rPr>
                        <a:t>Data Definition</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Broadly defines "personal data" as any information related to an identified or identifiable natural person.</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Broadly defines "personal information" to include data that can be linked to a consumer or household/device.</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832770"/>
                  </a:ext>
                </a:extLst>
              </a:tr>
              <a:tr h="1483215">
                <a:tc>
                  <a:txBody>
                    <a:bodyPr/>
                    <a:lstStyle/>
                    <a:p>
                      <a:pPr>
                        <a:lnSpc>
                          <a:spcPct val="107000"/>
                        </a:lnSpc>
                        <a:spcAft>
                          <a:spcPts val="800"/>
                        </a:spcAft>
                        <a:buNone/>
                      </a:pPr>
                      <a:r>
                        <a:rPr lang="en-IN" sz="1600" kern="100">
                          <a:solidFill>
                            <a:sysClr val="windowText" lastClr="000000"/>
                          </a:solidFill>
                          <a:effectLst/>
                        </a:rPr>
                        <a:t>User Rights</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Includes rights for access, deletion, rectification, data portability, objection to processing, and restriction of processing.</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Grants rights to know (access), delete, opt-out of data sales/sharing, and nondiscrimination. (The CPRA amendment added a right to correct inaccurate data).</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40496840"/>
                  </a:ext>
                </a:extLst>
              </a:tr>
              <a:tr h="1483215">
                <a:tc>
                  <a:txBody>
                    <a:bodyPr/>
                    <a:lstStyle/>
                    <a:p>
                      <a:pPr>
                        <a:lnSpc>
                          <a:spcPct val="107000"/>
                        </a:lnSpc>
                        <a:spcAft>
                          <a:spcPts val="800"/>
                        </a:spcAft>
                        <a:buNone/>
                      </a:pPr>
                      <a:r>
                        <a:rPr lang="en-IN" sz="1600" kern="100">
                          <a:solidFill>
                            <a:sysClr val="windowText" lastClr="000000"/>
                          </a:solidFill>
                          <a:effectLst/>
                        </a:rPr>
                        <a:t>Penalties</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Higher potential fines: up to €20 million or 4% of a company's annual global turnover, whichever is higher.</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Lower set fines: $2,500 for unintentional and $7,500 for intentional violations (per consumer/incident), with potential for consumer civil litigation.</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2190826"/>
                  </a:ext>
                </a:extLst>
              </a:tr>
            </a:tbl>
          </a:graphicData>
        </a:graphic>
      </p:graphicFrame>
    </p:spTree>
    <p:extLst>
      <p:ext uri="{BB962C8B-B14F-4D97-AF65-F5344CB8AC3E}">
        <p14:creationId xmlns:p14="http://schemas.microsoft.com/office/powerpoint/2010/main" val="31133791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8F2A76-4043-9F44-0948-D72709F94AFE}"/>
              </a:ext>
            </a:extLst>
          </p:cNvPr>
          <p:cNvSpPr txBox="1"/>
          <p:nvPr/>
        </p:nvSpPr>
        <p:spPr>
          <a:xfrm>
            <a:off x="3241040" y="2773680"/>
            <a:ext cx="6309360" cy="1569660"/>
          </a:xfrm>
          <a:prstGeom prst="rect">
            <a:avLst/>
          </a:prstGeom>
          <a:noFill/>
        </p:spPr>
        <p:txBody>
          <a:bodyPr wrap="square" rtlCol="0">
            <a:spAutoFit/>
          </a:bodyPr>
          <a:lstStyle/>
          <a:p>
            <a:r>
              <a:rPr lang="en-IN" sz="9600" b="1" i="1" u="sng" dirty="0">
                <a:solidFill>
                  <a:schemeClr val="accent5">
                    <a:lumMod val="75000"/>
                  </a:schemeClr>
                </a:solidFill>
                <a:effectLst>
                  <a:outerShdw blurRad="38100" dist="38100" dir="2700000" algn="tl">
                    <a:srgbClr val="000000">
                      <a:alpha val="43137"/>
                    </a:srgbClr>
                  </a:outerShdw>
                </a:effectLst>
              </a:rPr>
              <a:t>Thank You</a:t>
            </a:r>
          </a:p>
        </p:txBody>
      </p:sp>
    </p:spTree>
    <p:extLst>
      <p:ext uri="{BB962C8B-B14F-4D97-AF65-F5344CB8AC3E}">
        <p14:creationId xmlns:p14="http://schemas.microsoft.com/office/powerpoint/2010/main" val="231416537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2473</TotalTime>
  <Words>8547</Words>
  <Application>Microsoft Office PowerPoint</Application>
  <PresentationFormat>Widescreen</PresentationFormat>
  <Paragraphs>826</Paragraphs>
  <Slides>87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Arial</vt:lpstr>
      <vt:lpstr>Calibri</vt:lpstr>
      <vt:lpstr>Courier New</vt:lpstr>
      <vt:lpstr>Garamond</vt:lpstr>
      <vt:lpstr>Wingdings</vt:lpstr>
      <vt:lpstr>Organic</vt:lpstr>
      <vt:lpstr>Information Technology                                        by Priya Mitra</vt:lpstr>
      <vt:lpstr>What do you mean by Information Technology?</vt:lpstr>
      <vt:lpstr>Information Technology vs. Computer Science</vt:lpstr>
      <vt:lpstr>Why Information Technology (IT) Is Important</vt:lpstr>
      <vt:lpstr>Core Components of  Information Technology</vt:lpstr>
      <vt:lpstr>Computer Hardware &amp; Software</vt:lpstr>
      <vt:lpstr>Types &amp; Example of Computer Hardware &amp; Software</vt:lpstr>
      <vt:lpstr>Networking &amp; Internet</vt:lpstr>
      <vt:lpstr>Database Management Systems (DBMS)</vt:lpstr>
      <vt:lpstr>Information Security</vt:lpstr>
      <vt:lpstr>Cybersecurity</vt:lpstr>
      <vt:lpstr>Benefits of  Information Security and Cybersecurity</vt:lpstr>
      <vt:lpstr>Cloud Computing</vt:lpstr>
      <vt:lpstr>Types of Cloud Computing</vt:lpstr>
      <vt:lpstr>Model of Cloud Computing</vt:lpstr>
      <vt:lpstr>Emerging IT Technologies</vt:lpstr>
      <vt:lpstr>Applications of IT in Business</vt:lpstr>
      <vt:lpstr>IT in Education and Society</vt:lpstr>
      <vt:lpstr>The Role of Information Technology in Modern Business </vt:lpstr>
      <vt:lpstr>Key roles of IT in Modern Business</vt:lpstr>
      <vt:lpstr>Enterprise Resource Planning</vt:lpstr>
      <vt:lpstr>Key Features of ERP Systems</vt:lpstr>
      <vt:lpstr>Core Modules in ERP</vt:lpstr>
      <vt:lpstr>Benefits of ERP</vt:lpstr>
      <vt:lpstr>Popular ERP Software</vt:lpstr>
      <vt:lpstr>How Enterprise Resource Planning Platforms Work</vt:lpstr>
      <vt:lpstr>Centralized Database</vt:lpstr>
      <vt:lpstr>Integration of Business Processes</vt:lpstr>
      <vt:lpstr>Automation of Tasks</vt:lpstr>
      <vt:lpstr>Real-Time Data and Reporting</vt:lpstr>
      <vt:lpstr>Modular Structure</vt:lpstr>
      <vt:lpstr>Cloud and On-Premise Deployment</vt:lpstr>
      <vt:lpstr>Security and Access Control</vt:lpstr>
      <vt:lpstr>Continuous Updates and Scalability</vt:lpstr>
      <vt:lpstr>Types of ERP</vt:lpstr>
      <vt:lpstr>Benefits of ERP</vt:lpstr>
      <vt:lpstr>ERP vs CRM</vt:lpstr>
      <vt:lpstr>ERP vs CRM</vt:lpstr>
      <vt:lpstr>The Relationship between Business Strategy, IT Strategy and Alignment Capability </vt:lpstr>
      <vt:lpstr>How They Work Together</vt:lpstr>
      <vt:lpstr>The Alignment Cycle</vt:lpstr>
      <vt:lpstr>Steps in the Alignment Cycle </vt:lpstr>
      <vt:lpstr>Data</vt:lpstr>
      <vt:lpstr>Structured Data</vt:lpstr>
      <vt:lpstr>Semi-structured Data</vt:lpstr>
      <vt:lpstr>Unstructured Data</vt:lpstr>
      <vt:lpstr>Common Data Sources </vt:lpstr>
      <vt:lpstr>Internal Data</vt:lpstr>
      <vt:lpstr>External Data</vt:lpstr>
      <vt:lpstr>Third-Party Analytics</vt:lpstr>
      <vt:lpstr>Open Data</vt:lpstr>
      <vt:lpstr>Data Collection</vt:lpstr>
      <vt:lpstr>Types of Data Collection  (Based on Source)</vt:lpstr>
      <vt:lpstr>Introduction to data lifecycle management (DLM) </vt:lpstr>
      <vt:lpstr>What Do Business Analysts Do? </vt:lpstr>
      <vt:lpstr>Skills of a Business Analyst</vt:lpstr>
      <vt:lpstr>The Tools Used by  Business Analysts</vt:lpstr>
      <vt:lpstr>Collaboration and Relationship-Building in Business Analysis </vt:lpstr>
      <vt:lpstr>Business Analysis Methodologies</vt:lpstr>
      <vt:lpstr>PowerPoint Presentation</vt:lpstr>
      <vt:lpstr>Agile methodology: </vt:lpstr>
      <vt:lpstr>PowerPoint Presentation</vt:lpstr>
      <vt:lpstr>Key Differences Between  Waterfall &amp; Agile</vt:lpstr>
      <vt:lpstr>PowerPoint Presentation</vt:lpstr>
      <vt:lpstr>When to Use Waterfall</vt:lpstr>
      <vt:lpstr>When to Use Agile</vt:lpstr>
      <vt:lpstr>Stakeholder management</vt:lpstr>
      <vt:lpstr>The Benefits of  Stakeholder Management </vt:lpstr>
      <vt:lpstr>Benefits</vt:lpstr>
      <vt:lpstr>Key aspects of  Stakeholder Management </vt:lpstr>
      <vt:lpstr>Scenario Analysis </vt:lpstr>
      <vt:lpstr>PowerPoint Presentation</vt:lpstr>
      <vt:lpstr>PowerPoint Presentation</vt:lpstr>
      <vt:lpstr>Key aspects of  Scenario Analysis </vt:lpstr>
      <vt:lpstr>How Scenario Analysis is used </vt:lpstr>
      <vt:lpstr> Data Governance </vt:lpstr>
      <vt:lpstr>Key Elements</vt:lpstr>
      <vt:lpstr>Benefits of Data Governance</vt:lpstr>
      <vt:lpstr>Roles and Responsibilities</vt:lpstr>
      <vt:lpstr>PowerPoint Presentation</vt:lpstr>
      <vt:lpstr>What is the Ethical Use of Data</vt:lpstr>
      <vt:lpstr>PowerPoint Presentation</vt:lpstr>
      <vt:lpstr>CCPA vs GDPR compliance  Similarities &amp; Differences </vt:lpstr>
      <vt:lpstr>Key Similarities:  </vt:lpstr>
      <vt:lpstr>Key Differences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Tandra Paul</dc:creator>
  <cp:lastModifiedBy>Priya Mitra</cp:lastModifiedBy>
  <cp:revision>59</cp:revision>
  <dcterms:created xsi:type="dcterms:W3CDTF">2025-11-12T12:07:16Z</dcterms:created>
  <dcterms:modified xsi:type="dcterms:W3CDTF">2026-02-22T14:22:39Z</dcterms:modified>
</cp:coreProperties>
</file>